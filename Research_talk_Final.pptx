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6"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6" r:id="rId21"/>
    <p:sldId id="277" r:id="rId22"/>
    <p:sldId id="278" r:id="rId23"/>
  </p:sldIdLst>
  <p:sldSz cx="12188825"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98" autoAdjust="0"/>
    <p:restoredTop sz="95033" autoAdjust="0"/>
  </p:normalViewPr>
  <p:slideViewPr>
    <p:cSldViewPr snapToGrid="0">
      <p:cViewPr varScale="1">
        <p:scale>
          <a:sx n="82" d="100"/>
          <a:sy n="82" d="100"/>
        </p:scale>
        <p:origin x="77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8" name="PlaceHolder 1"/>
          <p:cNvSpPr>
            <a:spLocks noGrp="1" noRot="1" noChangeAspect="1"/>
          </p:cNvSpPr>
          <p:nvPr>
            <p:ph type="sldImg"/>
          </p:nvPr>
        </p:nvSpPr>
        <p:spPr>
          <a:xfrm>
            <a:off x="0" y="701675"/>
            <a:ext cx="0" cy="0"/>
          </a:xfrm>
          <a:prstGeom prst="rect">
            <a:avLst/>
          </a:prstGeom>
          <a:noFill/>
          <a:ln w="0">
            <a:noFill/>
          </a:ln>
        </p:spPr>
        <p:txBody>
          <a:bodyPr lIns="0" tIns="0" rIns="0" bIns="0" anchor="ctr">
            <a:noAutofit/>
          </a:bodyPr>
          <a:lstStyle/>
          <a:p>
            <a:r>
              <a:rPr lang="en-US" sz="1600" b="0" u="none" strike="noStrike">
                <a:solidFill>
                  <a:srgbClr val="000000"/>
                </a:solidFill>
                <a:effectLst/>
                <a:uFillTx/>
                <a:latin typeface="Arial"/>
              </a:rPr>
              <a:t>Click to move the slide</a:t>
            </a:r>
          </a:p>
        </p:txBody>
      </p:sp>
      <p:sp>
        <p:nvSpPr>
          <p:cNvPr id="49"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indent="0" algn="l">
              <a:buNone/>
            </a:pPr>
            <a:r>
              <a:rPr lang="en-US" sz="1800" b="0" u="none" strike="noStrike">
                <a:solidFill>
                  <a:srgbClr val="000000"/>
                </a:solidFill>
                <a:effectLst/>
                <a:uFillTx/>
                <a:latin typeface="Arial"/>
              </a:rPr>
              <a:t>Click to edit the notes format</a:t>
            </a:r>
          </a:p>
        </p:txBody>
      </p:sp>
      <p:sp>
        <p:nvSpPr>
          <p:cNvPr id="50" name="PlaceHolder 3"/>
          <p:cNvSpPr>
            <a:spLocks noGrp="1"/>
          </p:cNvSpPr>
          <p:nvPr>
            <p:ph type="hdr"/>
          </p:nvPr>
        </p:nvSpPr>
        <p:spPr>
          <a:xfrm>
            <a:off x="0" y="0"/>
            <a:ext cx="3016131" cy="461501"/>
          </a:xfrm>
          <a:prstGeom prst="rect">
            <a:avLst/>
          </a:prstGeom>
          <a:noFill/>
          <a:ln w="0">
            <a:noFill/>
          </a:ln>
        </p:spPr>
        <p:txBody>
          <a:bodyPr lIns="0" tIns="0" rIns="0" bIns="0" anchor="t">
            <a:noAutofit/>
          </a:bodyPr>
          <a:lstStyle/>
          <a:p>
            <a:r>
              <a:rPr lang="en-US" sz="1200">
                <a:solidFill>
                  <a:srgbClr val="000000"/>
                </a:solidFill>
                <a:latin typeface="Times New Roman"/>
              </a:rPr>
              <a:t> </a:t>
            </a:r>
          </a:p>
        </p:txBody>
      </p:sp>
      <p:sp>
        <p:nvSpPr>
          <p:cNvPr id="51" name="PlaceHolder 4"/>
          <p:cNvSpPr>
            <a:spLocks noGrp="1"/>
          </p:cNvSpPr>
          <p:nvPr>
            <p:ph type="dt" idx="28"/>
          </p:nvPr>
        </p:nvSpPr>
        <p:spPr>
          <a:xfrm>
            <a:off x="3933912" y="0"/>
            <a:ext cx="3016131" cy="461501"/>
          </a:xfrm>
          <a:prstGeom prst="rect">
            <a:avLst/>
          </a:prstGeom>
          <a:noFill/>
          <a:ln w="0">
            <a:noFill/>
          </a:ln>
        </p:spPr>
        <p:txBody>
          <a:bodyPr lIns="0" tIns="0" rIns="0" bIns="0" anchor="t">
            <a:noAutofit/>
          </a:bodyPr>
          <a:lstStyle>
            <a:lvl1pPr indent="0" algn="r">
              <a:buNone/>
              <a:defRPr lang="en-US" sz="1200" b="0" u="none" strike="noStrike">
                <a:solidFill>
                  <a:srgbClr val="000000"/>
                </a:solidFill>
                <a:effectLst/>
                <a:uFillTx/>
                <a:latin typeface="Times New Roman"/>
              </a:defRPr>
            </a:lvl1pPr>
          </a:lstStyle>
          <a:p>
            <a:r>
              <a:rPr lang="en-US"/>
              <a:t> </a:t>
            </a:r>
          </a:p>
        </p:txBody>
      </p:sp>
      <p:sp>
        <p:nvSpPr>
          <p:cNvPr id="52" name="PlaceHolder 5"/>
          <p:cNvSpPr>
            <a:spLocks noGrp="1"/>
          </p:cNvSpPr>
          <p:nvPr>
            <p:ph type="ftr" idx="29"/>
          </p:nvPr>
        </p:nvSpPr>
        <p:spPr>
          <a:xfrm>
            <a:off x="0" y="8774425"/>
            <a:ext cx="3016131" cy="461501"/>
          </a:xfrm>
          <a:prstGeom prst="rect">
            <a:avLst/>
          </a:prstGeom>
          <a:noFill/>
          <a:ln w="0">
            <a:noFill/>
          </a:ln>
        </p:spPr>
        <p:txBody>
          <a:bodyPr lIns="0" tIns="0" rIns="0" bIns="0" anchor="b">
            <a:noAutofit/>
          </a:bodyPr>
          <a:lstStyle>
            <a:lvl1pPr indent="0" algn="l">
              <a:buNone/>
              <a:defRPr lang="en-US" sz="1200" b="0" u="none" strike="noStrike">
                <a:solidFill>
                  <a:srgbClr val="000000"/>
                </a:solidFill>
                <a:effectLst/>
                <a:uFillTx/>
                <a:latin typeface="Times New Roman"/>
              </a:defRPr>
            </a:lvl1pPr>
          </a:lstStyle>
          <a:p>
            <a:r>
              <a:rPr lang="en-US"/>
              <a:t> </a:t>
            </a:r>
          </a:p>
        </p:txBody>
      </p:sp>
      <p:sp>
        <p:nvSpPr>
          <p:cNvPr id="53" name="PlaceHolder 6"/>
          <p:cNvSpPr>
            <a:spLocks noGrp="1"/>
          </p:cNvSpPr>
          <p:nvPr>
            <p:ph type="sldNum" idx="30"/>
          </p:nvPr>
        </p:nvSpPr>
        <p:spPr>
          <a:xfrm>
            <a:off x="3933912" y="8774425"/>
            <a:ext cx="3016131" cy="461501"/>
          </a:xfrm>
          <a:prstGeom prst="rect">
            <a:avLst/>
          </a:prstGeom>
          <a:noFill/>
          <a:ln w="0">
            <a:noFill/>
          </a:ln>
        </p:spPr>
        <p:txBody>
          <a:bodyPr lIns="0" tIns="0" rIns="0" bIns="0" anchor="b">
            <a:noAutofit/>
          </a:bodyPr>
          <a:lstStyle>
            <a:lvl1pPr indent="0" algn="r">
              <a:buNone/>
              <a:defRPr lang="en-US" sz="1200" b="0" u="none" strike="noStrike">
                <a:solidFill>
                  <a:srgbClr val="000000"/>
                </a:solidFill>
                <a:effectLst/>
                <a:uFillTx/>
                <a:latin typeface="Times New Roman"/>
              </a:defRPr>
            </a:lvl1pPr>
          </a:lstStyle>
          <a:p>
            <a:fld id="{4AEB54E6-A078-47EF-B7CA-D642D5E4151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indent="0" algn="l" defTabSz="914400" rtl="0" eaLnBrk="1" latinLnBrk="0" hangingPunct="1">
      <a:buNone/>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56"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600" dirty="0">
                <a:solidFill>
                  <a:srgbClr val="000000"/>
                </a:solidFill>
                <a:latin typeface="Arial"/>
              </a:rPr>
              <a:t>Good morning, everyone. Thank you for the opportunity to present my research.</a:t>
            </a:r>
          </a:p>
          <a:p>
            <a:pPr>
              <a:spcBef>
                <a:spcPts val="1056"/>
              </a:spcBef>
              <a:spcAft>
                <a:spcPts val="880"/>
              </a:spcAft>
            </a:pPr>
            <a:r>
              <a:rPr lang="en-US" sz="1600" dirty="0">
                <a:solidFill>
                  <a:srgbClr val="000000"/>
                </a:solidFill>
                <a:latin typeface="Arial"/>
              </a:rPr>
              <a:t>My work focuses on retrieval-augmented AI for pharmacovigilance, specifically improving adverse drug reaction prediction using historical FDA FAERS reports.</a:t>
            </a:r>
          </a:p>
          <a:p>
            <a:pPr>
              <a:spcBef>
                <a:spcPts val="1056"/>
              </a:spcBef>
              <a:spcAft>
                <a:spcPts val="880"/>
              </a:spcAft>
            </a:pPr>
            <a:r>
              <a:rPr lang="en-US" sz="1600" dirty="0">
                <a:solidFill>
                  <a:srgbClr val="000000"/>
                </a:solidFill>
                <a:latin typeface="Arial"/>
              </a:rPr>
              <a:t>Today I'll briefly present three related projects covering severity prediction, organ-level outcome prediction, and our ongoing GraphRAG framework.</a:t>
            </a:r>
          </a:p>
          <a:p>
            <a:pPr>
              <a:spcBef>
                <a:spcPts val="1056"/>
              </a:spcBef>
              <a:spcAft>
                <a:spcPts val="880"/>
              </a:spcAft>
            </a:pPr>
            <a:endParaRPr lang="en-US" sz="1800" dirty="0">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58"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800" dirty="0">
                <a:solidFill>
                  <a:srgbClr val="000000"/>
                </a:solidFill>
                <a:latin typeface="Arial"/>
              </a:rPr>
              <a:t>I will complete my PhD in Information Technology with a specialization in AI and Machine Learning this August.</a:t>
            </a:r>
          </a:p>
          <a:p>
            <a:pPr>
              <a:spcBef>
                <a:spcPts val="1056"/>
              </a:spcBef>
              <a:spcAft>
                <a:spcPts val="880"/>
              </a:spcAft>
            </a:pPr>
            <a:r>
              <a:rPr lang="en-US" sz="1800" dirty="0">
                <a:solidFill>
                  <a:srgbClr val="000000"/>
                </a:solidFill>
                <a:latin typeface="Arial"/>
              </a:rPr>
              <a:t>I worked as a data scientist in healthcare, automotive, insurance, and finance, while also teaching graduate data science courses.</a:t>
            </a:r>
          </a:p>
          <a:p>
            <a:pPr>
              <a:spcBef>
                <a:spcPts val="1056"/>
              </a:spcBef>
              <a:spcAft>
                <a:spcPts val="880"/>
              </a:spcAft>
            </a:pPr>
            <a:r>
              <a:rPr lang="en-US" sz="1800" dirty="0">
                <a:solidFill>
                  <a:srgbClr val="000000"/>
                </a:solidFill>
                <a:latin typeface="Arial"/>
              </a:rPr>
              <a:t>My interdisciplinary background combines biomedical research with AI, allowing me to develop explainable machine learning methods for clinical decision support.</a:t>
            </a:r>
          </a:p>
          <a:p>
            <a:pPr>
              <a:spcBef>
                <a:spcPts val="1056"/>
              </a:spcBef>
              <a:spcAft>
                <a:spcPts val="880"/>
              </a:spcAft>
            </a:pPr>
            <a:endParaRPr lang="en-US" sz="1800" dirty="0">
              <a:solidFill>
                <a:srgbClr val="000000"/>
              </a:solidFill>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60"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dirty="0">
                <a:solidFill>
                  <a:srgbClr val="000000"/>
                </a:solidFill>
                <a:latin typeface="Arial"/>
              </a:rPr>
              <a:t>Today's talk has three parts.</a:t>
            </a:r>
          </a:p>
          <a:p>
            <a:pPr marL="285750" indent="-285750">
              <a:spcBef>
                <a:spcPts val="1056"/>
              </a:spcBef>
              <a:spcAft>
                <a:spcPts val="880"/>
              </a:spcAft>
              <a:buFont typeface="Arial" panose="020B0604020202020204" pitchFamily="34" charset="0"/>
              <a:buChar char="•"/>
              <a:tabLst>
                <a:tab pos="0" algn="l"/>
              </a:tabLst>
            </a:pPr>
            <a:r>
              <a:rPr lang="en-US" sz="1300" dirty="0">
                <a:solidFill>
                  <a:srgbClr val="000000"/>
                </a:solidFill>
                <a:latin typeface="Arial"/>
              </a:rPr>
              <a:t>First, predicting System Organ Classes from ADR narratives.</a:t>
            </a:r>
          </a:p>
          <a:p>
            <a:pPr marL="285750" indent="-285750">
              <a:spcBef>
                <a:spcPts val="1056"/>
              </a:spcBef>
              <a:spcAft>
                <a:spcPts val="880"/>
              </a:spcAft>
              <a:buFont typeface="Arial" panose="020B0604020202020204" pitchFamily="34" charset="0"/>
              <a:buChar char="•"/>
              <a:tabLst>
                <a:tab pos="0" algn="l"/>
              </a:tabLst>
            </a:pPr>
            <a:r>
              <a:rPr lang="en-US" sz="1300" dirty="0">
                <a:solidFill>
                  <a:srgbClr val="000000"/>
                </a:solidFill>
                <a:latin typeface="Arial"/>
              </a:rPr>
              <a:t>Second, predicting life-threatening adverse drug reactions.</a:t>
            </a:r>
          </a:p>
          <a:p>
            <a:pPr marL="285750" indent="-285750">
              <a:spcBef>
                <a:spcPts val="1056"/>
              </a:spcBef>
              <a:spcAft>
                <a:spcPts val="880"/>
              </a:spcAft>
              <a:buFont typeface="Arial" panose="020B0604020202020204" pitchFamily="34" charset="0"/>
              <a:buChar char="•"/>
              <a:tabLst>
                <a:tab pos="0" algn="l"/>
              </a:tabLst>
            </a:pPr>
            <a:r>
              <a:rPr lang="en-US" sz="1300" dirty="0">
                <a:solidFill>
                  <a:srgbClr val="000000"/>
                </a:solidFill>
                <a:latin typeface="Arial"/>
              </a:rPr>
              <a:t>Third, extending retrieval using knowledge graphs through GraphRAG.</a:t>
            </a:r>
          </a:p>
          <a:p>
            <a:pPr>
              <a:spcBef>
                <a:spcPts val="1056"/>
              </a:spcBef>
              <a:spcAft>
                <a:spcPts val="880"/>
              </a:spcAft>
              <a:tabLst>
                <a:tab pos="0" algn="l"/>
              </a:tabLst>
            </a:pPr>
            <a:r>
              <a:rPr lang="en-US" sz="1300" dirty="0">
                <a:solidFill>
                  <a:srgbClr val="000000"/>
                </a:solidFill>
                <a:latin typeface="Arial"/>
              </a:rPr>
              <a:t>Together these projects progressively increase the amount of structured knowledge incorporated into prediction.</a:t>
            </a:r>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62"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dirty="0">
                <a:solidFill>
                  <a:srgbClr val="000000"/>
                </a:solidFill>
                <a:latin typeface="Arial"/>
              </a:rPr>
              <a:t>The first project asks:</a:t>
            </a:r>
          </a:p>
          <a:p>
            <a:pPr marL="285750" indent="-285750">
              <a:spcBef>
                <a:spcPts val="1056"/>
              </a:spcBef>
              <a:spcAft>
                <a:spcPts val="880"/>
              </a:spcAft>
              <a:buFont typeface="Arial" panose="020B0604020202020204" pitchFamily="34" charset="0"/>
              <a:buChar char="•"/>
              <a:tabLst>
                <a:tab pos="0" algn="l"/>
              </a:tabLst>
            </a:pPr>
            <a:r>
              <a:rPr lang="en-US" sz="1300" dirty="0">
                <a:solidFill>
                  <a:srgbClr val="000000"/>
                </a:solidFill>
                <a:latin typeface="Arial"/>
              </a:rPr>
              <a:t>Can retrieval-augmented learning leverage millions of historical FAERS reports to improve prediction of life-threatening ADRs?</a:t>
            </a:r>
          </a:p>
          <a:p>
            <a:pPr marL="285750" indent="-285750">
              <a:spcBef>
                <a:spcPts val="1056"/>
              </a:spcBef>
              <a:spcAft>
                <a:spcPts val="880"/>
              </a:spcAft>
              <a:buFont typeface="Arial" panose="020B0604020202020204" pitchFamily="34" charset="0"/>
              <a:buChar char="•"/>
              <a:tabLst>
                <a:tab pos="0" algn="l"/>
              </a:tabLst>
            </a:pPr>
            <a:r>
              <a:rPr lang="en-US" sz="1300" dirty="0">
                <a:solidFill>
                  <a:srgbClr val="000000"/>
                </a:solidFill>
                <a:latin typeface="Arial"/>
              </a:rPr>
              <a:t>Traditional models only learn from individual reports, but pharmacovigilance naturally benefits from retrieving similar historical cases.</a:t>
            </a:r>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64"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dirty="0">
                <a:solidFill>
                  <a:srgbClr val="000000"/>
                </a:solidFill>
                <a:latin typeface="Arial"/>
              </a:rPr>
              <a:t>Fetched FAERS data up to Q1 2026, show history of FAERS raw data, medical dictionary for regulatory activities (MedDRA), a standardized medical terminology dictionary for sharing of regulatory information.</a:t>
            </a:r>
          </a:p>
          <a:p>
            <a:pPr>
              <a:spcBef>
                <a:spcPts val="1056"/>
              </a:spcBef>
              <a:spcAft>
                <a:spcPts val="880"/>
              </a:spcAft>
              <a:tabLst>
                <a:tab pos="0" algn="l"/>
              </a:tabLst>
            </a:pPr>
            <a:r>
              <a:rPr lang="en-US" sz="1300" b="1" dirty="0">
                <a:solidFill>
                  <a:srgbClr val="000000"/>
                </a:solidFill>
                <a:latin typeface="Arial"/>
              </a:rPr>
              <a:t>Our primary data source is FDA FAERS.</a:t>
            </a:r>
          </a:p>
          <a:p>
            <a:pPr>
              <a:spcBef>
                <a:spcPts val="1056"/>
              </a:spcBef>
              <a:spcAft>
                <a:spcPts val="880"/>
              </a:spcAft>
              <a:tabLst>
                <a:tab pos="0" algn="l"/>
              </a:tabLst>
            </a:pPr>
            <a:r>
              <a:rPr lang="en-US" sz="1300" b="1" dirty="0">
                <a:solidFill>
                  <a:srgbClr val="000000"/>
                </a:solidFill>
                <a:latin typeface="Arial"/>
              </a:rPr>
              <a:t>We collected reports from 2004 through the first quarter of 2026.</a:t>
            </a:r>
          </a:p>
          <a:p>
            <a:pPr>
              <a:spcBef>
                <a:spcPts val="1056"/>
              </a:spcBef>
              <a:spcAft>
                <a:spcPts val="880"/>
              </a:spcAft>
              <a:tabLst>
                <a:tab pos="0" algn="l"/>
              </a:tabLst>
            </a:pPr>
            <a:r>
              <a:rPr lang="en-US" sz="1300" b="1" dirty="0">
                <a:solidFill>
                  <a:srgbClr val="000000"/>
                </a:solidFill>
                <a:latin typeface="Arial"/>
              </a:rPr>
              <a:t>FAERS contains millions of spontaneous adverse event reports with patient demographics, medications, outcomes, and reported adverse reactions</a:t>
            </a:r>
            <a:r>
              <a:rPr lang="en-US" sz="1300" dirty="0">
                <a:solidFill>
                  <a:srgbClr val="000000"/>
                </a:solidFill>
                <a:latin typeface="Arial"/>
              </a:rPr>
              <a:t>.</a:t>
            </a:r>
          </a:p>
          <a:p>
            <a:pPr>
              <a:spcBef>
                <a:spcPts val="1056"/>
              </a:spcBef>
              <a:spcAft>
                <a:spcPts val="880"/>
              </a:spcAft>
              <a:tabLst>
                <a:tab pos="0" algn="l"/>
              </a:tabLst>
            </a:pPr>
            <a:endParaRPr lang="en-US" sz="900" dirty="0">
              <a:solidFill>
                <a:srgbClr val="000000"/>
              </a:solidFill>
              <a:latin typeface="Arial"/>
            </a:endParaRPr>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66"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dirty="0">
                <a:solidFill>
                  <a:srgbClr val="000000"/>
                </a:solidFill>
                <a:latin typeface="Arial"/>
                <a:ea typeface="Noto Sans CJK SC"/>
              </a:rPr>
              <a:t>Case-query JSON structure with patient demographics, treatment info (drug, ingredient, anatomical therapeutic chemical (ATC) level 4, route, dose, indication </a:t>
            </a:r>
            <a:r>
              <a:rPr lang="en-US" sz="1300" dirty="0" err="1">
                <a:solidFill>
                  <a:srgbClr val="000000"/>
                </a:solidFill>
                <a:latin typeface="Arial"/>
                <a:ea typeface="Noto Sans CJK SC"/>
              </a:rPr>
              <a:t>PTs.</a:t>
            </a:r>
            <a:r>
              <a:rPr lang="en-US" sz="1300" dirty="0">
                <a:solidFill>
                  <a:srgbClr val="000000"/>
                </a:solidFill>
                <a:latin typeface="Arial"/>
                <a:ea typeface="Noto Sans CJK SC"/>
              </a:rPr>
              <a:t> Dataset split: 3.6M reports (2004Q1–2024Q4) for retrieval DB construction, 3 quarterly releases of 166K cases (2025Q1–Q3) for training, and 2 latest </a:t>
            </a:r>
            <a:r>
              <a:rPr lang="en-US" sz="1300" dirty="0" err="1">
                <a:solidFill>
                  <a:srgbClr val="000000"/>
                </a:solidFill>
                <a:latin typeface="Arial"/>
                <a:ea typeface="Noto Sans CJK SC"/>
              </a:rPr>
              <a:t>quartrly</a:t>
            </a:r>
            <a:r>
              <a:rPr lang="en-US" sz="1300" dirty="0">
                <a:solidFill>
                  <a:srgbClr val="000000"/>
                </a:solidFill>
                <a:latin typeface="Arial"/>
                <a:ea typeface="Noto Sans CJK SC"/>
              </a:rPr>
              <a:t> releases 2025Q4 and 2026Q1 106K cased ) for </a:t>
            </a:r>
            <a:r>
              <a:rPr lang="en-US" sz="1300" dirty="0" err="1">
                <a:solidFill>
                  <a:srgbClr val="000000"/>
                </a:solidFill>
                <a:latin typeface="Arial"/>
                <a:ea typeface="Noto Sans CJK SC"/>
              </a:rPr>
              <a:t>tempor</a:t>
            </a:r>
            <a:endParaRPr lang="en-US" sz="1300" dirty="0">
              <a:solidFill>
                <a:srgbClr val="000000"/>
              </a:solidFill>
              <a:latin typeface="Arial"/>
            </a:endParaRPr>
          </a:p>
          <a:p>
            <a:pPr>
              <a:spcBef>
                <a:spcPts val="1056"/>
              </a:spcBef>
              <a:spcAft>
                <a:spcPts val="880"/>
              </a:spcAft>
              <a:tabLst>
                <a:tab pos="0" algn="l"/>
              </a:tabLst>
            </a:pPr>
            <a:r>
              <a:rPr lang="en-US" sz="1300" b="1" dirty="0">
                <a:solidFill>
                  <a:srgbClr val="000000"/>
                </a:solidFill>
                <a:latin typeface="Arial"/>
                <a:ea typeface="Noto Sans CJK SC"/>
              </a:rPr>
              <a:t>Raw FAERS reports are highly heterogeneous.</a:t>
            </a:r>
            <a:endParaRPr lang="en-US" sz="1300" b="1" dirty="0">
              <a:solidFill>
                <a:srgbClr val="000000"/>
              </a:solidFill>
              <a:latin typeface="Arial"/>
            </a:endParaRPr>
          </a:p>
          <a:p>
            <a:pPr>
              <a:spcBef>
                <a:spcPts val="1056"/>
              </a:spcBef>
              <a:spcAft>
                <a:spcPts val="880"/>
              </a:spcAft>
              <a:tabLst>
                <a:tab pos="0" algn="l"/>
              </a:tabLst>
            </a:pPr>
            <a:r>
              <a:rPr lang="en-US" sz="1300" b="1" dirty="0">
                <a:solidFill>
                  <a:srgbClr val="000000"/>
                </a:solidFill>
                <a:latin typeface="Arial"/>
                <a:ea typeface="Noto Sans CJK SC"/>
              </a:rPr>
              <a:t>We normalized drug names to ingredients using </a:t>
            </a:r>
            <a:r>
              <a:rPr lang="en-US" sz="1300" b="1" dirty="0" err="1">
                <a:solidFill>
                  <a:srgbClr val="000000"/>
                </a:solidFill>
                <a:latin typeface="Arial"/>
                <a:ea typeface="Noto Sans CJK SC"/>
              </a:rPr>
              <a:t>RxNorm</a:t>
            </a:r>
            <a:r>
              <a:rPr lang="en-US" sz="1300" b="1" dirty="0">
                <a:solidFill>
                  <a:srgbClr val="000000"/>
                </a:solidFill>
                <a:latin typeface="Arial"/>
                <a:ea typeface="Noto Sans CJK SC"/>
              </a:rPr>
              <a:t> and mapped medications into ATC Level 4 therapeutic classes.</a:t>
            </a:r>
            <a:endParaRPr lang="en-US" sz="1300" b="1" dirty="0">
              <a:solidFill>
                <a:srgbClr val="000000"/>
              </a:solidFill>
              <a:latin typeface="Arial"/>
            </a:endParaRPr>
          </a:p>
          <a:p>
            <a:pPr>
              <a:spcBef>
                <a:spcPts val="1056"/>
              </a:spcBef>
              <a:spcAft>
                <a:spcPts val="880"/>
              </a:spcAft>
              <a:tabLst>
                <a:tab pos="0" algn="l"/>
              </a:tabLst>
            </a:pPr>
            <a:r>
              <a:rPr lang="en-US" sz="1300" dirty="0">
                <a:solidFill>
                  <a:srgbClr val="000000"/>
                </a:solidFill>
                <a:latin typeface="Arial"/>
                <a:ea typeface="Noto Sans CJK SC"/>
              </a:rPr>
              <a:t>Each case is converted into a standardized JSON representation containing demographics, medications, indications, and temporal information.</a:t>
            </a:r>
            <a:endParaRPr lang="en-US" sz="1300" dirty="0">
              <a:solidFill>
                <a:srgbClr val="000000"/>
              </a:solidFill>
              <a:latin typeface="Arial"/>
            </a:endParaRPr>
          </a:p>
          <a:p>
            <a:pPr>
              <a:spcBef>
                <a:spcPts val="1056"/>
              </a:spcBef>
              <a:spcAft>
                <a:spcPts val="880"/>
              </a:spcAft>
              <a:tabLst>
                <a:tab pos="0" algn="l"/>
              </a:tabLst>
            </a:pPr>
            <a:r>
              <a:rPr lang="en-US" sz="1300" dirty="0">
                <a:solidFill>
                  <a:srgbClr val="000000"/>
                </a:solidFill>
                <a:latin typeface="Arial"/>
                <a:ea typeface="Noto Sans CJK SC"/>
              </a:rPr>
              <a:t>This standardized representation greatly improves retrieval consistency.</a:t>
            </a:r>
            <a:endParaRPr lang="en-US" sz="1300" dirty="0">
              <a:solidFill>
                <a:srgbClr val="000000"/>
              </a:solidFill>
              <a:latin typeface="Arial"/>
            </a:endParaRPr>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68"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b="1" dirty="0">
                <a:solidFill>
                  <a:srgbClr val="000000"/>
                </a:solidFill>
                <a:latin typeface="Arial"/>
              </a:rPr>
              <a:t>PT to SOC Mapping: Mapped 11 preferred terms to System Organ Classes (27 total multi-label dimensions).</a:t>
            </a:r>
            <a:r>
              <a:rPr lang="en-US" sz="1300" dirty="0">
                <a:solidFill>
                  <a:srgbClr val="000000"/>
                </a:solidFill>
                <a:latin typeface="Arial"/>
              </a:rPr>
              <a:t> Example:  "dizziness" → 3 SOCs (cardiac, nervous system, vascular). Shows one-to-many mapping with multi-hot encoding.</a:t>
            </a:r>
          </a:p>
          <a:p>
            <a:pPr>
              <a:spcBef>
                <a:spcPts val="1056"/>
              </a:spcBef>
              <a:spcAft>
                <a:spcPts val="880"/>
              </a:spcAft>
              <a:tabLst>
                <a:tab pos="0" algn="l"/>
              </a:tabLst>
            </a:pPr>
            <a:r>
              <a:rPr lang="en-US" sz="1300" dirty="0">
                <a:solidFill>
                  <a:srgbClr val="000000"/>
                </a:solidFill>
                <a:latin typeface="Arial"/>
              </a:rPr>
              <a:t>Individual adverse reactions are reported as MedDRA Preferred Terms.</a:t>
            </a:r>
          </a:p>
          <a:p>
            <a:pPr>
              <a:spcBef>
                <a:spcPts val="1056"/>
              </a:spcBef>
              <a:spcAft>
                <a:spcPts val="880"/>
              </a:spcAft>
              <a:tabLst>
                <a:tab pos="0" algn="l"/>
              </a:tabLst>
            </a:pPr>
            <a:r>
              <a:rPr lang="en-US" sz="1300" dirty="0">
                <a:solidFill>
                  <a:srgbClr val="000000"/>
                </a:solidFill>
                <a:latin typeface="Arial"/>
              </a:rPr>
              <a:t>However, one preferred term may belong to multiple organ systems.</a:t>
            </a:r>
          </a:p>
          <a:p>
            <a:pPr>
              <a:spcBef>
                <a:spcPts val="1056"/>
              </a:spcBef>
              <a:spcAft>
                <a:spcPts val="880"/>
              </a:spcAft>
              <a:tabLst>
                <a:tab pos="0" algn="l"/>
              </a:tabLst>
            </a:pPr>
            <a:r>
              <a:rPr lang="en-US" sz="1300" dirty="0">
                <a:solidFill>
                  <a:srgbClr val="000000"/>
                </a:solidFill>
                <a:latin typeface="Arial"/>
              </a:rPr>
              <a:t>Therefore, we map approximately 29,000 preferred terms into 27 System Organ Classes, producing a multilabel prediction problem.</a:t>
            </a:r>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70"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marL="0" indent="0">
              <a:spcBef>
                <a:spcPts val="1056"/>
              </a:spcBef>
              <a:spcAft>
                <a:spcPts val="880"/>
              </a:spcAft>
              <a:buFontTx/>
              <a:buNone/>
              <a:tabLst>
                <a:tab pos="0" algn="l"/>
              </a:tabLst>
            </a:pPr>
            <a:r>
              <a:rPr lang="en-US" sz="1200" b="1" dirty="0">
                <a:solidFill>
                  <a:srgbClr val="000000"/>
                </a:solidFill>
                <a:latin typeface="Arial"/>
              </a:rPr>
              <a:t>We fine-tuned the BGE-M3 embedding model using one million instruction pairs.</a:t>
            </a:r>
          </a:p>
          <a:p>
            <a:pPr marL="0" indent="0">
              <a:spcBef>
                <a:spcPts val="1056"/>
              </a:spcBef>
              <a:spcAft>
                <a:spcPts val="880"/>
              </a:spcAft>
              <a:buFontTx/>
              <a:buNone/>
              <a:tabLst>
                <a:tab pos="0" algn="l"/>
              </a:tabLst>
            </a:pPr>
            <a:r>
              <a:rPr lang="en-US" sz="1200" b="1" dirty="0">
                <a:solidFill>
                  <a:srgbClr val="000000"/>
                </a:solidFill>
                <a:latin typeface="Arial"/>
              </a:rPr>
              <a:t>Triplet loss pulls similar ADR cases together while separating unrelated cases.</a:t>
            </a:r>
          </a:p>
          <a:p>
            <a:pPr marL="0" indent="0">
              <a:spcBef>
                <a:spcPts val="1056"/>
              </a:spcBef>
              <a:spcAft>
                <a:spcPts val="880"/>
              </a:spcAft>
              <a:buFontTx/>
              <a:buNone/>
              <a:tabLst>
                <a:tab pos="0" algn="l"/>
              </a:tabLst>
            </a:pPr>
            <a:r>
              <a:rPr lang="en-US" sz="1200" b="1" dirty="0">
                <a:solidFill>
                  <a:srgbClr val="000000"/>
                </a:solidFill>
                <a:latin typeface="Arial"/>
              </a:rPr>
              <a:t>The resulting embeddings capture both semantic similarity and pharmacological context.</a:t>
            </a:r>
          </a:p>
          <a:p>
            <a:pPr marL="0" indent="0">
              <a:spcBef>
                <a:spcPts val="1056"/>
              </a:spcBef>
              <a:spcAft>
                <a:spcPts val="880"/>
              </a:spcAft>
              <a:buFontTx/>
              <a:buNone/>
              <a:tabLst>
                <a:tab pos="0" algn="l"/>
              </a:tabLst>
            </a:pPr>
            <a:r>
              <a:rPr lang="en-US" sz="1200" dirty="0">
                <a:solidFill>
                  <a:srgbClr val="000000"/>
                </a:solidFill>
                <a:latin typeface="Arial"/>
              </a:rPr>
              <a:t>Using open source embedding model BGE_m4 as base model, fine-tuned on 1M Query-PT pairs.  </a:t>
            </a:r>
          </a:p>
          <a:p>
            <a:pPr marL="0" indent="0">
              <a:spcBef>
                <a:spcPts val="1056"/>
              </a:spcBef>
              <a:spcAft>
                <a:spcPts val="880"/>
              </a:spcAft>
              <a:buFontTx/>
              <a:buNone/>
              <a:tabLst>
                <a:tab pos="0" algn="l"/>
              </a:tabLst>
            </a:pPr>
            <a:r>
              <a:rPr lang="en-US" sz="1200" b="1" dirty="0">
                <a:solidFill>
                  <a:srgbClr val="000000"/>
                </a:solidFill>
                <a:latin typeface="Arial"/>
              </a:rPr>
              <a:t>Using trip loss function to minimize the angle between anchor and positive, and maximize the angle between anchor and negatives. </a:t>
            </a:r>
          </a:p>
          <a:p>
            <a:pPr marL="0" indent="0">
              <a:spcBef>
                <a:spcPts val="1056"/>
              </a:spcBef>
              <a:spcAft>
                <a:spcPts val="880"/>
              </a:spcAft>
              <a:buFontTx/>
              <a:buNone/>
              <a:tabLst>
                <a:tab pos="0" algn="l"/>
              </a:tabLst>
            </a:pPr>
            <a:r>
              <a:rPr lang="en-US" sz="1200" b="1" dirty="0">
                <a:solidFill>
                  <a:srgbClr val="000000"/>
                </a:solidFill>
                <a:latin typeface="Arial"/>
              </a:rPr>
              <a:t>Let us check the embedding performance compare to the base model and 3 difference size medical embedding models</a:t>
            </a:r>
            <a:r>
              <a:rPr lang="en-US" sz="1200" dirty="0">
                <a:solidFill>
                  <a:srgbClr val="000000"/>
                </a:solidFill>
                <a:latin typeface="Arial"/>
              </a:rPr>
              <a:t>. 5 metrics are computed as top 1, 3, 5 hit,  mean </a:t>
            </a:r>
            <a:r>
              <a:rPr lang="en-US" sz="1200" dirty="0" err="1">
                <a:solidFill>
                  <a:srgbClr val="000000"/>
                </a:solidFill>
                <a:latin typeface="Arial"/>
              </a:rPr>
              <a:t>reciprcalr</a:t>
            </a:r>
            <a:r>
              <a:rPr lang="en-US" sz="1200" dirty="0">
                <a:solidFill>
                  <a:srgbClr val="000000"/>
                </a:solidFill>
                <a:latin typeface="Arial"/>
              </a:rPr>
              <a:t> rank (MRR) and  </a:t>
            </a:r>
            <a:r>
              <a:rPr lang="en-US" sz="1200" dirty="0" err="1">
                <a:solidFill>
                  <a:srgbClr val="000000"/>
                </a:solidFill>
                <a:latin typeface="Arial"/>
              </a:rPr>
              <a:t>noarmlzied</a:t>
            </a:r>
            <a:r>
              <a:rPr lang="en-US" sz="1200" dirty="0">
                <a:solidFill>
                  <a:srgbClr val="000000"/>
                </a:solidFill>
                <a:latin typeface="Arial"/>
              </a:rPr>
              <a:t> </a:t>
            </a:r>
            <a:r>
              <a:rPr lang="en-US" sz="1200" dirty="0" err="1">
                <a:solidFill>
                  <a:srgbClr val="000000"/>
                </a:solidFill>
                <a:latin typeface="Arial"/>
              </a:rPr>
              <a:t>dcisounted</a:t>
            </a:r>
            <a:r>
              <a:rPr lang="en-US" sz="1200" dirty="0">
                <a:solidFill>
                  <a:srgbClr val="000000"/>
                </a:solidFill>
                <a:latin typeface="Arial"/>
              </a:rPr>
              <a:t> gain </a:t>
            </a:r>
            <a:r>
              <a:rPr lang="en-US" sz="1200" dirty="0" err="1">
                <a:solidFill>
                  <a:srgbClr val="000000"/>
                </a:solidFill>
                <a:latin typeface="Arial"/>
              </a:rPr>
              <a:t>accumualtion</a:t>
            </a:r>
            <a:r>
              <a:rPr lang="en-US" sz="1200" dirty="0">
                <a:solidFill>
                  <a:srgbClr val="000000"/>
                </a:solidFill>
                <a:latin typeface="Arial"/>
              </a:rPr>
              <a:t> (NDCG).                 </a:t>
            </a:r>
            <a:r>
              <a:rPr lang="en-US" sz="1200">
                <a:solidFill>
                  <a:srgbClr val="000000"/>
                </a:solidFill>
                <a:latin typeface="Arial"/>
              </a:rPr>
              <a:t>Encode </a:t>
            </a:r>
            <a:r>
              <a:rPr lang="en-US" sz="1200" dirty="0">
                <a:solidFill>
                  <a:srgbClr val="000000"/>
                </a:solidFill>
                <a:latin typeface="Arial"/>
              </a:rPr>
              <a:t>text queries to 1024-dim vectors.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72"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dirty="0">
                <a:solidFill>
                  <a:srgbClr val="000000"/>
                </a:solidFill>
                <a:latin typeface="Arial"/>
              </a:rPr>
              <a:t>Demo of hybrid retrieval for a depression case (</a:t>
            </a:r>
            <a:r>
              <a:rPr lang="en-US" sz="1300" dirty="0" err="1">
                <a:solidFill>
                  <a:srgbClr val="000000"/>
                </a:solidFill>
                <a:latin typeface="Arial"/>
              </a:rPr>
              <a:t>mianserin</a:t>
            </a:r>
            <a:r>
              <a:rPr lang="en-US" sz="1300" dirty="0">
                <a:solidFill>
                  <a:srgbClr val="000000"/>
                </a:solidFill>
                <a:latin typeface="Arial"/>
              </a:rPr>
              <a:t> + venlafaxine). Top-5 lexical matches via BM25 (scores ~95–100) and top-5 semantic matches via dense vectors (cosine scores ~-1 to 1.4). Combines BM25 + dense embedding for retrieval.</a:t>
            </a:r>
          </a:p>
          <a:p>
            <a:pPr>
              <a:spcBef>
                <a:spcPts val="1056"/>
              </a:spcBef>
              <a:spcAft>
                <a:spcPts val="880"/>
              </a:spcAft>
              <a:tabLst>
                <a:tab pos="0" algn="l"/>
              </a:tabLst>
            </a:pPr>
            <a:r>
              <a:rPr lang="en-US" sz="1300" b="1" dirty="0">
                <a:solidFill>
                  <a:srgbClr val="000000"/>
                </a:solidFill>
                <a:latin typeface="Arial"/>
              </a:rPr>
              <a:t>Retrieval combines two complementary methods.</a:t>
            </a:r>
          </a:p>
          <a:p>
            <a:pPr marL="285750" indent="-285750">
              <a:spcBef>
                <a:spcPts val="1056"/>
              </a:spcBef>
              <a:spcAft>
                <a:spcPts val="880"/>
              </a:spcAft>
              <a:buFont typeface="Arial" panose="020B0604020202020204" pitchFamily="34" charset="0"/>
              <a:buChar char="•"/>
              <a:tabLst>
                <a:tab pos="0" algn="l"/>
              </a:tabLst>
            </a:pPr>
            <a:r>
              <a:rPr lang="en-US" sz="1300" b="1" dirty="0">
                <a:solidFill>
                  <a:srgbClr val="000000"/>
                </a:solidFill>
                <a:latin typeface="Arial"/>
              </a:rPr>
              <a:t>BM25 captures exact lexical matches.</a:t>
            </a:r>
          </a:p>
          <a:p>
            <a:pPr marL="285750" indent="-285750">
              <a:spcBef>
                <a:spcPts val="1056"/>
              </a:spcBef>
              <a:spcAft>
                <a:spcPts val="880"/>
              </a:spcAft>
              <a:buFont typeface="Arial" panose="020B0604020202020204" pitchFamily="34" charset="0"/>
              <a:buChar char="•"/>
              <a:tabLst>
                <a:tab pos="0" algn="l"/>
              </a:tabLst>
            </a:pPr>
            <a:r>
              <a:rPr lang="en-US" sz="1300" b="1" dirty="0">
                <a:solidFill>
                  <a:srgbClr val="000000"/>
                </a:solidFill>
                <a:latin typeface="Arial"/>
              </a:rPr>
              <a:t>Dense vector search captures semantic similarity.</a:t>
            </a:r>
          </a:p>
          <a:p>
            <a:pPr>
              <a:spcBef>
                <a:spcPts val="1056"/>
              </a:spcBef>
              <a:spcAft>
                <a:spcPts val="880"/>
              </a:spcAft>
              <a:tabLst>
                <a:tab pos="0" algn="l"/>
              </a:tabLst>
            </a:pPr>
            <a:r>
              <a:rPr lang="en-US" sz="1300" b="1" dirty="0">
                <a:solidFill>
                  <a:srgbClr val="000000"/>
                </a:solidFill>
                <a:latin typeface="Arial"/>
              </a:rPr>
              <a:t>Together they retrieve ten historical cases that provide contextual evidence for prediction.</a:t>
            </a:r>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74"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100" dirty="0">
                <a:solidFill>
                  <a:srgbClr val="000000"/>
                </a:solidFill>
                <a:latin typeface="Arial"/>
              </a:rPr>
              <a:t>Instead of treating all retrieved cases equally, our model learns attention weights over retrieved evidence. Each System Organ Class (SOC) has its own learned query vector that selectively attends to the most relevant historical reports. This allows the model to explain which retrieved cases contribute most to each prediction.    </a:t>
            </a:r>
          </a:p>
          <a:p>
            <a:r>
              <a:rPr lang="en-US" sz="1100" dirty="0"/>
              <a:t>Each input consists of the </a:t>
            </a:r>
            <a:r>
              <a:rPr lang="en-US" sz="1100" b="1" dirty="0"/>
              <a:t>query case</a:t>
            </a:r>
            <a:r>
              <a:rPr lang="en-US" sz="1100" dirty="0"/>
              <a:t> and </a:t>
            </a:r>
            <a:r>
              <a:rPr lang="en-US" sz="1100" b="1" dirty="0"/>
              <a:t>10 retrieved cases</a:t>
            </a:r>
            <a:r>
              <a:rPr lang="en-US" sz="1100" dirty="0"/>
              <a:t>. Every retrieved case includes a normalized retrieval score, </a:t>
            </a:r>
            <a:r>
              <a:rPr lang="en-US" sz="1100" b="1" dirty="0"/>
              <a:t>27 multi-labels</a:t>
            </a:r>
            <a:r>
              <a:rPr lang="en-US" sz="1100" dirty="0"/>
              <a:t>, and a </a:t>
            </a:r>
            <a:r>
              <a:rPr lang="en-US" sz="1100" b="1" dirty="0"/>
              <a:t>1024-dimensional embedding</a:t>
            </a:r>
            <a:r>
              <a:rPr lang="en-US" sz="1100" dirty="0"/>
              <a:t>.</a:t>
            </a:r>
          </a:p>
          <a:p>
            <a:r>
              <a:rPr lang="en-US" sz="1100" dirty="0"/>
              <a:t>We use a </a:t>
            </a:r>
            <a:r>
              <a:rPr lang="en-US" sz="1100" b="1" dirty="0"/>
              <a:t>cross-attention label-query classifier</a:t>
            </a:r>
            <a:r>
              <a:rPr lang="en-US" sz="1100" dirty="0"/>
              <a:t> for the 27-class multilabel SOC task:</a:t>
            </a:r>
          </a:p>
          <a:p>
            <a:pPr marL="171450" indent="-171450">
              <a:buFont typeface="Arial" panose="020B0604020202020204" pitchFamily="34" charset="0"/>
              <a:buChar char="•"/>
            </a:pPr>
            <a:r>
              <a:rPr lang="en-US" sz="1100" b="1" dirty="0"/>
              <a:t>Token encoder:</a:t>
            </a:r>
            <a:r>
              <a:rPr lang="en-US" sz="1100" dirty="0"/>
              <a:t> Projects the query and retrieved tokens into a shared </a:t>
            </a:r>
            <a:r>
              <a:rPr lang="en-US" sz="1100" b="1" dirty="0"/>
              <a:t>768-dimensional</a:t>
            </a:r>
            <a:r>
              <a:rPr lang="en-US" sz="1100" dirty="0"/>
              <a:t> feature space. </a:t>
            </a:r>
          </a:p>
          <a:p>
            <a:pPr marL="171450" indent="-171450">
              <a:buFont typeface="Arial" panose="020B0604020202020204" pitchFamily="34" charset="0"/>
              <a:buChar char="•"/>
            </a:pPr>
            <a:r>
              <a:rPr lang="en-US" sz="1100" b="1" dirty="0"/>
              <a:t>Cross-attention:</a:t>
            </a:r>
            <a:r>
              <a:rPr lang="en-US" sz="1100" dirty="0"/>
              <a:t> Uses one learned query vector per SOC class to attend to the query case and retrieved cases, enabling </a:t>
            </a:r>
            <a:r>
              <a:rPr lang="en-US" sz="1100" b="1" dirty="0"/>
              <a:t>label-specific evidence weighting</a:t>
            </a:r>
            <a:r>
              <a:rPr lang="en-US" sz="1100" dirty="0"/>
              <a:t>. </a:t>
            </a:r>
          </a:p>
          <a:p>
            <a:pPr marL="171450" indent="-171450">
              <a:buFont typeface="Arial" panose="020B0604020202020204" pitchFamily="34" charset="0"/>
              <a:buChar char="•"/>
            </a:pPr>
            <a:r>
              <a:rPr lang="en-US" sz="1100" b="1" dirty="0"/>
              <a:t>Layer normalization and feedforward network:</a:t>
            </a:r>
            <a:r>
              <a:rPr lang="en-US" sz="1100" dirty="0"/>
              <a:t> Refines the attended representations for stable learning. </a:t>
            </a:r>
          </a:p>
          <a:p>
            <a:pPr marL="171450" indent="-171450">
              <a:buFont typeface="Arial" panose="020B0604020202020204" pitchFamily="34" charset="0"/>
              <a:buChar char="•"/>
            </a:pPr>
            <a:r>
              <a:rPr lang="en-US" sz="1100" b="1" dirty="0"/>
              <a:t>Classification:</a:t>
            </a:r>
            <a:r>
              <a:rPr lang="en-US" sz="1100" dirty="0"/>
              <a:t> Each SOC representation is passed through its own classifier to produce </a:t>
            </a:r>
            <a:r>
              <a:rPr lang="en-US" sz="1100" b="1" dirty="0"/>
              <a:t>27 independent sigmoid outputs</a:t>
            </a:r>
            <a:r>
              <a:rPr lang="en-US" sz="1100" dirty="0"/>
              <a:t>. </a:t>
            </a:r>
          </a:p>
          <a:p>
            <a:r>
              <a:rPr lang="en-US" sz="1100" dirty="0"/>
              <a:t>Overall, the model acts like a </a:t>
            </a:r>
            <a:r>
              <a:rPr lang="en-US" sz="1100" b="1" dirty="0"/>
              <a:t>mini one-layer Transformer decoder</a:t>
            </a:r>
            <a:r>
              <a:rPr lang="en-US" sz="1100" dirty="0"/>
              <a:t>, where the decoder tokens are learned SOC queries that selectively gather evidence from the query case and its 10 retrieved neighbors.</a:t>
            </a:r>
          </a:p>
          <a:p>
            <a:br>
              <a:rPr lang="en-US" sz="1000" dirty="0"/>
            </a:br>
            <a:endParaRPr lang="en-US" sz="1000" dirty="0"/>
          </a:p>
          <a:p>
            <a:pPr>
              <a:spcBef>
                <a:spcPts val="1056"/>
              </a:spcBef>
              <a:spcAft>
                <a:spcPts val="880"/>
              </a:spcAft>
              <a:tabLst>
                <a:tab pos="0" algn="l"/>
              </a:tabLst>
            </a:pPr>
            <a:endParaRPr lang="en-US" sz="900" dirty="0">
              <a:solidFill>
                <a:srgbClr val="000000"/>
              </a:solid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76"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b="1" dirty="0">
                <a:solidFill>
                  <a:srgbClr val="000000"/>
                </a:solidFill>
                <a:latin typeface="Arial"/>
              </a:rPr>
              <a:t>Benchmarking ML models, deep learning baselines, and LLMs against hybrid retrieval results on validation and OOT sets.</a:t>
            </a:r>
          </a:p>
          <a:p>
            <a:pPr>
              <a:spcBef>
                <a:spcPts val="1056"/>
              </a:spcBef>
              <a:spcAft>
                <a:spcPts val="880"/>
              </a:spcAft>
              <a:tabLst>
                <a:tab pos="0" algn="l"/>
              </a:tabLst>
            </a:pPr>
            <a:r>
              <a:rPr lang="en-US" sz="1300" b="1" dirty="0">
                <a:solidFill>
                  <a:srgbClr val="000000"/>
                </a:solidFill>
                <a:latin typeface="Arial"/>
              </a:rPr>
              <a:t>We compared traditional machine learning, deep learning, and retrieval baselines.</a:t>
            </a:r>
          </a:p>
          <a:p>
            <a:pPr>
              <a:spcBef>
                <a:spcPts val="1056"/>
              </a:spcBef>
              <a:spcAft>
                <a:spcPts val="880"/>
              </a:spcAft>
              <a:tabLst>
                <a:tab pos="0" algn="l"/>
              </a:tabLst>
            </a:pPr>
            <a:r>
              <a:rPr lang="en-US" sz="1300" b="1" dirty="0">
                <a:solidFill>
                  <a:srgbClr val="000000"/>
                </a:solidFill>
                <a:latin typeface="Arial"/>
              </a:rPr>
              <a:t>Retrieval-augmented learning consistently improved prediction performance over KNN and standard neural models.</a:t>
            </a:r>
          </a:p>
          <a:p>
            <a:pPr>
              <a:spcBef>
                <a:spcPts val="1056"/>
              </a:spcBef>
              <a:spcAft>
                <a:spcPts val="880"/>
              </a:spcAft>
              <a:tabLst>
                <a:tab pos="0" algn="l"/>
              </a:tabLst>
            </a:pPr>
            <a:r>
              <a:rPr lang="en-US" sz="1300" b="1" dirty="0">
                <a:solidFill>
                  <a:srgbClr val="000000"/>
                </a:solidFill>
                <a:latin typeface="Arial"/>
              </a:rPr>
              <a:t>Importantly, the improvements generalized to out-of-time test sets.</a:t>
            </a:r>
            <a:endParaRPr lang="en-US" sz="900" b="1" dirty="0">
              <a:solidFill>
                <a:srgbClr val="000000"/>
              </a:solidFill>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78"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300" dirty="0">
                <a:solidFill>
                  <a:srgbClr val="000000"/>
                </a:solidFill>
                <a:latin typeface="Arial"/>
              </a:rPr>
              <a:t>Two findings stand out.</a:t>
            </a:r>
          </a:p>
          <a:p>
            <a:pPr>
              <a:spcBef>
                <a:spcPts val="1056"/>
              </a:spcBef>
              <a:spcAft>
                <a:spcPts val="880"/>
              </a:spcAft>
            </a:pPr>
            <a:r>
              <a:rPr lang="en-US" sz="1300" dirty="0">
                <a:solidFill>
                  <a:srgbClr val="000000"/>
                </a:solidFill>
                <a:latin typeface="Arial"/>
              </a:rPr>
              <a:t>Hybrid retrieval substantially improves prediction accuracy.</a:t>
            </a:r>
          </a:p>
          <a:p>
            <a:pPr>
              <a:spcBef>
                <a:spcPts val="1056"/>
              </a:spcBef>
              <a:spcAft>
                <a:spcPts val="880"/>
              </a:spcAft>
            </a:pPr>
            <a:r>
              <a:rPr lang="en-US" sz="1300" dirty="0">
                <a:solidFill>
                  <a:srgbClr val="000000"/>
                </a:solidFill>
                <a:latin typeface="Arial"/>
              </a:rPr>
              <a:t>However, temporal drift remains an important challenge as reporting patterns evolve over time.</a:t>
            </a:r>
          </a:p>
          <a:p>
            <a:pPr>
              <a:spcBef>
                <a:spcPts val="1056"/>
              </a:spcBef>
              <a:spcAft>
                <a:spcPts val="880"/>
              </a:spcAft>
            </a:pPr>
            <a:endParaRPr lang="en-US" sz="900" dirty="0">
              <a:solidFill>
                <a:srgbClr val="000000"/>
              </a:solidFill>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80"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300">
                <a:solidFill>
                  <a:srgbClr val="000000"/>
                </a:solidFill>
                <a:latin typeface="Arial"/>
              </a:rPr>
              <a:t>The second project focuses on predicting whether an adverse event is life-threatening.</a:t>
            </a:r>
          </a:p>
          <a:p>
            <a:pPr>
              <a:spcBef>
                <a:spcPts val="1056"/>
              </a:spcBef>
              <a:spcAft>
                <a:spcPts val="880"/>
              </a:spcAft>
            </a:pPr>
            <a:r>
              <a:rPr lang="en-US" sz="1300">
                <a:solidFill>
                  <a:srgbClr val="000000"/>
                </a:solidFill>
                <a:latin typeface="Arial"/>
              </a:rPr>
              <a:t>Instead of predicting multiple organ systems, we simplify the task into a binary classification problem while exploring more efficient representations.</a:t>
            </a:r>
          </a:p>
          <a:p>
            <a:pPr>
              <a:spcBef>
                <a:spcPts val="1056"/>
              </a:spcBef>
              <a:spcAft>
                <a:spcPts val="880"/>
              </a:spcAft>
            </a:pPr>
            <a:endParaRPr lang="en-US" sz="900">
              <a:solidFill>
                <a:srgbClr val="000000"/>
              </a:solidFill>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82"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tabLst>
                <a:tab pos="0" algn="l"/>
              </a:tabLst>
            </a:pPr>
            <a:r>
              <a:rPr lang="en-US" sz="1800">
                <a:solidFill>
                  <a:srgbClr val="000000"/>
                </a:solidFill>
                <a:latin typeface="Arial"/>
              </a:rPr>
              <a:t>Highlight the data engineering in part 3 that aggregate 10 retrieval representations into 2 dense vectors, plus the query vector, the input size is reduced from 10X 1024 to 3X 1024.    </a:t>
            </a:r>
          </a:p>
          <a:p>
            <a:pPr>
              <a:tabLst>
                <a:tab pos="0" algn="l"/>
              </a:tabLst>
            </a:pPr>
            <a:endParaRPr lang="en-US" sz="1800">
              <a:solidFill>
                <a:srgbClr val="000000"/>
              </a:solidFill>
              <a:latin typeface="Arial"/>
            </a:endParaRPr>
          </a:p>
          <a:p>
            <a:pPr>
              <a:spcBef>
                <a:spcPts val="1056"/>
              </a:spcBef>
              <a:spcAft>
                <a:spcPts val="880"/>
              </a:spcAft>
              <a:tabLst>
                <a:tab pos="0" algn="l"/>
              </a:tabLst>
            </a:pPr>
            <a:endParaRPr lang="en-US" sz="1800">
              <a:solidFill>
                <a:srgbClr val="000000"/>
              </a:solidFill>
              <a:latin typeface="Arial"/>
            </a:endParaRPr>
          </a:p>
          <a:p>
            <a:pPr>
              <a:spcBef>
                <a:spcPts val="1056"/>
              </a:spcBef>
              <a:spcAft>
                <a:spcPts val="880"/>
              </a:spcAft>
              <a:tabLst>
                <a:tab pos="0" algn="l"/>
              </a:tabLst>
            </a:pPr>
            <a:endParaRPr lang="en-US" sz="1800">
              <a:solidFill>
                <a:srgbClr val="000000"/>
              </a:solidFill>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84"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800">
                <a:solidFill>
                  <a:srgbClr val="000000"/>
                </a:solidFill>
                <a:latin typeface="Arial"/>
              </a:rPr>
              <a:t>We consolidated the seven FAERS outcome categories into a binary severity label.</a:t>
            </a:r>
          </a:p>
          <a:p>
            <a:pPr>
              <a:spcBef>
                <a:spcPts val="1056"/>
              </a:spcBef>
              <a:spcAft>
                <a:spcPts val="880"/>
              </a:spcAft>
              <a:tabLst>
                <a:tab pos="0" algn="l"/>
              </a:tabLst>
            </a:pPr>
            <a:r>
              <a:rPr lang="en-US" sz="1800">
                <a:solidFill>
                  <a:srgbClr val="000000"/>
                </a:solidFill>
                <a:latin typeface="Arial"/>
              </a:rPr>
              <a:t>This produces a large, balanced dataset suitable for supervised learning.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86"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a:solidFill>
                  <a:srgbClr val="000000"/>
                </a:solidFill>
                <a:latin typeface="Arial"/>
              </a:rPr>
              <a:t>Matryoshka Representation Learning (MRL) trains embeddings that remain informative even when truncated to lower dimensions, enabling efficient retrieval with minimal loss in accuracy.  </a:t>
            </a:r>
          </a:p>
          <a:p>
            <a:pPr>
              <a:spcBef>
                <a:spcPts val="1056"/>
              </a:spcBef>
              <a:spcAft>
                <a:spcPts val="880"/>
              </a:spcAft>
              <a:tabLst>
                <a:tab pos="0" algn="l"/>
              </a:tabLst>
            </a:pPr>
            <a:r>
              <a:rPr lang="en-US" sz="1300">
                <a:solidFill>
                  <a:srgbClr val="000000"/>
                </a:solidFill>
                <a:latin typeface="Arial"/>
              </a:rPr>
              <a:t> Amazon Nova leverages MRL to generate scalable embeddings that support fast semantic search across different latency and reduced embedding sizes without retraining separate models. It serves multiple retrieval scenarios by dynamically trading off embedding dimensionality, storage cost, retrieval latency, and prediction accuracy.</a:t>
            </a:r>
          </a:p>
          <a:p>
            <a:pPr>
              <a:spcBef>
                <a:spcPts val="1056"/>
              </a:spcBef>
              <a:spcAft>
                <a:spcPts val="880"/>
              </a:spcAft>
              <a:tabLst>
                <a:tab pos="0" algn="l"/>
              </a:tabLst>
            </a:pPr>
            <a:r>
              <a:rPr lang="en-US" sz="1300">
                <a:solidFill>
                  <a:srgbClr val="000000"/>
                </a:solidFill>
                <a:latin typeface="Arial"/>
              </a:rPr>
              <a:t>Fine-tuned BAAI/bge-m3 base embedding model using Matryoshka loss (the sum of individual dimension-wise losses), enabling flexible-dimension representations for binary severity target definition on FAERS data through Q3 2025.</a:t>
            </a:r>
          </a:p>
          <a:p>
            <a:pPr>
              <a:spcBef>
                <a:spcPts val="1056"/>
              </a:spcBef>
              <a:spcAft>
                <a:spcPts val="880"/>
              </a:spcAft>
              <a:tabLst>
                <a:tab pos="0" algn="l"/>
              </a:tabLst>
            </a:pPr>
            <a:r>
              <a:rPr lang="en-US" sz="1300">
                <a:solidFill>
                  <a:srgbClr val="000000"/>
                </a:solidFill>
                <a:latin typeface="Arial"/>
              </a:rPr>
              <a:t>We adopted Matryoshka Representation Learning. The key idea is that embeddings remain useful even when compressed into lower dimensions.  Amazon Nova recently adopted this strategy because it reduces storage and retrieval costs while maintaining retrieval quality.</a:t>
            </a:r>
          </a:p>
          <a:p>
            <a:pPr>
              <a:spcBef>
                <a:spcPts val="1056"/>
              </a:spcBef>
              <a:spcAft>
                <a:spcPts val="880"/>
              </a:spcAft>
              <a:tabLst>
                <a:tab pos="0" algn="l"/>
              </a:tabLst>
            </a:pPr>
            <a:endParaRPr lang="en-US" sz="900">
              <a:solidFill>
                <a:srgbClr val="000000"/>
              </a:solidFill>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396875" y="701675"/>
            <a:ext cx="6154738" cy="3462338"/>
          </a:xfrm>
          <a:prstGeom prst="rect">
            <a:avLst/>
          </a:prstGeom>
          <a:ln w="0">
            <a:noFill/>
          </a:ln>
        </p:spPr>
        <p:txBody>
          <a:bodyPr/>
          <a:lstStyle/>
          <a:p>
            <a:endParaRPr lang="en-US"/>
          </a:p>
        </p:txBody>
      </p:sp>
      <p:sp>
        <p:nvSpPr>
          <p:cNvPr id="488" name="PlaceHolder 2"/>
          <p:cNvSpPr>
            <a:spLocks noGrp="1"/>
          </p:cNvSpPr>
          <p:nvPr>
            <p:ph type="body"/>
          </p:nvPr>
        </p:nvSpPr>
        <p:spPr>
          <a:xfrm>
            <a:off x="695037" y="4387057"/>
            <a:ext cx="5558644" cy="4154752"/>
          </a:xfrm>
          <a:prstGeom prst="rect">
            <a:avLst/>
          </a:prstGeom>
          <a:noFill/>
          <a:ln w="0">
            <a:noFill/>
          </a:ln>
        </p:spPr>
        <p:txBody>
          <a:bodyPr lIns="0" tIns="0" rIns="0" bIns="0" anchor="t">
            <a:noAutofit/>
          </a:bodyPr>
          <a:lstStyle/>
          <a:p>
            <a:pPr>
              <a:spcBef>
                <a:spcPts val="1056"/>
              </a:spcBef>
              <a:spcAft>
                <a:spcPts val="880"/>
              </a:spcAft>
              <a:tabLst>
                <a:tab pos="0" algn="l"/>
              </a:tabLst>
            </a:pPr>
            <a:r>
              <a:rPr lang="en-US" sz="1300">
                <a:solidFill>
                  <a:srgbClr val="000000"/>
                </a:solidFill>
                <a:latin typeface="Arial"/>
              </a:rPr>
              <a:t>Rather than feeding all ten retrieved embeddings into the classifier, we aggregated them into compact evidence vectors. Surprisingly, this smaller representation allowed tree-based ensemble models like XGBoost to outperform both deep learning models and fine-tuned LLMs. This highlights that better feature engineering can sometimes outperform larger models. </a:t>
            </a:r>
          </a:p>
          <a:p>
            <a:pPr>
              <a:spcBef>
                <a:spcPts val="1056"/>
              </a:spcBef>
              <a:spcAft>
                <a:spcPts val="880"/>
              </a:spcAft>
              <a:tabLst>
                <a:tab pos="0" algn="l"/>
              </a:tabLst>
            </a:pPr>
            <a:r>
              <a:rPr lang="en-US" sz="1300">
                <a:solidFill>
                  <a:srgbClr val="000000"/>
                </a:solidFill>
                <a:latin typeface="Arial"/>
              </a:rPr>
              <a:t>With aggregated representations of 10 retrievals fo hybrid pipelines into 2 vectors plus 1 query vector,  traditional ensemble machine learning classifier like XGBoost and Random forest outperform 4 DL models, and 2 finetuned LLMs, in terms of F1 and AUC.    </a:t>
            </a:r>
          </a:p>
          <a:p>
            <a:pPr>
              <a:spcBef>
                <a:spcPts val="1056"/>
              </a:spcBef>
              <a:spcAft>
                <a:spcPts val="880"/>
              </a:spcAft>
              <a:tabLst>
                <a:tab pos="0" algn="l"/>
              </a:tabLst>
            </a:pPr>
            <a:r>
              <a:rPr lang="en-US" sz="1300">
                <a:solidFill>
                  <a:srgbClr val="000000"/>
                </a:solidFill>
                <a:latin typeface="Arial"/>
              </a:rPr>
              <a:t>W also run ablation study on 3 information source BM25, Dense vector and query, the ensemble prediction from 3 pipelines outperform each individual predictions alone.   </a:t>
            </a:r>
            <a:r>
              <a:rPr lang="en-US" sz="900">
                <a:solidFill>
                  <a:srgbClr val="000000"/>
                </a:solidFill>
                <a:latin typeface="Arial"/>
              </a:rPr>
              <a:t>     </a:t>
            </a:r>
          </a:p>
          <a:p>
            <a:pPr>
              <a:spcBef>
                <a:spcPts val="1056"/>
              </a:spcBef>
              <a:spcAft>
                <a:spcPts val="880"/>
              </a:spcAft>
              <a:tabLst>
                <a:tab pos="0" algn="l"/>
              </a:tabLst>
            </a:pPr>
            <a:r>
              <a:rPr lang="en-US" sz="900">
                <a:solidFill>
                  <a:srgbClr val="000000"/>
                </a:solidFill>
                <a:latin typeface="Arial"/>
              </a:rPr>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90"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400">
                <a:solidFill>
                  <a:srgbClr val="000000"/>
                </a:solidFill>
                <a:latin typeface="Arial"/>
              </a:rPr>
              <a:t>Attention-based evidence aggregation preserves informative signals while dramatically reducing model complexity.</a:t>
            </a:r>
          </a:p>
          <a:p>
            <a:pPr>
              <a:spcBef>
                <a:spcPts val="1056"/>
              </a:spcBef>
              <a:spcAft>
                <a:spcPts val="880"/>
              </a:spcAft>
            </a:pPr>
            <a:r>
              <a:rPr lang="en-US" sz="1400">
                <a:solidFill>
                  <a:srgbClr val="000000"/>
                </a:solidFill>
                <a:latin typeface="Arial"/>
              </a:rPr>
              <a:t>This leads to higher accuracy and improved computational efficiency.</a:t>
            </a:r>
          </a:p>
          <a:p>
            <a:pPr>
              <a:spcBef>
                <a:spcPts val="1056"/>
              </a:spcBef>
              <a:spcAft>
                <a:spcPts val="880"/>
              </a:spcAft>
            </a:pPr>
            <a:endParaRPr lang="en-US" sz="900">
              <a:solidFill>
                <a:srgbClr val="000000"/>
              </a:solidFill>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96" name="PlaceHolder 2"/>
          <p:cNvSpPr>
            <a:spLocks noGrp="1"/>
          </p:cNvSpPr>
          <p:nvPr>
            <p:ph type="body"/>
          </p:nvPr>
        </p:nvSpPr>
        <p:spPr>
          <a:xfrm>
            <a:off x="630498"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300" dirty="0">
                <a:solidFill>
                  <a:srgbClr val="000000"/>
                </a:solidFill>
                <a:latin typeface="Arial"/>
              </a:rPr>
              <a:t>This prototype demonstrates how clinicians can explore related drugs, adverse events, and patient histories interactively.</a:t>
            </a:r>
          </a:p>
          <a:p>
            <a:pPr>
              <a:spcBef>
                <a:spcPts val="1056"/>
              </a:spcBef>
              <a:spcAft>
                <a:spcPts val="880"/>
              </a:spcAft>
            </a:pPr>
            <a:r>
              <a:rPr lang="en-US" sz="1300" dirty="0">
                <a:solidFill>
                  <a:srgbClr val="000000"/>
                </a:solidFill>
                <a:latin typeface="Arial"/>
              </a:rPr>
              <a:t>Rather than returning isolated reports, the system explains predictions using connected evidence from the knowledge graph.</a:t>
            </a:r>
          </a:p>
          <a:p>
            <a:pPr>
              <a:spcBef>
                <a:spcPts val="1056"/>
              </a:spcBef>
              <a:spcAft>
                <a:spcPts val="880"/>
              </a:spcAft>
            </a:pPr>
            <a:endParaRPr lang="en-US" sz="900" dirty="0">
              <a:solidFill>
                <a:srgbClr val="000000"/>
              </a:solidFill>
              <a:latin typeface="Arial"/>
            </a:endParaRPr>
          </a:p>
          <a:p>
            <a:pPr>
              <a:spcBef>
                <a:spcPts val="1056"/>
              </a:spcBef>
              <a:spcAft>
                <a:spcPts val="880"/>
              </a:spcAft>
            </a:pPr>
            <a:endParaRPr lang="en-US" sz="900" dirty="0">
              <a:solidFill>
                <a:srgbClr val="000000"/>
              </a:solidFill>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PlaceHolder 1"/>
          <p:cNvSpPr>
            <a:spLocks noGrp="1" noRot="1" noChangeAspect="1"/>
          </p:cNvSpPr>
          <p:nvPr>
            <p:ph type="sldImg"/>
          </p:nvPr>
        </p:nvSpPr>
        <p:spPr>
          <a:xfrm>
            <a:off x="396875" y="701675"/>
            <a:ext cx="6156325" cy="3463925"/>
          </a:xfrm>
          <a:prstGeom prst="rect">
            <a:avLst/>
          </a:prstGeom>
          <a:ln w="0">
            <a:noFill/>
          </a:ln>
        </p:spPr>
        <p:txBody>
          <a:bodyPr/>
          <a:lstStyle/>
          <a:p>
            <a:endParaRPr lang="en-US"/>
          </a:p>
        </p:txBody>
      </p:sp>
      <p:sp>
        <p:nvSpPr>
          <p:cNvPr id="498" name="PlaceHolder 2"/>
          <p:cNvSpPr>
            <a:spLocks noGrp="1"/>
          </p:cNvSpPr>
          <p:nvPr>
            <p:ph type="body"/>
          </p:nvPr>
        </p:nvSpPr>
        <p:spPr>
          <a:xfrm>
            <a:off x="695037" y="4387057"/>
            <a:ext cx="5559968" cy="4155995"/>
          </a:xfrm>
          <a:prstGeom prst="rect">
            <a:avLst/>
          </a:prstGeom>
          <a:noFill/>
          <a:ln w="0">
            <a:noFill/>
          </a:ln>
        </p:spPr>
        <p:txBody>
          <a:bodyPr lIns="0" tIns="0" rIns="0" bIns="0" anchor="t">
            <a:noAutofit/>
          </a:bodyPr>
          <a:lstStyle/>
          <a:p>
            <a:pPr>
              <a:spcBef>
                <a:spcPts val="1056"/>
              </a:spcBef>
              <a:spcAft>
                <a:spcPts val="880"/>
              </a:spcAft>
            </a:pPr>
            <a:r>
              <a:rPr lang="en-US" sz="1400" dirty="0">
                <a:solidFill>
                  <a:srgbClr val="000000"/>
                </a:solidFill>
                <a:latin typeface="Arial"/>
              </a:rPr>
              <a:t>Finally, I'd like to acknowledge support from my advisor Dr. Choo, and TACC, PSC, UTSA Advanced Research Computing, my committee members, and my collaborators.</a:t>
            </a:r>
          </a:p>
          <a:p>
            <a:pPr>
              <a:spcBef>
                <a:spcPts val="1056"/>
              </a:spcBef>
              <a:spcAft>
                <a:spcPts val="880"/>
              </a:spcAft>
            </a:pPr>
            <a:r>
              <a:rPr lang="en-US" sz="1400" dirty="0">
                <a:solidFill>
                  <a:srgbClr val="000000"/>
                </a:solidFill>
                <a:latin typeface="Arial"/>
              </a:rPr>
              <a:t>Thank you for your attention. I'd be happy to take any questions.</a:t>
            </a:r>
          </a:p>
          <a:p>
            <a:pPr>
              <a:spcBef>
                <a:spcPts val="1056"/>
              </a:spcBef>
              <a:spcAft>
                <a:spcPts val="880"/>
              </a:spcAft>
            </a:pPr>
            <a:endParaRPr lang="en-US" sz="900" dirty="0">
              <a:solidFill>
                <a:srgbClr val="000000"/>
              </a:solidFill>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30"/>
          </p:nvPr>
        </p:nvSpPr>
        <p:spPr/>
        <p:txBody>
          <a:bodyPr/>
          <a:lstStyle/>
          <a:p>
            <a:fld id="{4AEB54E6-A078-47EF-B7CA-D642D5E41517}" type="slidenum">
              <a:rPr lang="en-US"/>
              <a:pPr/>
              <a:t>21</a:t>
            </a:fld>
            <a:endParaRPr lang="en-US"/>
          </a:p>
        </p:txBody>
      </p:sp>
    </p:spTree>
    <p:extLst>
      <p:ext uri="{BB962C8B-B14F-4D97-AF65-F5344CB8AC3E}">
        <p14:creationId xmlns:p14="http://schemas.microsoft.com/office/powerpoint/2010/main" val="4212315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3">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120" y="510480"/>
            <a:ext cx="10966680" cy="670680"/>
          </a:xfrm>
          <a:prstGeom prst="rect">
            <a:avLst/>
          </a:prstGeom>
          <a:noFill/>
          <a:ln w="0">
            <a:noFill/>
          </a:ln>
        </p:spPr>
        <p:txBody>
          <a:bodyPr lIns="0" tIns="0" rIns="0" bIns="0" anchor="ctr">
            <a:sp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ftr" idx="1"/>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4" name="PlaceHolder 3"/>
          <p:cNvSpPr>
            <a:spLocks noGrp="1"/>
          </p:cNvSpPr>
          <p:nvPr>
            <p:ph type="sldNum" idx="2"/>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5BE42D0-18E2-4D68-9FEE-2F07C300AFD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2"/>
          <p:cNvSpPr>
            <a:spLocks noGrp="1"/>
          </p:cNvSpPr>
          <p:nvPr>
            <p:ph type="sldNum" idx="5"/>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2DD04CA-F31E-42EC-A327-D94F6875310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8" name="PlaceHolder 3"/>
          <p:cNvSpPr>
            <a:spLocks noGrp="1"/>
          </p:cNvSpPr>
          <p:nvPr>
            <p:ph type="dt" idx="6"/>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 </a:t>
            </a:r>
          </a:p>
        </p:txBody>
      </p:sp>
      <p:sp>
        <p:nvSpPr>
          <p:cNvPr id="9"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10"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efault 1">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ftr" idx="7"/>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12" name="PlaceHolder 2"/>
          <p:cNvSpPr>
            <a:spLocks noGrp="1"/>
          </p:cNvSpPr>
          <p:nvPr>
            <p:ph type="sldNum" idx="8"/>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D7333F4-F074-4309-81D0-8DDB99005A7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13" name="PlaceHolder 3"/>
          <p:cNvSpPr>
            <a:spLocks noGrp="1"/>
          </p:cNvSpPr>
          <p:nvPr>
            <p:ph type="dt" idx="9"/>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p>
        </p:txBody>
      </p:sp>
      <p:sp>
        <p:nvSpPr>
          <p:cNvPr id="14"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15"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efault 2">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ftr" idx="10"/>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17" name="PlaceHolder 2"/>
          <p:cNvSpPr>
            <a:spLocks noGrp="1"/>
          </p:cNvSpPr>
          <p:nvPr>
            <p:ph type="sldNum" idx="11"/>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DD46462-DBD9-4BB0-9521-2527F381F8A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18" name="PlaceHolder 3"/>
          <p:cNvSpPr>
            <a:spLocks noGrp="1"/>
          </p:cNvSpPr>
          <p:nvPr>
            <p:ph type="dt" idx="12"/>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p>
        </p:txBody>
      </p:sp>
      <p:sp>
        <p:nvSpPr>
          <p:cNvPr id="19"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20"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efault 4">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ftr" idx="13"/>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22" name="PlaceHolder 2"/>
          <p:cNvSpPr>
            <a:spLocks noGrp="1"/>
          </p:cNvSpPr>
          <p:nvPr>
            <p:ph type="sldNum" idx="14"/>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9077493-8A77-402A-84DC-723FD5AE610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23" name="PlaceHolder 3"/>
          <p:cNvSpPr>
            <a:spLocks noGrp="1"/>
          </p:cNvSpPr>
          <p:nvPr>
            <p:ph type="dt" idx="15"/>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p>
        </p:txBody>
      </p:sp>
      <p:sp>
        <p:nvSpPr>
          <p:cNvPr id="24"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25"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Default 5">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ftr" idx="16"/>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27" name="PlaceHolder 2"/>
          <p:cNvSpPr>
            <a:spLocks noGrp="1"/>
          </p:cNvSpPr>
          <p:nvPr>
            <p:ph type="sldNum" idx="17"/>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2184E07-A6F7-4D96-B02F-3257916B5FE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28" name="PlaceHolder 3"/>
          <p:cNvSpPr>
            <a:spLocks noGrp="1"/>
          </p:cNvSpPr>
          <p:nvPr>
            <p:ph type="dt" idx="18"/>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p>
        </p:txBody>
      </p:sp>
      <p:sp>
        <p:nvSpPr>
          <p:cNvPr id="29"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30"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efault 6">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32" name="PlaceHolder 2"/>
          <p:cNvSpPr>
            <a:spLocks noGrp="1"/>
          </p:cNvSpPr>
          <p:nvPr>
            <p:ph type="sldNum" idx="20"/>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43EC9066-E1AB-4F8B-B38C-96864AA7413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33" name="PlaceHolder 3"/>
          <p:cNvSpPr>
            <a:spLocks noGrp="1"/>
          </p:cNvSpPr>
          <p:nvPr>
            <p:ph type="dt" idx="21"/>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p>
        </p:txBody>
      </p:sp>
      <p:sp>
        <p:nvSpPr>
          <p:cNvPr id="34"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35"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6">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ftr" idx="22"/>
          </p:nvPr>
        </p:nvSpPr>
        <p:spPr>
          <a:xfrm>
            <a:off x="3124080" y="6356520"/>
            <a:ext cx="2889360" cy="3589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37" name="PlaceHolder 2"/>
          <p:cNvSpPr>
            <a:spLocks noGrp="1"/>
          </p:cNvSpPr>
          <p:nvPr>
            <p:ph type="sldNum" idx="23"/>
          </p:nvPr>
        </p:nvSpPr>
        <p:spPr>
          <a:xfrm>
            <a:off x="6553080" y="6356520"/>
            <a:ext cx="2127600" cy="3589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5D5BD44-2236-4FB0-804C-000BF087B4B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38" name="PlaceHolder 3"/>
          <p:cNvSpPr>
            <a:spLocks noGrp="1"/>
          </p:cNvSpPr>
          <p:nvPr>
            <p:ph type="dt" idx="24"/>
          </p:nvPr>
        </p:nvSpPr>
        <p:spPr>
          <a:xfrm>
            <a:off x="457200" y="6356520"/>
            <a:ext cx="2127600" cy="3589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p>
        </p:txBody>
      </p:sp>
      <p:sp>
        <p:nvSpPr>
          <p:cNvPr id="39" name="PlaceHolder 4"/>
          <p:cNvSpPr>
            <a:spLocks noGrp="1"/>
          </p:cNvSpPr>
          <p:nvPr>
            <p:ph type="title"/>
          </p:nvPr>
        </p:nvSpPr>
        <p:spPr>
          <a:xfrm>
            <a:off x="609120" y="273600"/>
            <a:ext cx="10967040" cy="1142280"/>
          </a:xfrm>
          <a:prstGeom prst="rect">
            <a:avLst/>
          </a:prstGeom>
          <a:noFill/>
          <a:ln w="0">
            <a:noFill/>
          </a:ln>
        </p:spPr>
        <p:txBody>
          <a:bodyPr lIns="0" tIns="0" rIns="0" bIns="0" anchor="ctr">
            <a:noAutofit/>
          </a:bodyPr>
          <a:lstStyle>
            <a:lvl1pPr indent="0" algn="l">
              <a:lnSpc>
                <a:spcPct val="100000"/>
              </a:lnSpc>
              <a:buNone/>
              <a:tabLst>
                <a:tab pos="0" algn="l"/>
              </a:tabLst>
              <a:defRPr lang="en-US" sz="4400" b="0" u="none" strike="noStrike">
                <a:solidFill>
                  <a:srgbClr val="000000"/>
                </a:solidFill>
                <a:effectLst/>
                <a:uFillTx/>
                <a:latin typeface="Arial"/>
              </a:defRPr>
            </a:lvl1pPr>
          </a:lstStyle>
          <a:p>
            <a:pPr indent="0" algn="l">
              <a:lnSpc>
                <a:spcPct val="100000"/>
              </a:lnSpc>
              <a:buNone/>
              <a:tabLst>
                <a:tab pos="0" algn="l"/>
              </a:tabLst>
            </a:pPr>
            <a:r>
              <a:rPr lang="en-US" sz="4400" b="0" u="none" strike="noStrike">
                <a:solidFill>
                  <a:srgbClr val="000000"/>
                </a:solidFill>
                <a:effectLst/>
                <a:uFillTx/>
                <a:latin typeface="Arial"/>
              </a:rPr>
              <a:t>Click to edit the title text format</a:t>
            </a:r>
          </a:p>
        </p:txBody>
      </p:sp>
      <p:sp>
        <p:nvSpPr>
          <p:cNvPr id="40" name="PlaceHolder 5"/>
          <p:cNvSpPr>
            <a:spLocks noGrp="1"/>
          </p:cNvSpPr>
          <p:nvPr>
            <p:ph type="body"/>
          </p:nvPr>
        </p:nvSpPr>
        <p:spPr>
          <a:xfrm>
            <a:off x="609120" y="1604520"/>
            <a:ext cx="10967040" cy="397476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en-US"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en-US" sz="3200" b="0" u="none" strike="noStrike">
                <a:solidFill>
                  <a:srgbClr val="000000"/>
                </a:solidFill>
                <a:effectLst/>
                <a:uFillTx/>
                <a:latin typeface="Arial"/>
              </a:rPr>
              <a:t>Click to edit the outline text format</a:t>
            </a:r>
          </a:p>
          <a:p>
            <a:pPr marL="864000" lvl="1" indent="-324000" algn="l">
              <a:lnSpc>
                <a:spcPct val="100000"/>
              </a:lnSpc>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lgn="l">
              <a:lnSpc>
                <a:spcPct val="100000"/>
              </a:lnSpc>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gn="l">
              <a:lnSpc>
                <a:spcPct val="100000"/>
              </a:lnSpc>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lnSpc>
                <a:spcPct val="100000"/>
              </a:lnSpc>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034" y="685800"/>
            <a:ext cx="7998916" cy="2971801"/>
          </a:xfrm>
        </p:spPr>
        <p:txBody>
          <a:bodyPr anchor="b">
            <a:normAutofit/>
          </a:bodyPr>
          <a:lstStyle>
            <a:lvl1pPr algn="l">
              <a:defRPr sz="4799">
                <a:effectLst/>
              </a:defRPr>
            </a:lvl1pPr>
          </a:lstStyle>
          <a:p>
            <a:r>
              <a:rPr lang="en-US"/>
              <a:t>Click to edit Master title style</a:t>
            </a:r>
            <a:endParaRPr lang="en-US" dirty="0"/>
          </a:p>
        </p:txBody>
      </p:sp>
      <p:sp>
        <p:nvSpPr>
          <p:cNvPr id="3" name="Subtitle 2"/>
          <p:cNvSpPr>
            <a:spLocks noGrp="1"/>
          </p:cNvSpPr>
          <p:nvPr>
            <p:ph type="subTitle" idx="1"/>
          </p:nvPr>
        </p:nvSpPr>
        <p:spPr>
          <a:xfrm>
            <a:off x="684034" y="3843868"/>
            <a:ext cx="6399133" cy="1947333"/>
          </a:xfrm>
        </p:spPr>
        <p:txBody>
          <a:bodyPr anchor="t">
            <a:normAutofit/>
          </a:bodyPr>
          <a:lstStyle>
            <a:lvl1pPr marL="0" indent="0" algn="l">
              <a:buNone/>
              <a:defRPr sz="2099">
                <a:solidFill>
                  <a:schemeClr val="bg2">
                    <a:lumMod val="75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16" name="Straight Connector 15"/>
          <p:cNvCxnSpPr/>
          <p:nvPr/>
        </p:nvCxnSpPr>
        <p:spPr>
          <a:xfrm flipH="1">
            <a:off x="8225869" y="8467"/>
            <a:ext cx="3809008"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6580" y="91546"/>
            <a:ext cx="6079071"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3941" y="228600"/>
            <a:ext cx="495171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3927" y="32279"/>
            <a:ext cx="4851725"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3383" y="609602"/>
            <a:ext cx="4342268"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2299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57857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034" y="2006600"/>
            <a:ext cx="8532178" cy="2281600"/>
          </a:xfrm>
        </p:spPr>
        <p:txBody>
          <a:bodyPr anchor="b">
            <a:normAutofit/>
          </a:bodyPr>
          <a:lstStyle>
            <a:lvl1pPr algn="l">
              <a:defRPr sz="3599" b="0" cap="all"/>
            </a:lvl1pPr>
          </a:lstStyle>
          <a:p>
            <a:r>
              <a:rPr lang="en-US"/>
              <a:t>Click to edit Master title style</a:t>
            </a:r>
            <a:endParaRPr lang="en-US" dirty="0"/>
          </a:p>
        </p:txBody>
      </p:sp>
      <p:sp>
        <p:nvSpPr>
          <p:cNvPr id="3" name="Text Placeholder 2"/>
          <p:cNvSpPr>
            <a:spLocks noGrp="1"/>
          </p:cNvSpPr>
          <p:nvPr>
            <p:ph type="body" idx="1"/>
          </p:nvPr>
        </p:nvSpPr>
        <p:spPr>
          <a:xfrm>
            <a:off x="684035" y="4495800"/>
            <a:ext cx="8532178" cy="1498600"/>
          </a:xfrm>
        </p:spPr>
        <p:txBody>
          <a:bodyPr anchor="t">
            <a:normAutofit/>
          </a:bodyPr>
          <a:lstStyle>
            <a:lvl1pPr marL="0" indent="0" algn="l">
              <a:buNone/>
              <a:defRPr sz="1799">
                <a:solidFill>
                  <a:schemeClr val="bg2">
                    <a:lumMod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014285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033" y="685801"/>
            <a:ext cx="4936369"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6621" y="685801"/>
            <a:ext cx="4933194"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7" name="Slide Number Placeholder 6"/>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324115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827" y="685800"/>
            <a:ext cx="4648576" cy="576262"/>
          </a:xfrm>
        </p:spPr>
        <p:txBody>
          <a:bodyPr anchor="b">
            <a:noAutofit/>
          </a:bodyPr>
          <a:lstStyle>
            <a:lvl1pPr marL="0" indent="0">
              <a:buNone/>
              <a:defRPr sz="2799" b="0">
                <a:solidFill>
                  <a:schemeClr val="tx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684033" y="1270529"/>
            <a:ext cx="4936369"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7483" y="685800"/>
            <a:ext cx="4663919" cy="576262"/>
          </a:xfrm>
        </p:spPr>
        <p:txBody>
          <a:bodyPr anchor="b">
            <a:noAutofit/>
          </a:bodyPr>
          <a:lstStyle>
            <a:lvl1pPr marL="0" indent="0">
              <a:buNone/>
              <a:defRPr sz="2799" b="0">
                <a:solidFill>
                  <a:schemeClr val="tx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5033" y="1262062"/>
            <a:ext cx="4927904"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8" name="Footer Placeholder 7"/>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9" name="Slide Number Placeholder 8"/>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584263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5" name="Slide Number Placeholder 4"/>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97043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3" name="Footer Placeholder 2"/>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4" name="Slide Number Placeholder 3"/>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588905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3167" y="685800"/>
            <a:ext cx="3656648" cy="1371600"/>
          </a:xfrm>
        </p:spPr>
        <p:txBody>
          <a:bodyPr anchor="b">
            <a:normAutofit/>
          </a:bodyPr>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684034" y="685800"/>
            <a:ext cx="5942053"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3167" y="2209800"/>
            <a:ext cx="3656648" cy="2091267"/>
          </a:xfrm>
        </p:spPr>
        <p:txBody>
          <a:bodyPr anchor="t">
            <a:normAutofit/>
          </a:bodyPr>
          <a:lstStyle>
            <a:lvl1pPr marL="0" indent="0">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7" name="Slide Number Placeholder 6"/>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426809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1582" y="1447800"/>
            <a:ext cx="6018232" cy="1143000"/>
          </a:xfrm>
        </p:spPr>
        <p:txBody>
          <a:bodyPr anchor="b">
            <a:normAutofit/>
          </a:bodyPr>
          <a:lstStyle>
            <a:lvl1pPr algn="l">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8754" y="914400"/>
            <a:ext cx="3280120"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1582" y="2777067"/>
            <a:ext cx="6019820" cy="2048933"/>
          </a:xfrm>
        </p:spPr>
        <p:txBody>
          <a:bodyPr anchor="t">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7" name="Slide Number Placeholder 6"/>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914964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621" y="533400"/>
            <a:ext cx="10815995"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164" y="3843867"/>
            <a:ext cx="8302047" cy="457200"/>
          </a:xfrm>
        </p:spPr>
        <p:txBody>
          <a:bodyPr anchor="t">
            <a:normAutofit/>
          </a:bodyPr>
          <a:lstStyle>
            <a:lvl1pPr marL="0" indent="0">
              <a:buFontTx/>
              <a:buNone/>
              <a:defRPr sz="1600"/>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5" name="Slide Number Placeholder 4"/>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574967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035" y="685800"/>
            <a:ext cx="10055781" cy="2743200"/>
          </a:xfrm>
        </p:spPr>
        <p:txBody>
          <a:bodyPr anchor="ctr">
            <a:normAutofit/>
          </a:bodyPr>
          <a:lstStyle>
            <a:lvl1pPr algn="l">
              <a:defRPr sz="3199" b="0" cap="all"/>
            </a:lvl1pPr>
          </a:lstStyle>
          <a:p>
            <a:r>
              <a:rPr lang="en-US"/>
              <a:t>Click to edit Master title style</a:t>
            </a:r>
            <a:endParaRPr lang="en-US" dirty="0"/>
          </a:p>
        </p:txBody>
      </p:sp>
      <p:sp>
        <p:nvSpPr>
          <p:cNvPr id="3" name="Text Placeholder 2"/>
          <p:cNvSpPr>
            <a:spLocks noGrp="1"/>
          </p:cNvSpPr>
          <p:nvPr>
            <p:ph type="body" idx="1"/>
          </p:nvPr>
        </p:nvSpPr>
        <p:spPr>
          <a:xfrm>
            <a:off x="684034" y="4114800"/>
            <a:ext cx="8533765" cy="1879600"/>
          </a:xfrm>
        </p:spPr>
        <p:txBody>
          <a:bodyPr anchor="ctr">
            <a:normAutofit/>
          </a:bodyPr>
          <a:lstStyle>
            <a:lvl1pPr marL="0" indent="0" algn="l">
              <a:buNone/>
              <a:defRPr sz="1999">
                <a:solidFill>
                  <a:schemeClr val="bg2">
                    <a:lumMod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7507361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114" y="685800"/>
            <a:ext cx="9141620" cy="2743200"/>
          </a:xfrm>
        </p:spPr>
        <p:txBody>
          <a:bodyPr anchor="ctr">
            <a:normAutofit/>
          </a:bodyPr>
          <a:lstStyle>
            <a:lvl1pPr algn="l">
              <a:defRPr sz="3199"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5835" y="3429000"/>
            <a:ext cx="8532178" cy="381000"/>
          </a:xfrm>
        </p:spPr>
        <p:txBody>
          <a:bodyPr anchor="ctr"/>
          <a:lstStyle>
            <a:lvl1pPr marL="0" indent="0">
              <a:buFontTx/>
              <a:buNone/>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84035" y="4301068"/>
            <a:ext cx="8532178" cy="1684865"/>
          </a:xfrm>
        </p:spPr>
        <p:txBody>
          <a:bodyPr anchor="ctr">
            <a:normAutofit/>
          </a:bodyPr>
          <a:lstStyle>
            <a:lvl1pPr marL="0" indent="0" algn="l">
              <a:buNone/>
              <a:defRPr sz="1999">
                <a:solidFill>
                  <a:schemeClr val="bg2">
                    <a:lumMod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14" name="TextBox 13"/>
          <p:cNvSpPr txBox="1"/>
          <p:nvPr/>
        </p:nvSpPr>
        <p:spPr>
          <a:xfrm>
            <a:off x="531674" y="812222"/>
            <a:ext cx="609441" cy="584776"/>
          </a:xfrm>
          <a:prstGeom prst="rect">
            <a:avLst/>
          </a:prstGeom>
        </p:spPr>
        <p:txBody>
          <a:bodyPr vert="horz" lIns="91416" tIns="45708" rIns="91416" bIns="45708" rtlCol="0" anchor="ctr">
            <a:noAutofit/>
          </a:bodyPr>
          <a:lstStyle/>
          <a:p>
            <a:pPr lvl="0"/>
            <a:r>
              <a:rPr lang="en-US" sz="7998" dirty="0">
                <a:solidFill>
                  <a:schemeClr val="tx1"/>
                </a:solidFill>
                <a:effectLst/>
              </a:rPr>
              <a:t>“</a:t>
            </a:r>
          </a:p>
        </p:txBody>
      </p:sp>
      <p:sp>
        <p:nvSpPr>
          <p:cNvPr id="15" name="TextBox 14"/>
          <p:cNvSpPr txBox="1"/>
          <p:nvPr/>
        </p:nvSpPr>
        <p:spPr>
          <a:xfrm>
            <a:off x="10282734" y="2768601"/>
            <a:ext cx="609441" cy="584776"/>
          </a:xfrm>
          <a:prstGeom prst="rect">
            <a:avLst/>
          </a:prstGeom>
        </p:spPr>
        <p:txBody>
          <a:bodyPr vert="horz" lIns="91416" tIns="45708" rIns="91416" bIns="45708" rtlCol="0" anchor="ctr">
            <a:noAutofit/>
          </a:bodyPr>
          <a:lstStyle/>
          <a:p>
            <a:pPr lvl="0" algn="r"/>
            <a:r>
              <a:rPr lang="en-US" sz="7998" dirty="0">
                <a:solidFill>
                  <a:schemeClr val="tx1"/>
                </a:solidFill>
                <a:effectLst/>
              </a:rPr>
              <a:t>”</a:t>
            </a:r>
          </a:p>
        </p:txBody>
      </p:sp>
    </p:spTree>
    <p:extLst>
      <p:ext uri="{BB962C8B-B14F-4D97-AF65-F5344CB8AC3E}">
        <p14:creationId xmlns:p14="http://schemas.microsoft.com/office/powerpoint/2010/main" val="3998081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034" y="3429000"/>
            <a:ext cx="8532178" cy="1697400"/>
          </a:xfrm>
        </p:spPr>
        <p:txBody>
          <a:bodyPr anchor="b">
            <a:normAutofit/>
          </a:bodyPr>
          <a:lstStyle>
            <a:lvl1pPr algn="l">
              <a:defRPr sz="3199" b="0" cap="all"/>
            </a:lvl1pPr>
          </a:lstStyle>
          <a:p>
            <a:r>
              <a:rPr lang="en-US"/>
              <a:t>Click to edit Master title style</a:t>
            </a:r>
            <a:endParaRPr lang="en-US" dirty="0"/>
          </a:p>
        </p:txBody>
      </p:sp>
      <p:sp>
        <p:nvSpPr>
          <p:cNvPr id="3" name="Text Placeholder 2"/>
          <p:cNvSpPr>
            <a:spLocks noGrp="1"/>
          </p:cNvSpPr>
          <p:nvPr>
            <p:ph type="body" idx="1"/>
          </p:nvPr>
        </p:nvSpPr>
        <p:spPr>
          <a:xfrm>
            <a:off x="684033" y="5132981"/>
            <a:ext cx="8533767" cy="860400"/>
          </a:xfrm>
        </p:spPr>
        <p:txBody>
          <a:bodyPr anchor="t">
            <a:normAutofit/>
          </a:bodyPr>
          <a:lstStyle>
            <a:lvl1pPr marL="0" indent="0" algn="l">
              <a:buNone/>
              <a:defRPr sz="1999">
                <a:solidFill>
                  <a:schemeClr val="bg2">
                    <a:lumMod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69730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116" y="685800"/>
            <a:ext cx="9141619" cy="2743200"/>
          </a:xfrm>
        </p:spPr>
        <p:txBody>
          <a:bodyPr anchor="ctr">
            <a:normAutofit/>
          </a:bodyPr>
          <a:lstStyle>
            <a:lvl1pPr algn="l">
              <a:defRPr sz="3199"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035" y="3928534"/>
            <a:ext cx="8532178" cy="1049866"/>
          </a:xfrm>
        </p:spPr>
        <p:txBody>
          <a:bodyPr vert="horz" lIns="91440" tIns="45720" rIns="91440" bIns="45720" rtlCol="0" anchor="b">
            <a:normAutofit/>
          </a:bodyPr>
          <a:lstStyle>
            <a:lvl1pPr>
              <a:buNone/>
              <a:defRPr lang="en-US" sz="2399"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034" y="4978400"/>
            <a:ext cx="8532178" cy="1016000"/>
          </a:xfrm>
        </p:spPr>
        <p:txBody>
          <a:bodyPr anchor="t">
            <a:normAutofit/>
          </a:bodyPr>
          <a:lstStyle>
            <a:lvl1pPr marL="0" indent="0" algn="l">
              <a:buNone/>
              <a:defRPr sz="1799">
                <a:solidFill>
                  <a:schemeClr val="bg2">
                    <a:lumMod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11" name="TextBox 10"/>
          <p:cNvSpPr txBox="1"/>
          <p:nvPr/>
        </p:nvSpPr>
        <p:spPr>
          <a:xfrm>
            <a:off x="531674" y="812222"/>
            <a:ext cx="609441" cy="584776"/>
          </a:xfrm>
          <a:prstGeom prst="rect">
            <a:avLst/>
          </a:prstGeom>
        </p:spPr>
        <p:txBody>
          <a:bodyPr vert="horz" lIns="91416" tIns="45708" rIns="91416" bIns="45708" rtlCol="0" anchor="ctr">
            <a:noAutofit/>
          </a:bodyPr>
          <a:lstStyle/>
          <a:p>
            <a:pPr lvl="0"/>
            <a:r>
              <a:rPr lang="en-US" sz="7998" dirty="0">
                <a:solidFill>
                  <a:schemeClr val="tx1"/>
                </a:solidFill>
                <a:effectLst/>
              </a:rPr>
              <a:t>“</a:t>
            </a:r>
          </a:p>
        </p:txBody>
      </p:sp>
      <p:sp>
        <p:nvSpPr>
          <p:cNvPr id="12" name="TextBox 11"/>
          <p:cNvSpPr txBox="1"/>
          <p:nvPr/>
        </p:nvSpPr>
        <p:spPr>
          <a:xfrm>
            <a:off x="10282734" y="2768601"/>
            <a:ext cx="609441" cy="584776"/>
          </a:xfrm>
          <a:prstGeom prst="rect">
            <a:avLst/>
          </a:prstGeom>
        </p:spPr>
        <p:txBody>
          <a:bodyPr vert="horz" lIns="91416" tIns="45708" rIns="91416" bIns="45708" rtlCol="0" anchor="ctr">
            <a:noAutofit/>
          </a:bodyPr>
          <a:lstStyle/>
          <a:p>
            <a:pPr lvl="0" algn="r"/>
            <a:r>
              <a:rPr lang="en-US" sz="7998" dirty="0">
                <a:solidFill>
                  <a:schemeClr val="tx1"/>
                </a:solidFill>
                <a:effectLst/>
              </a:rPr>
              <a:t>”</a:t>
            </a:r>
          </a:p>
        </p:txBody>
      </p:sp>
    </p:spTree>
    <p:extLst>
      <p:ext uri="{BB962C8B-B14F-4D97-AF65-F5344CB8AC3E}">
        <p14:creationId xmlns:p14="http://schemas.microsoft.com/office/powerpoint/2010/main" val="4271181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035" y="685800"/>
            <a:ext cx="10055781"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034" y="3928534"/>
            <a:ext cx="8532178" cy="838200"/>
          </a:xfrm>
        </p:spPr>
        <p:txBody>
          <a:bodyPr vert="horz" lIns="91440" tIns="45720" rIns="91440" bIns="45720" rtlCol="0" anchor="b">
            <a:normAutofit/>
          </a:bodyPr>
          <a:lstStyle>
            <a:lvl1pPr>
              <a:buNone/>
              <a:defRPr lang="en-US" sz="2399"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034" y="4766733"/>
            <a:ext cx="8532178" cy="1227667"/>
          </a:xfrm>
        </p:spPr>
        <p:txBody>
          <a:bodyPr anchor="t">
            <a:normAutofit/>
          </a:bodyPr>
          <a:lstStyle>
            <a:lvl1pPr marL="0" indent="0" algn="l">
              <a:buNone/>
              <a:defRPr sz="1799">
                <a:solidFill>
                  <a:schemeClr val="bg2">
                    <a:lumMod val="7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8416385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26450494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2950" y="685800"/>
            <a:ext cx="2056864"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621" y="685800"/>
            <a:ext cx="7821163"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lgn="l">
              <a:buNone/>
            </a:pPr>
            <a:r>
              <a:rPr lang="en-US" sz="1400" b="0" u="none" strike="noStrike">
                <a:solidFill>
                  <a:srgbClr val="000000"/>
                </a:solidFill>
                <a:effectLst/>
                <a:uFillTx/>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Slide Number Placeholder 5"/>
          <p:cNvSpPr>
            <a:spLocks noGrp="1"/>
          </p:cNvSpPr>
          <p:nvPr>
            <p:ph type="sldNum" sz="quarter" idx="12"/>
          </p:nvPr>
        </p:nvSpPr>
        <p:spPr/>
        <p:txBody>
          <a:bodyPr/>
          <a:lstStyle/>
          <a:p>
            <a:pPr indent="0" algn="r" defTabSz="457200">
              <a:lnSpc>
                <a:spcPct val="100000"/>
              </a:lnSpc>
              <a:buNone/>
              <a:tabLst>
                <a:tab pos="0" algn="l"/>
              </a:tabLst>
            </a:pPr>
            <a:fld id="{A4DFE512-3DC2-44FD-B49B-EC90043CA961}" type="slidenum">
              <a:rPr lang="en-US" sz="1200" b="0" u="none" strike="noStrike" smtClean="0">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9816582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Default 7">
    <p:spTree>
      <p:nvGrpSpPr>
        <p:cNvPr id="1" name=""/>
        <p:cNvGrpSpPr/>
        <p:nvPr/>
      </p:nvGrpSpPr>
      <p:grpSpPr>
        <a:xfrm>
          <a:off x="0" y="0"/>
          <a:ext cx="0" cy="0"/>
          <a:chOff x="0" y="0"/>
          <a:chExt cx="0" cy="0"/>
        </a:xfrm>
      </p:grpSpPr>
      <p:sp>
        <p:nvSpPr>
          <p:cNvPr id="46" name="PlaceHolder 1"/>
          <p:cNvSpPr>
            <a:spLocks noGrp="1"/>
          </p:cNvSpPr>
          <p:nvPr>
            <p:ph type="title"/>
          </p:nvPr>
        </p:nvSpPr>
        <p:spPr>
          <a:xfrm>
            <a:off x="609120" y="273600"/>
            <a:ext cx="10967040" cy="1142280"/>
          </a:xfrm>
          <a:prstGeom prst="rect">
            <a:avLst/>
          </a:prstGeom>
          <a:noFill/>
          <a:ln w="0">
            <a:noFill/>
          </a:ln>
        </p:spPr>
        <p:txBody>
          <a:bodyPr lIns="0" tIns="0" rIns="0" bIns="0" anchor="ctr">
            <a:spAutoFit/>
          </a:bodyPr>
          <a:lstStyle/>
          <a:p>
            <a:pPr indent="0" algn="l">
              <a:buNone/>
              <a:tabLst>
                <a:tab pos="0" algn="l"/>
              </a:tabLst>
            </a:pPr>
            <a:endParaRPr lang="en-US" sz="4400" b="0" u="none" strike="noStrike">
              <a:solidFill>
                <a:srgbClr val="000000"/>
              </a:solidFill>
              <a:effectLst/>
              <a:uFillTx/>
              <a:latin typeface="Arial"/>
            </a:endParaRPr>
          </a:p>
        </p:txBody>
      </p:sp>
      <p:sp>
        <p:nvSpPr>
          <p:cNvPr id="47" name="PlaceHolder 2"/>
          <p:cNvSpPr>
            <a:spLocks noGrp="1"/>
          </p:cNvSpPr>
          <p:nvPr>
            <p:ph type="subTitle"/>
          </p:nvPr>
        </p:nvSpPr>
        <p:spPr>
          <a:xfrm>
            <a:off x="609120" y="1604520"/>
            <a:ext cx="10967040" cy="39747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5"/>
          </p:nvPr>
        </p:nvSpPr>
        <p:spPr/>
        <p:txBody>
          <a:bodyPr/>
          <a:lstStyle/>
          <a:p>
            <a:r>
              <a:t>Footer</a:t>
            </a:r>
          </a:p>
        </p:txBody>
      </p:sp>
      <p:sp>
        <p:nvSpPr>
          <p:cNvPr id="5" name="PlaceHolder 4"/>
          <p:cNvSpPr>
            <a:spLocks noGrp="1"/>
          </p:cNvSpPr>
          <p:nvPr>
            <p:ph type="sldNum" idx="26"/>
          </p:nvPr>
        </p:nvSpPr>
        <p:spPr/>
        <p:txBody>
          <a:bodyPr/>
          <a:lstStyle/>
          <a:p>
            <a:fld id="{D9E2A8B5-29F9-4215-B098-30D01EC88282}" type="slidenum">
              <a:t>‹#›</a:t>
            </a:fld>
            <a:endParaRPr/>
          </a:p>
        </p:txBody>
      </p:sp>
      <p:sp>
        <p:nvSpPr>
          <p:cNvPr id="6" name="PlaceHolder 5"/>
          <p:cNvSpPr>
            <a:spLocks noGrp="1"/>
          </p:cNvSpPr>
          <p:nvPr>
            <p:ph type="dt" idx="27"/>
          </p:nvPr>
        </p:nvSpPr>
        <p:spPr/>
        <p:txBody>
          <a:bodyPr/>
          <a:lstStyle/>
          <a:p>
            <a:endParaRPr/>
          </a:p>
        </p:txBody>
      </p:sp>
    </p:spTree>
    <p:extLst>
      <p:ext uri="{BB962C8B-B14F-4D97-AF65-F5344CB8AC3E}">
        <p14:creationId xmlns:p14="http://schemas.microsoft.com/office/powerpoint/2010/main" val="3433042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4572" y="2963334"/>
            <a:ext cx="2981081"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034" y="4487333"/>
            <a:ext cx="8532178"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034" y="685801"/>
            <a:ext cx="8532178"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1833" y="6172201"/>
            <a:ext cx="159978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7/9/2026</a:t>
            </a:fld>
            <a:endParaRPr lang="en-US" dirty="0"/>
          </a:p>
        </p:txBody>
      </p:sp>
      <p:sp>
        <p:nvSpPr>
          <p:cNvPr id="5" name="Footer Placeholder 4"/>
          <p:cNvSpPr>
            <a:spLocks noGrp="1"/>
          </p:cNvSpPr>
          <p:nvPr>
            <p:ph type="ftr" sz="quarter" idx="3"/>
          </p:nvPr>
        </p:nvSpPr>
        <p:spPr>
          <a:xfrm>
            <a:off x="684034" y="6172201"/>
            <a:ext cx="7541835"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0502" y="5578476"/>
            <a:ext cx="1141948" cy="669925"/>
          </a:xfrm>
          <a:prstGeom prst="rect">
            <a:avLst/>
          </a:prstGeom>
        </p:spPr>
        <p:txBody>
          <a:bodyPr vert="horz" lIns="91440" tIns="45720" rIns="91440" bIns="45720" rtlCol="0" anchor="b"/>
          <a:lstStyle>
            <a:lvl1pPr algn="r">
              <a:defRPr sz="3199"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3621806"/>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Lst>
  <p:txStyles>
    <p:titleStyle>
      <a:lvl1pPr algn="l" defTabSz="457063" rtl="0" eaLnBrk="1" latinLnBrk="0" hangingPunct="1">
        <a:spcBef>
          <a:spcPct val="0"/>
        </a:spcBef>
        <a:buNone/>
        <a:defRPr sz="3599"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tx1"/>
        </a:buClr>
        <a:buSzPct val="80000"/>
        <a:buFont typeface="Wingdings 3" panose="05040102010807070707" pitchFamily="18" charset="2"/>
        <a:buChar char=""/>
        <a:defRPr sz="1999" kern="1200" cap="none">
          <a:solidFill>
            <a:schemeClr val="bg2">
              <a:lumMod val="75000"/>
            </a:schemeClr>
          </a:solidFill>
          <a:effectLst/>
          <a:latin typeface="+mn-lt"/>
          <a:ea typeface="+mn-ea"/>
          <a:cs typeface="+mn-cs"/>
        </a:defRPr>
      </a:lvl1pPr>
      <a:lvl2pPr marL="742727" indent="-285664" algn="l" defTabSz="457063" rtl="0" eaLnBrk="1" latinLnBrk="0" hangingPunct="1">
        <a:spcBef>
          <a:spcPct val="20000"/>
        </a:spcBef>
        <a:spcAft>
          <a:spcPts val="600"/>
        </a:spcAft>
        <a:buClr>
          <a:schemeClr val="tx1"/>
        </a:buClr>
        <a:buSzPct val="80000"/>
        <a:buFont typeface="Wingdings 3" panose="05040102010807070707" pitchFamily="18" charset="2"/>
        <a:buChar char=""/>
        <a:defRPr sz="1799" kern="1200" cap="none">
          <a:solidFill>
            <a:schemeClr val="bg2">
              <a:lumMod val="75000"/>
            </a:schemeClr>
          </a:solidFill>
          <a:effectLst/>
          <a:latin typeface="+mn-lt"/>
          <a:ea typeface="+mn-ea"/>
          <a:cs typeface="+mn-cs"/>
        </a:defRPr>
      </a:lvl2pPr>
      <a:lvl3pPr marL="1199790" indent="-285664" algn="l" defTabSz="457063"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2587" indent="-171399" algn="l" defTabSz="457063"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1999650" indent="-171399" algn="l" defTabSz="457063"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3846" indent="-228531" algn="l" defTabSz="457063"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0908" indent="-228531" algn="l" defTabSz="457063"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7971" indent="-228531" algn="l" defTabSz="457063"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5034" indent="-228531" algn="l" defTabSz="457063"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hyperlink" Target="https://huggingface.co/BAAI/bge-m3" TargetMode="Externa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hyperlink" Target="https://donnell-unsupplemented-krystin.ngrok-free.dev/"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54" name="Rectangle 1"/>
          <p:cNvSpPr/>
          <p:nvPr/>
        </p:nvSpPr>
        <p:spPr>
          <a:xfrm>
            <a:off x="0" y="1080"/>
            <a:ext cx="12182760" cy="6851880"/>
          </a:xfrm>
          <a:prstGeom prst="rect">
            <a:avLst/>
          </a:prstGeom>
          <a:solidFill>
            <a:srgbClr val="1A1A2E"/>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55" name="Rectangle 2"/>
          <p:cNvSpPr/>
          <p:nvPr/>
        </p:nvSpPr>
        <p:spPr>
          <a:xfrm>
            <a:off x="0" y="0"/>
            <a:ext cx="12182760" cy="6696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endParaRPr lang="en-US" sz="1800" b="0" u="none" strike="noStrike">
              <a:solidFill>
                <a:schemeClr val="lt1"/>
              </a:solidFill>
              <a:effectLst/>
              <a:uFillTx/>
              <a:latin typeface="Calibri"/>
            </a:endParaRPr>
          </a:p>
        </p:txBody>
      </p:sp>
      <p:sp>
        <p:nvSpPr>
          <p:cNvPr id="56" name="Rectangle 3"/>
          <p:cNvSpPr/>
          <p:nvPr/>
        </p:nvSpPr>
        <p:spPr>
          <a:xfrm>
            <a:off x="0" y="6784920"/>
            <a:ext cx="12182760" cy="6696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endParaRPr lang="en-US" sz="1800" b="0" u="none" strike="noStrike">
              <a:solidFill>
                <a:schemeClr val="lt1"/>
              </a:solidFill>
              <a:effectLst/>
              <a:uFillTx/>
              <a:latin typeface="Calibri"/>
            </a:endParaRPr>
          </a:p>
        </p:txBody>
      </p:sp>
      <p:sp>
        <p:nvSpPr>
          <p:cNvPr id="57" name="Oval 4"/>
          <p:cNvSpPr/>
          <p:nvPr/>
        </p:nvSpPr>
        <p:spPr>
          <a:xfrm>
            <a:off x="8321040" y="1005840"/>
            <a:ext cx="2554200" cy="2554200"/>
          </a:xfrm>
          <a:prstGeom prst="ellipse">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58" name="Oval 5"/>
          <p:cNvSpPr/>
          <p:nvPr/>
        </p:nvSpPr>
        <p:spPr>
          <a:xfrm>
            <a:off x="9692640" y="4206240"/>
            <a:ext cx="1639800" cy="1639800"/>
          </a:xfrm>
          <a:prstGeom prst="ellipse">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59" name="TextBox 6"/>
          <p:cNvSpPr/>
          <p:nvPr/>
        </p:nvSpPr>
        <p:spPr>
          <a:xfrm>
            <a:off x="914400" y="1371600"/>
            <a:ext cx="8223480" cy="35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US" sz="1800" b="0" u="none" strike="noStrike">
              <a:solidFill>
                <a:srgbClr val="FFFFFF"/>
              </a:solidFill>
              <a:effectLst/>
              <a:uFillTx/>
              <a:latin typeface="Arial"/>
            </a:endParaRPr>
          </a:p>
        </p:txBody>
      </p:sp>
      <p:sp>
        <p:nvSpPr>
          <p:cNvPr id="60" name="TextBox 7"/>
          <p:cNvSpPr/>
          <p:nvPr/>
        </p:nvSpPr>
        <p:spPr>
          <a:xfrm>
            <a:off x="914400" y="914400"/>
            <a:ext cx="7401600" cy="255309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4000" b="1" u="none" strike="noStrike" dirty="0">
                <a:solidFill>
                  <a:srgbClr val="FFFFFF"/>
                </a:solidFill>
                <a:effectLst/>
                <a:uFillTx/>
                <a:latin typeface="Calibri"/>
                <a:ea typeface="Noto Serif CJK SC"/>
              </a:rPr>
              <a:t>Retrieval-Augmented Adverse Drug Reaction Prediction: From System Organ Class to Life-Threatening Outcomes</a:t>
            </a:r>
            <a:endParaRPr lang="en-US" sz="4000" b="0" u="none" strike="noStrike" dirty="0">
              <a:solidFill>
                <a:srgbClr val="FFFFFF"/>
              </a:solidFill>
              <a:effectLst/>
              <a:uFillTx/>
              <a:latin typeface="Arial"/>
            </a:endParaRPr>
          </a:p>
        </p:txBody>
      </p:sp>
      <p:sp>
        <p:nvSpPr>
          <p:cNvPr id="61" name="Rectangle 8"/>
          <p:cNvSpPr/>
          <p:nvPr/>
        </p:nvSpPr>
        <p:spPr>
          <a:xfrm>
            <a:off x="914400" y="3520440"/>
            <a:ext cx="5023080" cy="3960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
        <p:nvSpPr>
          <p:cNvPr id="62" name="TextBox 9"/>
          <p:cNvSpPr/>
          <p:nvPr/>
        </p:nvSpPr>
        <p:spPr>
          <a:xfrm>
            <a:off x="914400" y="3749040"/>
            <a:ext cx="593748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200" b="1" u="none" strike="noStrike">
                <a:solidFill>
                  <a:srgbClr val="4A9ED6"/>
                </a:solidFill>
                <a:effectLst/>
                <a:uFillTx/>
                <a:latin typeface="Calibri"/>
                <a:ea typeface="DejaVu Sans"/>
              </a:rPr>
              <a:t>David Guo</a:t>
            </a:r>
            <a:endParaRPr lang="en-US" sz="3200" b="0" u="none" strike="noStrike">
              <a:solidFill>
                <a:srgbClr val="FFFFFF"/>
              </a:solidFill>
              <a:effectLst/>
              <a:uFillTx/>
              <a:latin typeface="Arial"/>
            </a:endParaRPr>
          </a:p>
        </p:txBody>
      </p:sp>
      <p:sp>
        <p:nvSpPr>
          <p:cNvPr id="63" name="TextBox 10"/>
          <p:cNvSpPr/>
          <p:nvPr/>
        </p:nvSpPr>
        <p:spPr>
          <a:xfrm>
            <a:off x="914400" y="6035040"/>
            <a:ext cx="73090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300" b="0" u="none" strike="noStrike">
                <a:solidFill>
                  <a:srgbClr val="9999AA"/>
                </a:solidFill>
                <a:effectLst/>
                <a:uFillTx/>
                <a:latin typeface="Calibri"/>
                <a:ea typeface="DejaVu Sans"/>
              </a:rPr>
              <a:t>Invitation: Yale School of Public Health</a:t>
            </a:r>
            <a:endParaRPr lang="en-US" sz="13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64" name="Rectangle 1"/>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65" name="Rectangle 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6"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Introduction</a:t>
            </a:r>
            <a:endParaRPr lang="en-US" sz="2800" b="0" u="none" strike="noStrike">
              <a:solidFill>
                <a:srgbClr val="FFFFFF"/>
              </a:solidFill>
              <a:effectLst/>
              <a:uFillTx/>
              <a:latin typeface="Arial"/>
            </a:endParaRPr>
          </a:p>
        </p:txBody>
      </p:sp>
      <p:sp>
        <p:nvSpPr>
          <p:cNvPr id="67" name="Rectangle 5"/>
          <p:cNvSpPr/>
          <p:nvPr/>
        </p:nvSpPr>
        <p:spPr>
          <a:xfrm>
            <a:off x="685800" y="909000"/>
            <a:ext cx="6170400" cy="53431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3200" b="0" u="none" strike="noStrike" dirty="0">
                <a:solidFill>
                  <a:schemeClr val="lt1"/>
                </a:solidFill>
                <a:effectLst/>
                <a:uFillTx/>
                <a:latin typeface="Calibri"/>
                <a:ea typeface="DejaVu Sans"/>
              </a:rPr>
              <a:t>David Guo</a:t>
            </a:r>
          </a:p>
          <a:p>
            <a:pPr marL="216000" indent="-216000">
              <a:lnSpc>
                <a:spcPct val="100000"/>
              </a:lnSpc>
              <a:buClr>
                <a:srgbClr val="FFFFFF"/>
              </a:buClr>
              <a:buSzPct val="45000"/>
              <a:buFont typeface="Wingdings" charset="2"/>
              <a:buChar char=""/>
            </a:pPr>
            <a:r>
              <a:rPr lang="en-US" sz="1800" b="0" u="none" strike="noStrike" dirty="0">
                <a:solidFill>
                  <a:schemeClr val="lt1"/>
                </a:solidFill>
                <a:effectLst/>
                <a:uFillTx/>
                <a:latin typeface="Calibri"/>
                <a:ea typeface="DejaVu Sans"/>
              </a:rPr>
              <a:t>IT PhD in AI/ML (expected in August’26) </a:t>
            </a:r>
            <a:endParaRPr lang="en-US" sz="1800" b="0" u="none" strike="noStrike" dirty="0">
              <a:solidFill>
                <a:srgbClr val="FFFFFF"/>
              </a:solidFill>
              <a:effectLst/>
              <a:uFillTx/>
              <a:latin typeface="Arial"/>
            </a:endParaRPr>
          </a:p>
          <a:p>
            <a:pPr marL="216000" indent="-216000">
              <a:lnSpc>
                <a:spcPct val="100000"/>
              </a:lnSpc>
              <a:buClr>
                <a:srgbClr val="FFFFFF"/>
              </a:buClr>
              <a:buSzPct val="45000"/>
              <a:buFont typeface="Wingdings" charset="2"/>
              <a:buChar char=""/>
            </a:pPr>
            <a:r>
              <a:rPr lang="en-US" sz="1800" b="0" u="none" strike="noStrike" dirty="0">
                <a:solidFill>
                  <a:schemeClr val="lt1"/>
                </a:solidFill>
                <a:effectLst/>
                <a:uFillTx/>
                <a:latin typeface="Calibri"/>
                <a:ea typeface="DejaVu Sans"/>
              </a:rPr>
              <a:t>Data Scientist in diverse industries for 12 years</a:t>
            </a:r>
            <a:endParaRPr lang="en-US" sz="1800" b="0" u="none" strike="noStrike" dirty="0">
              <a:solidFill>
                <a:srgbClr val="FFFFFF"/>
              </a:solidFill>
              <a:effectLst/>
              <a:uFillTx/>
              <a:latin typeface="Arial"/>
            </a:endParaRPr>
          </a:p>
          <a:p>
            <a:pPr marL="216000" indent="-216000">
              <a:lnSpc>
                <a:spcPct val="100000"/>
              </a:lnSpc>
              <a:buClr>
                <a:srgbClr val="FFFFFF"/>
              </a:buClr>
              <a:buSzPct val="45000"/>
              <a:buFont typeface="Wingdings" charset="2"/>
              <a:buChar char=""/>
            </a:pPr>
            <a:r>
              <a:rPr lang="en-US" sz="1800" b="0" u="none" strike="noStrike" dirty="0">
                <a:solidFill>
                  <a:schemeClr val="lt1"/>
                </a:solidFill>
                <a:effectLst/>
                <a:uFillTx/>
                <a:latin typeface="Calibri"/>
                <a:ea typeface="DejaVu Sans"/>
              </a:rPr>
              <a:t>Adjunct professor at Missouri University of Science and Technology</a:t>
            </a:r>
            <a:endParaRPr lang="en-US" sz="1800" b="0" u="none" strike="noStrike" dirty="0">
              <a:solidFill>
                <a:srgbClr val="FFFFFF"/>
              </a:solidFill>
              <a:effectLst/>
              <a:uFillTx/>
              <a:latin typeface="Arial"/>
            </a:endParaRPr>
          </a:p>
          <a:p>
            <a:pPr marL="216000" indent="-216000">
              <a:lnSpc>
                <a:spcPct val="100000"/>
              </a:lnSpc>
              <a:buClr>
                <a:srgbClr val="FFFFFF"/>
              </a:buClr>
              <a:buSzPct val="45000"/>
              <a:buFont typeface="Wingdings" charset="2"/>
              <a:buChar char=""/>
            </a:pPr>
            <a:r>
              <a:rPr lang="en-US" sz="1800" b="0" u="none" strike="noStrike" dirty="0">
                <a:solidFill>
                  <a:schemeClr val="lt1"/>
                </a:solidFill>
                <a:effectLst/>
                <a:uFillTx/>
                <a:latin typeface="Calibri"/>
                <a:ea typeface="DejaVu Sans"/>
              </a:rPr>
              <a:t>Biochemistry PhD @ HKUST</a:t>
            </a:r>
            <a:endParaRPr lang="en-US" sz="1800" b="0" u="none" strike="noStrike" dirty="0">
              <a:solidFill>
                <a:srgbClr val="FFFFFF"/>
              </a:solidFill>
              <a:effectLst/>
              <a:uFillTx/>
              <a:latin typeface="Arial"/>
            </a:endParaRPr>
          </a:p>
          <a:p>
            <a:pPr marL="216000" indent="-216000">
              <a:lnSpc>
                <a:spcPct val="100000"/>
              </a:lnSpc>
              <a:buClr>
                <a:srgbClr val="FFFFFF"/>
              </a:buClr>
              <a:buSzPct val="45000"/>
              <a:buFont typeface="Wingdings" charset="2"/>
              <a:buChar char=""/>
            </a:pPr>
            <a:r>
              <a:rPr lang="en-US" sz="1800" b="0" u="none" strike="noStrike" dirty="0">
                <a:solidFill>
                  <a:schemeClr val="lt1"/>
                </a:solidFill>
                <a:effectLst/>
                <a:uFillTx/>
                <a:latin typeface="Calibri"/>
                <a:ea typeface="DejaVu Sans"/>
              </a:rPr>
              <a:t>Former biomedical researcher at UT Health at San Antonio </a:t>
            </a:r>
            <a:endParaRPr lang="en-US" sz="1800" b="0" u="none" strike="noStrike" dirty="0">
              <a:solidFill>
                <a:srgbClr val="FFFFFF"/>
              </a:solidFill>
              <a:effectLst/>
              <a:uFillTx/>
              <a:latin typeface="Arial"/>
            </a:endParaRPr>
          </a:p>
          <a:p>
            <a:pPr>
              <a:lnSpc>
                <a:spcPct val="100000"/>
              </a:lnSpc>
            </a:pPr>
            <a:endParaRPr lang="en-US" dirty="0">
              <a:solidFill>
                <a:srgbClr val="FFFFFF"/>
              </a:solidFill>
              <a:latin typeface="Arial"/>
            </a:endParaRPr>
          </a:p>
          <a:p>
            <a:pPr>
              <a:lnSpc>
                <a:spcPct val="100000"/>
              </a:lnSpc>
            </a:pPr>
            <a:r>
              <a:rPr lang="en-US" sz="1800" b="0" u="none" strike="noStrike" dirty="0">
                <a:solidFill>
                  <a:schemeClr val="lt1"/>
                </a:solidFill>
                <a:effectLst/>
                <a:uFillTx/>
                <a:latin typeface="Calibri"/>
                <a:ea typeface="DejaVu Sans"/>
              </a:rPr>
              <a:t>Dissertation: Prediction of Adverse Drug Reaction</a:t>
            </a:r>
            <a:endParaRPr lang="en-US" sz="1800" b="0" u="none" strike="noStrike" dirty="0">
              <a:solidFill>
                <a:srgbClr val="FFFFFF"/>
              </a:solidFill>
              <a:effectLst/>
              <a:uFillTx/>
              <a:latin typeface="Arial"/>
            </a:endParaRPr>
          </a:p>
          <a:p>
            <a:pPr>
              <a:lnSpc>
                <a:spcPct val="100000"/>
              </a:lnSpc>
            </a:pPr>
            <a:endParaRPr lang="en-US" sz="1800" b="0" u="none" strike="noStrike" dirty="0">
              <a:solidFill>
                <a:srgbClr val="FFFFFF"/>
              </a:solidFill>
              <a:effectLst/>
              <a:uFillTx/>
              <a:latin typeface="Arial"/>
            </a:endParaRPr>
          </a:p>
          <a:p>
            <a:pPr>
              <a:lnSpc>
                <a:spcPct val="100000"/>
              </a:lnSpc>
            </a:pPr>
            <a:endParaRPr lang="en-US" sz="1800" b="0" u="none" strike="noStrike" dirty="0">
              <a:solidFill>
                <a:srgbClr val="FFFFFF"/>
              </a:solidFill>
              <a:effectLst/>
              <a:uFillTx/>
              <a:latin typeface="Arial"/>
            </a:endParaRPr>
          </a:p>
        </p:txBody>
      </p:sp>
      <p:pic>
        <p:nvPicPr>
          <p:cNvPr id="70" name="Picture 69"/>
          <p:cNvPicPr/>
          <p:nvPr/>
        </p:nvPicPr>
        <p:blipFill>
          <a:blip r:embed="rId3"/>
          <a:stretch/>
        </p:blipFill>
        <p:spPr>
          <a:xfrm>
            <a:off x="7315200" y="457200"/>
            <a:ext cx="3196800" cy="2842920"/>
          </a:xfrm>
          <a:prstGeom prst="rect">
            <a:avLst/>
          </a:prstGeom>
          <a:noFill/>
          <a:ln w="0">
            <a:noFill/>
          </a:ln>
        </p:spPr>
      </p:pic>
      <p:pic>
        <p:nvPicPr>
          <p:cNvPr id="71" name="Picture 70"/>
          <p:cNvPicPr/>
          <p:nvPr/>
        </p:nvPicPr>
        <p:blipFill>
          <a:blip r:embed="rId4"/>
          <a:stretch/>
        </p:blipFill>
        <p:spPr>
          <a:xfrm>
            <a:off x="7935840" y="3657600"/>
            <a:ext cx="2118960" cy="211896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72" name="Rectangle 24"/>
          <p:cNvSpPr/>
          <p:nvPr/>
        </p:nvSpPr>
        <p:spPr>
          <a:xfrm>
            <a:off x="4233600" y="1232640"/>
            <a:ext cx="3651480" cy="5114520"/>
          </a:xfrm>
          <a:prstGeom prst="rect">
            <a:avLst/>
          </a:prstGeom>
          <a:solidFill>
            <a:srgbClr val="161628"/>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3" name="Rectangle 25"/>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74" name="Rectangle 26"/>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5" name="TextBox 24"/>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Agenda</a:t>
            </a:r>
            <a:endParaRPr lang="en-US" sz="2800" b="0" u="none" strike="noStrike">
              <a:solidFill>
                <a:srgbClr val="FFFFFF"/>
              </a:solidFill>
              <a:effectLst/>
              <a:uFillTx/>
              <a:latin typeface="Arial"/>
            </a:endParaRPr>
          </a:p>
        </p:txBody>
      </p:sp>
      <p:sp>
        <p:nvSpPr>
          <p:cNvPr id="76" name="Rectangle 28"/>
          <p:cNvSpPr/>
          <p:nvPr/>
        </p:nvSpPr>
        <p:spPr>
          <a:xfrm>
            <a:off x="274320" y="1188720"/>
            <a:ext cx="3651480" cy="5114520"/>
          </a:xfrm>
          <a:prstGeom prst="rect">
            <a:avLst/>
          </a:prstGeom>
          <a:solidFill>
            <a:srgbClr val="161628"/>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7" name="Rectangle 30"/>
          <p:cNvSpPr/>
          <p:nvPr/>
        </p:nvSpPr>
        <p:spPr>
          <a:xfrm>
            <a:off x="274320" y="1188720"/>
            <a:ext cx="3651480" cy="3960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
        <p:nvSpPr>
          <p:cNvPr id="78" name="TextBox 25"/>
          <p:cNvSpPr/>
          <p:nvPr/>
        </p:nvSpPr>
        <p:spPr>
          <a:xfrm>
            <a:off x="411480" y="1371600"/>
            <a:ext cx="337716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300" b="1" u="none" strike="noStrike">
                <a:solidFill>
                  <a:srgbClr val="4A9ED6"/>
                </a:solidFill>
                <a:effectLst/>
                <a:uFillTx/>
                <a:latin typeface="Calibri"/>
                <a:ea typeface="DejaVu Sans"/>
              </a:rPr>
              <a:t>Topic 1</a:t>
            </a:r>
            <a:endParaRPr lang="en-US" sz="1300" b="0" u="none" strike="noStrike">
              <a:solidFill>
                <a:srgbClr val="FFFFFF"/>
              </a:solidFill>
              <a:effectLst/>
              <a:uFillTx/>
              <a:latin typeface="Arial"/>
            </a:endParaRPr>
          </a:p>
        </p:txBody>
      </p:sp>
      <p:sp>
        <p:nvSpPr>
          <p:cNvPr id="79" name="TextBox 26"/>
          <p:cNvSpPr/>
          <p:nvPr/>
        </p:nvSpPr>
        <p:spPr>
          <a:xfrm>
            <a:off x="4343400" y="1875600"/>
            <a:ext cx="3470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800" b="1" u="none" strike="noStrike">
                <a:solidFill>
                  <a:srgbClr val="FFFFFF"/>
                </a:solidFill>
                <a:effectLst/>
                <a:uFillTx/>
                <a:latin typeface="Calibri"/>
                <a:ea typeface="Noto Sans CJK SC"/>
              </a:rPr>
              <a:t>ADR Severity Prediction – Death/Lethal vs Non-Death/Lethal </a:t>
            </a:r>
            <a:endParaRPr lang="en-US" sz="1800" b="0" u="none" strike="noStrike">
              <a:solidFill>
                <a:srgbClr val="FFFFFF"/>
              </a:solidFill>
              <a:effectLst/>
              <a:uFillTx/>
              <a:latin typeface="Arial"/>
            </a:endParaRPr>
          </a:p>
        </p:txBody>
      </p:sp>
      <p:sp>
        <p:nvSpPr>
          <p:cNvPr id="80" name="TextBox 27"/>
          <p:cNvSpPr/>
          <p:nvPr/>
        </p:nvSpPr>
        <p:spPr>
          <a:xfrm>
            <a:off x="4343400" y="2743200"/>
            <a:ext cx="3377160" cy="201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defTabSz="457200">
              <a:lnSpc>
                <a:spcPct val="100000"/>
              </a:lnSpc>
              <a:buClr>
                <a:srgbClr val="9999AA"/>
              </a:buClr>
              <a:buFont typeface="Wingdings" charset="2"/>
              <a:buChar char=""/>
            </a:pPr>
            <a:r>
              <a:rPr lang="en-US" sz="1200" b="1" u="none" strike="noStrike">
                <a:solidFill>
                  <a:srgbClr val="9999AA"/>
                </a:solidFill>
                <a:effectLst/>
                <a:uFillTx/>
                <a:latin typeface="Calibri"/>
                <a:ea typeface="DejaVu Sans"/>
              </a:rPr>
              <a:t>Hybrid information retrieval -BM25 and Dense vector</a:t>
            </a:r>
            <a:endParaRPr lang="en-US" sz="1200" b="0" u="none" strike="noStrike">
              <a:solidFill>
                <a:srgbClr val="FFFFFF"/>
              </a:solidFill>
              <a:effectLst/>
              <a:uFillTx/>
              <a:latin typeface="Arial"/>
            </a:endParaRPr>
          </a:p>
          <a:p>
            <a:pPr defTabSz="457200">
              <a:lnSpc>
                <a:spcPct val="100000"/>
              </a:lnSpc>
            </a:pPr>
            <a:endParaRPr lang="en-US" sz="1200" b="0" u="none" strike="noStrike">
              <a:solidFill>
                <a:srgbClr val="FFFFFF"/>
              </a:solidFill>
              <a:effectLst/>
              <a:uFillTx/>
              <a:latin typeface="Arial"/>
            </a:endParaRPr>
          </a:p>
          <a:p>
            <a:pPr marL="216000" indent="-216000" defTabSz="457200">
              <a:lnSpc>
                <a:spcPct val="100000"/>
              </a:lnSpc>
              <a:spcBef>
                <a:spcPts val="1191"/>
              </a:spcBef>
              <a:spcAft>
                <a:spcPts val="992"/>
              </a:spcAft>
              <a:buClr>
                <a:srgbClr val="9999AA"/>
              </a:buClr>
              <a:buFont typeface="Wingdings" charset="2"/>
              <a:buChar char=""/>
            </a:pPr>
            <a:r>
              <a:rPr lang="en-US" sz="1200" b="1" u="none" strike="noStrike">
                <a:solidFill>
                  <a:srgbClr val="9999AA"/>
                </a:solidFill>
                <a:effectLst/>
                <a:uFillTx/>
                <a:latin typeface="Calibri"/>
                <a:ea typeface="DejaVu Sans"/>
              </a:rPr>
              <a:t>Attention-aware data engineering and multi-source information aggregation</a:t>
            </a:r>
            <a:endParaRPr lang="en-US" sz="1200" b="0" u="none" strike="noStrike">
              <a:solidFill>
                <a:srgbClr val="FFFFFF"/>
              </a:solidFill>
              <a:effectLst/>
              <a:uFillTx/>
              <a:latin typeface="Arial"/>
            </a:endParaRPr>
          </a:p>
          <a:p>
            <a:pPr defTabSz="457200">
              <a:lnSpc>
                <a:spcPct val="100000"/>
              </a:lnSpc>
            </a:pPr>
            <a:endParaRPr lang="en-US" sz="1200" b="0" u="none" strike="noStrike">
              <a:solidFill>
                <a:srgbClr val="FFFFFF"/>
              </a:solidFill>
              <a:effectLst/>
              <a:uFillTx/>
              <a:latin typeface="Arial"/>
            </a:endParaRPr>
          </a:p>
          <a:p>
            <a:pPr marL="216000" indent="-216000" defTabSz="457200">
              <a:lnSpc>
                <a:spcPct val="100000"/>
              </a:lnSpc>
              <a:buClr>
                <a:srgbClr val="9999AA"/>
              </a:buClr>
              <a:buFont typeface="Wingdings" charset="2"/>
              <a:buChar char=""/>
            </a:pPr>
            <a:r>
              <a:rPr lang="en-US" sz="1200" b="0" u="none" strike="noStrike">
                <a:solidFill>
                  <a:srgbClr val="9999AA"/>
                </a:solidFill>
                <a:effectLst/>
                <a:uFillTx/>
                <a:latin typeface="Calibri"/>
                <a:ea typeface="DejaVu Sans"/>
              </a:rPr>
              <a:t>Evaluate ensemble machine learning, deep learning, and fine-tuned LLMs  for ADR prediction    </a:t>
            </a:r>
            <a:endParaRPr lang="en-US" sz="1200" b="0" u="none" strike="noStrike">
              <a:solidFill>
                <a:srgbClr val="FFFFFF"/>
              </a:solidFill>
              <a:effectLst/>
              <a:uFillTx/>
              <a:latin typeface="Arial"/>
            </a:endParaRPr>
          </a:p>
        </p:txBody>
      </p:sp>
      <p:sp>
        <p:nvSpPr>
          <p:cNvPr id="81" name="Rectangle 32"/>
          <p:cNvSpPr/>
          <p:nvPr/>
        </p:nvSpPr>
        <p:spPr>
          <a:xfrm>
            <a:off x="4233600" y="1188720"/>
            <a:ext cx="3651480" cy="39600"/>
          </a:xfrm>
          <a:prstGeom prst="rect">
            <a:avLst/>
          </a:prstGeom>
          <a:solidFill>
            <a:srgbClr val="5AC87A">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
        <p:nvSpPr>
          <p:cNvPr id="82" name="TextBox 28"/>
          <p:cNvSpPr/>
          <p:nvPr/>
        </p:nvSpPr>
        <p:spPr>
          <a:xfrm>
            <a:off x="4370760" y="1371600"/>
            <a:ext cx="337716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300" b="1" u="none" strike="noStrike">
                <a:solidFill>
                  <a:srgbClr val="5AC87A"/>
                </a:solidFill>
                <a:effectLst/>
                <a:uFillTx/>
                <a:latin typeface="Calibri"/>
                <a:ea typeface="DejaVu Sans"/>
              </a:rPr>
              <a:t>Topic 2</a:t>
            </a:r>
            <a:endParaRPr lang="en-US" sz="1300" b="0" u="none" strike="noStrike">
              <a:solidFill>
                <a:srgbClr val="FFFFFF"/>
              </a:solidFill>
              <a:effectLst/>
              <a:uFillTx/>
              <a:latin typeface="Arial"/>
            </a:endParaRPr>
          </a:p>
        </p:txBody>
      </p:sp>
      <p:sp>
        <p:nvSpPr>
          <p:cNvPr id="83" name="TextBox 29"/>
          <p:cNvSpPr/>
          <p:nvPr/>
        </p:nvSpPr>
        <p:spPr>
          <a:xfrm>
            <a:off x="504720" y="1828800"/>
            <a:ext cx="33771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800" b="1" u="none" strike="noStrike">
                <a:solidFill>
                  <a:srgbClr val="FFFFFF"/>
                </a:solidFill>
                <a:effectLst/>
                <a:uFillTx/>
                <a:latin typeface="Calibri"/>
                <a:ea typeface="DejaVu Sans"/>
              </a:rPr>
              <a:t>ADR Multi-label Prediction in </a:t>
            </a:r>
            <a:r>
              <a:rPr lang="en-US" sz="1800" b="1" u="none" strike="noStrike">
                <a:solidFill>
                  <a:srgbClr val="FFFFFF"/>
                </a:solidFill>
                <a:effectLst/>
                <a:uFillTx/>
                <a:latin typeface="Calibri"/>
                <a:ea typeface="Noto Serif CJK SC"/>
              </a:rPr>
              <a:t>System Organ Class (SOC)</a:t>
            </a:r>
            <a:endParaRPr lang="en-US" sz="1800" b="0" u="none" strike="noStrike">
              <a:solidFill>
                <a:srgbClr val="FFFFFF"/>
              </a:solidFill>
              <a:effectLst/>
              <a:uFillTx/>
              <a:latin typeface="Arial"/>
            </a:endParaRPr>
          </a:p>
        </p:txBody>
      </p:sp>
      <p:sp>
        <p:nvSpPr>
          <p:cNvPr id="84" name="TextBox 31"/>
          <p:cNvSpPr/>
          <p:nvPr/>
        </p:nvSpPr>
        <p:spPr>
          <a:xfrm>
            <a:off x="457200" y="2743200"/>
            <a:ext cx="3377160" cy="1924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defTabSz="457200">
              <a:lnSpc>
                <a:spcPct val="100000"/>
              </a:lnSpc>
              <a:spcBef>
                <a:spcPts val="1191"/>
              </a:spcBef>
              <a:spcAft>
                <a:spcPts val="992"/>
              </a:spcAft>
              <a:buClr>
                <a:srgbClr val="9999AA"/>
              </a:buClr>
              <a:buFont typeface="Wingdings" charset="2"/>
              <a:buChar char=""/>
            </a:pPr>
            <a:r>
              <a:rPr lang="en-US" sz="1200" b="0" u="none" strike="noStrike">
                <a:solidFill>
                  <a:srgbClr val="9999AA"/>
                </a:solidFill>
                <a:effectLst/>
                <a:uFillTx/>
                <a:latin typeface="Calibri"/>
                <a:ea typeface="DejaVu Sans"/>
              </a:rPr>
              <a:t>Map ADR outcome in 29K PT to 27 SOC as Multi-label target</a:t>
            </a:r>
            <a:endParaRPr lang="en-US" sz="1200" b="0" u="none" strike="noStrike">
              <a:solidFill>
                <a:srgbClr val="FFFFFF"/>
              </a:solidFill>
              <a:effectLst/>
              <a:uFillTx/>
              <a:latin typeface="Arial"/>
            </a:endParaRPr>
          </a:p>
          <a:p>
            <a:pPr marL="216000" indent="-216000" defTabSz="457200">
              <a:lnSpc>
                <a:spcPct val="100000"/>
              </a:lnSpc>
              <a:spcBef>
                <a:spcPts val="1191"/>
              </a:spcBef>
              <a:spcAft>
                <a:spcPts val="992"/>
              </a:spcAft>
              <a:buClr>
                <a:srgbClr val="9999AA"/>
              </a:buClr>
              <a:buFont typeface="Wingdings" charset="2"/>
              <a:buChar char=""/>
            </a:pPr>
            <a:r>
              <a:rPr lang="en-US" sz="1200" b="0" u="none" strike="noStrike">
                <a:solidFill>
                  <a:srgbClr val="9999AA"/>
                </a:solidFill>
                <a:effectLst/>
                <a:uFillTx/>
                <a:latin typeface="Calibri"/>
                <a:ea typeface="DejaVu Sans"/>
              </a:rPr>
              <a:t>Develop a hybrid retrieval framework using normalized drug ingredients and ATC Level 4 therapeutic classes</a:t>
            </a:r>
            <a:endParaRPr lang="en-US" sz="1200" b="0" u="none" strike="noStrike">
              <a:solidFill>
                <a:srgbClr val="FFFFFF"/>
              </a:solidFill>
              <a:effectLst/>
              <a:uFillTx/>
              <a:latin typeface="Arial"/>
            </a:endParaRPr>
          </a:p>
          <a:p>
            <a:pPr marL="216000" indent="-216000" defTabSz="457200">
              <a:lnSpc>
                <a:spcPct val="100000"/>
              </a:lnSpc>
              <a:spcBef>
                <a:spcPts val="1191"/>
              </a:spcBef>
              <a:spcAft>
                <a:spcPts val="992"/>
              </a:spcAft>
              <a:buClr>
                <a:srgbClr val="9999AA"/>
              </a:buClr>
              <a:buFont typeface="Wingdings" charset="2"/>
              <a:buChar char=""/>
            </a:pPr>
            <a:r>
              <a:rPr lang="en-US" sz="1200" b="0" u="none" strike="noStrike">
                <a:solidFill>
                  <a:srgbClr val="9999AA"/>
                </a:solidFill>
                <a:effectLst/>
                <a:uFillTx/>
                <a:latin typeface="Calibri"/>
                <a:ea typeface="DejaVu Sans"/>
              </a:rPr>
              <a:t>and characterize temporal data drift across quarterly FAERS releases  </a:t>
            </a:r>
            <a:endParaRPr lang="en-US" sz="1200" b="0" u="none" strike="noStrike">
              <a:solidFill>
                <a:srgbClr val="FFFFFF"/>
              </a:solidFill>
              <a:effectLst/>
              <a:uFillTx/>
              <a:latin typeface="Arial"/>
            </a:endParaRPr>
          </a:p>
        </p:txBody>
      </p:sp>
      <p:sp>
        <p:nvSpPr>
          <p:cNvPr id="85" name="Rectangle 33"/>
          <p:cNvSpPr/>
          <p:nvPr/>
        </p:nvSpPr>
        <p:spPr>
          <a:xfrm>
            <a:off x="8192880" y="1188720"/>
            <a:ext cx="3651480" cy="5114520"/>
          </a:xfrm>
          <a:prstGeom prst="rect">
            <a:avLst/>
          </a:prstGeom>
          <a:solidFill>
            <a:srgbClr val="161628"/>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6" name="Rectangle 34"/>
          <p:cNvSpPr/>
          <p:nvPr/>
        </p:nvSpPr>
        <p:spPr>
          <a:xfrm>
            <a:off x="8192880" y="1188720"/>
            <a:ext cx="3651480" cy="3960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
        <p:nvSpPr>
          <p:cNvPr id="87" name="TextBox 33"/>
          <p:cNvSpPr/>
          <p:nvPr/>
        </p:nvSpPr>
        <p:spPr>
          <a:xfrm>
            <a:off x="8330040" y="1371600"/>
            <a:ext cx="337716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300" b="1" u="none" strike="noStrike">
                <a:solidFill>
                  <a:srgbClr val="D46212"/>
                </a:solidFill>
                <a:effectLst/>
                <a:uFillTx/>
                <a:latin typeface="Calibri"/>
                <a:ea typeface="DejaVu Sans"/>
              </a:rPr>
              <a:t>Topic 3</a:t>
            </a:r>
            <a:endParaRPr lang="en-US" sz="1300" b="0" u="none" strike="noStrike">
              <a:solidFill>
                <a:srgbClr val="FFFFFF"/>
              </a:solidFill>
              <a:effectLst/>
              <a:uFillTx/>
              <a:latin typeface="Arial"/>
            </a:endParaRPr>
          </a:p>
        </p:txBody>
      </p:sp>
      <p:sp>
        <p:nvSpPr>
          <p:cNvPr id="88" name="TextBox 35"/>
          <p:cNvSpPr/>
          <p:nvPr/>
        </p:nvSpPr>
        <p:spPr>
          <a:xfrm>
            <a:off x="8330040" y="1783080"/>
            <a:ext cx="337716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1" u="none" strike="noStrike" dirty="0">
                <a:solidFill>
                  <a:srgbClr val="FFFFFF"/>
                </a:solidFill>
                <a:effectLst/>
                <a:uFillTx/>
                <a:latin typeface="Calibri"/>
                <a:ea typeface="DejaVu Sans"/>
              </a:rPr>
              <a:t>Knowledge GraphRAG for ADR Prediction </a:t>
            </a:r>
            <a:endParaRPr lang="en-US" sz="1600" b="0" u="none" strike="noStrike" dirty="0">
              <a:solidFill>
                <a:srgbClr val="FFFFFF"/>
              </a:solidFill>
              <a:effectLst/>
              <a:uFillTx/>
              <a:latin typeface="Arial"/>
            </a:endParaRPr>
          </a:p>
        </p:txBody>
      </p:sp>
      <p:sp>
        <p:nvSpPr>
          <p:cNvPr id="89" name="TextBox 37"/>
          <p:cNvSpPr/>
          <p:nvPr/>
        </p:nvSpPr>
        <p:spPr>
          <a:xfrm>
            <a:off x="8330040" y="2651760"/>
            <a:ext cx="3377160" cy="219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defTabSz="457200">
              <a:lnSpc>
                <a:spcPct val="100000"/>
              </a:lnSpc>
              <a:buClr>
                <a:srgbClr val="9999AA"/>
              </a:buClr>
              <a:buFont typeface="Wingdings" charset="2"/>
              <a:buChar char=""/>
            </a:pPr>
            <a:r>
              <a:rPr lang="en-US" sz="1200" b="0" u="none" strike="noStrike">
                <a:solidFill>
                  <a:srgbClr val="9999AA"/>
                </a:solidFill>
                <a:effectLst/>
                <a:uFillTx/>
                <a:latin typeface="Calibri"/>
                <a:ea typeface="DejaVu Sans"/>
              </a:rPr>
              <a:t>Construct Neo4j Knowledge GraphDB w/ 3.7M ADR cases</a:t>
            </a:r>
            <a:endParaRPr lang="en-US" sz="1200" b="0" u="none" strike="noStrike">
              <a:solidFill>
                <a:srgbClr val="FFFFFF"/>
              </a:solidFill>
              <a:effectLst/>
              <a:uFillTx/>
              <a:latin typeface="Arial"/>
            </a:endParaRPr>
          </a:p>
          <a:p>
            <a:pPr defTabSz="457200">
              <a:lnSpc>
                <a:spcPct val="100000"/>
              </a:lnSpc>
            </a:pPr>
            <a:endParaRPr lang="en-US" sz="1200" b="0" u="none" strike="noStrike">
              <a:solidFill>
                <a:srgbClr val="FFFFFF"/>
              </a:solidFill>
              <a:effectLst/>
              <a:uFillTx/>
              <a:latin typeface="Arial"/>
            </a:endParaRPr>
          </a:p>
          <a:p>
            <a:pPr marL="216000" indent="-216000" defTabSz="457200">
              <a:lnSpc>
                <a:spcPct val="100000"/>
              </a:lnSpc>
              <a:buClr>
                <a:srgbClr val="9999AA"/>
              </a:buClr>
              <a:buFont typeface="Wingdings" charset="2"/>
              <a:buChar char=""/>
            </a:pPr>
            <a:r>
              <a:rPr lang="en-US" sz="1200" b="0" u="none" strike="noStrike">
                <a:solidFill>
                  <a:srgbClr val="9999AA"/>
                </a:solidFill>
                <a:effectLst/>
                <a:uFillTx/>
                <a:latin typeface="Calibri"/>
                <a:ea typeface="DejaVu Sans"/>
              </a:rPr>
              <a:t>Re-rank meta-path retrievals based on local PageRank</a:t>
            </a:r>
            <a:endParaRPr lang="en-US" sz="1200" b="0" u="none" strike="noStrike">
              <a:solidFill>
                <a:srgbClr val="FFFFFF"/>
              </a:solidFill>
              <a:effectLst/>
              <a:uFillTx/>
              <a:latin typeface="Arial"/>
            </a:endParaRPr>
          </a:p>
          <a:p>
            <a:pPr defTabSz="457200">
              <a:lnSpc>
                <a:spcPct val="100000"/>
              </a:lnSpc>
            </a:pPr>
            <a:endParaRPr lang="en-US" sz="1200" b="0" u="none" strike="noStrike">
              <a:solidFill>
                <a:srgbClr val="FFFFFF"/>
              </a:solidFill>
              <a:effectLst/>
              <a:uFillTx/>
              <a:latin typeface="Arial"/>
            </a:endParaRPr>
          </a:p>
          <a:p>
            <a:pPr marL="216000" indent="-216000" defTabSz="457200">
              <a:lnSpc>
                <a:spcPct val="100000"/>
              </a:lnSpc>
              <a:spcBef>
                <a:spcPts val="1191"/>
              </a:spcBef>
              <a:spcAft>
                <a:spcPts val="992"/>
              </a:spcAft>
              <a:buClr>
                <a:srgbClr val="9999AA"/>
              </a:buClr>
              <a:buFont typeface="Wingdings" charset="2"/>
              <a:buChar char=""/>
            </a:pPr>
            <a:r>
              <a:rPr lang="en-US" sz="1200" b="0" u="none" strike="noStrike">
                <a:solidFill>
                  <a:srgbClr val="9999AA"/>
                </a:solidFill>
                <a:effectLst/>
                <a:uFillTx/>
                <a:latin typeface="Calibri"/>
                <a:ea typeface="DejaVu Sans"/>
              </a:rPr>
              <a:t>Evaluate the complementary impact of semantic similarity and graph-based ranking on ADR prediction performance</a:t>
            </a:r>
            <a:endParaRPr lang="en-US" sz="1200" b="0" u="none" strike="noStrike">
              <a:solidFill>
                <a:srgbClr val="FFFFFF"/>
              </a:solidFill>
              <a:effectLst/>
              <a:uFillTx/>
              <a:latin typeface="Arial"/>
            </a:endParaRPr>
          </a:p>
          <a:p>
            <a:pPr defTabSz="457200">
              <a:lnSpc>
                <a:spcPct val="100000"/>
              </a:lnSpc>
            </a:pPr>
            <a:endParaRPr lang="en-US" sz="12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90" name="Rectangle 1"/>
          <p:cNvSpPr/>
          <p:nvPr/>
        </p:nvSpPr>
        <p:spPr>
          <a:xfrm>
            <a:off x="0" y="0"/>
            <a:ext cx="12182760" cy="6851880"/>
          </a:xfrm>
          <a:prstGeom prst="rect">
            <a:avLst/>
          </a:prstGeom>
          <a:solidFill>
            <a:srgbClr val="1A1A2E">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1" name="Rectangle 2"/>
          <p:cNvSpPr/>
          <p:nvPr/>
        </p:nvSpPr>
        <p:spPr>
          <a:xfrm>
            <a:off x="1800" y="2286000"/>
            <a:ext cx="12182760" cy="66960"/>
          </a:xfrm>
          <a:prstGeom prst="rect">
            <a:avLst/>
          </a:prstGeom>
          <a:solidFill>
            <a:srgbClr val="63BBEE">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endParaRPr lang="en-US" sz="1800" b="0" u="none" strike="noStrike">
              <a:solidFill>
                <a:schemeClr val="lt1"/>
              </a:solidFill>
              <a:effectLst/>
              <a:uFillTx/>
              <a:latin typeface="Calibri"/>
            </a:endParaRPr>
          </a:p>
        </p:txBody>
      </p:sp>
      <p:sp>
        <p:nvSpPr>
          <p:cNvPr id="92" name="TextBox 3"/>
          <p:cNvSpPr/>
          <p:nvPr/>
        </p:nvSpPr>
        <p:spPr>
          <a:xfrm>
            <a:off x="731520" y="548640"/>
            <a:ext cx="10052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800" b="1" u="none" strike="noStrike">
                <a:solidFill>
                  <a:srgbClr val="63BBEE"/>
                </a:solidFill>
                <a:effectLst/>
                <a:uFillTx/>
                <a:latin typeface="Calibri"/>
                <a:ea typeface="DejaVu Sans"/>
              </a:rPr>
              <a:t>TOPIC 1</a:t>
            </a:r>
            <a:endParaRPr lang="en-US" sz="1800" b="0" u="none" strike="noStrike">
              <a:solidFill>
                <a:srgbClr val="FFFFFF"/>
              </a:solidFill>
              <a:effectLst/>
              <a:uFillTx/>
              <a:latin typeface="Arial"/>
            </a:endParaRPr>
          </a:p>
        </p:txBody>
      </p:sp>
      <p:sp>
        <p:nvSpPr>
          <p:cNvPr id="93" name="TextBox 4"/>
          <p:cNvSpPr/>
          <p:nvPr/>
        </p:nvSpPr>
        <p:spPr>
          <a:xfrm>
            <a:off x="228600" y="1371600"/>
            <a:ext cx="11882520" cy="699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4000" b="1" u="none" strike="noStrike">
                <a:solidFill>
                  <a:srgbClr val="FFFFFF"/>
                </a:solidFill>
                <a:effectLst/>
                <a:uFillTx/>
                <a:latin typeface="Calibri"/>
                <a:ea typeface="DejaVu Sans"/>
              </a:rPr>
              <a:t>ADR Multi-label Prediction in </a:t>
            </a:r>
            <a:r>
              <a:rPr lang="en-US" sz="4000" b="1" u="none" strike="noStrike">
                <a:solidFill>
                  <a:srgbClr val="FFFFFF"/>
                </a:solidFill>
                <a:effectLst/>
                <a:uFillTx/>
                <a:latin typeface="Calibri"/>
                <a:ea typeface="Noto Serif CJK SC"/>
              </a:rPr>
              <a:t>System Organ Class (SOC)</a:t>
            </a:r>
            <a:endParaRPr lang="en-US" sz="4000" b="0" u="none" strike="noStrike">
              <a:solidFill>
                <a:srgbClr val="FFFFFF"/>
              </a:solidFill>
              <a:effectLst/>
              <a:uFillTx/>
              <a:latin typeface="Arial"/>
            </a:endParaRPr>
          </a:p>
        </p:txBody>
      </p:sp>
      <p:sp>
        <p:nvSpPr>
          <p:cNvPr id="94" name="Rectangle 93"/>
          <p:cNvSpPr/>
          <p:nvPr/>
        </p:nvSpPr>
        <p:spPr>
          <a:xfrm>
            <a:off x="1828800" y="2971800"/>
            <a:ext cx="4079160" cy="2224080"/>
          </a:xfrm>
          <a:prstGeom prst="rect">
            <a:avLst/>
          </a:prstGeom>
          <a:solidFill>
            <a:srgbClr val="CCF4C6"/>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1" u="none" strike="noStrike">
                <a:solidFill>
                  <a:srgbClr val="000000"/>
                </a:solidFill>
                <a:effectLst/>
                <a:uFillTx/>
                <a:latin typeface="Arial"/>
                <a:ea typeface="DejaVu Sans"/>
              </a:rPr>
              <a:t>Research Question:</a:t>
            </a: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ea typeface="DejaVu Sans"/>
              </a:rPr>
              <a:t>How can retrieval-augmented representations enhance the accuracy, robustness, and interpretability of multi-label SOC prediction from </a:t>
            </a:r>
            <a:r>
              <a:rPr lang="en-US" sz="2000" b="1" u="none" strike="noStrike">
                <a:solidFill>
                  <a:srgbClr val="000000"/>
                </a:solidFill>
                <a:effectLst/>
                <a:uFillTx/>
                <a:latin typeface="Arial"/>
                <a:ea typeface="DejaVu Sans"/>
              </a:rPr>
              <a:t>unstructured ADR</a:t>
            </a:r>
            <a:r>
              <a:rPr lang="en-US" sz="2000" b="0" u="none" strike="noStrike">
                <a:solidFill>
                  <a:srgbClr val="000000"/>
                </a:solidFill>
                <a:effectLst/>
                <a:uFillTx/>
                <a:latin typeface="Arial"/>
                <a:ea typeface="DejaVu Sans"/>
              </a:rPr>
              <a:t> narratives?</a:t>
            </a:r>
            <a:endParaRPr lang="en-US" sz="2000" b="0" u="none" strike="noStrike">
              <a:solidFill>
                <a:srgbClr val="000000"/>
              </a:solidFill>
              <a:effectLst/>
              <a:uFillTx/>
              <a:latin typeface="Arial"/>
            </a:endParaRPr>
          </a:p>
        </p:txBody>
      </p:sp>
      <p:sp>
        <p:nvSpPr>
          <p:cNvPr id="95" name="Rectangle 94"/>
          <p:cNvSpPr/>
          <p:nvPr/>
        </p:nvSpPr>
        <p:spPr>
          <a:xfrm>
            <a:off x="6206040" y="2971800"/>
            <a:ext cx="4307760" cy="2224080"/>
          </a:xfrm>
          <a:prstGeom prst="rect">
            <a:avLst/>
          </a:prstGeom>
          <a:solidFill>
            <a:srgbClr val="CCF4C6"/>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1" u="none" strike="noStrike" dirty="0">
                <a:solidFill>
                  <a:srgbClr val="000000"/>
                </a:solidFill>
                <a:effectLst/>
                <a:uFillTx/>
                <a:latin typeface="Arial"/>
                <a:ea typeface="DejaVu Sans"/>
              </a:rPr>
              <a:t>Challenges:</a:t>
            </a:r>
            <a:endParaRPr lang="en-US" sz="2000" b="0" u="none" strike="noStrike" dirty="0">
              <a:solidFill>
                <a:srgbClr val="000000"/>
              </a:solidFill>
              <a:effectLst/>
              <a:uFillTx/>
              <a:latin typeface="Arial"/>
            </a:endParaRPr>
          </a:p>
          <a:p>
            <a:pPr>
              <a:lnSpc>
                <a:spcPct val="100000"/>
              </a:lnSpc>
            </a:pPr>
            <a:r>
              <a:rPr lang="en-US" sz="2000" b="0" u="none" strike="noStrike" dirty="0">
                <a:solidFill>
                  <a:srgbClr val="000000"/>
                </a:solidFill>
                <a:effectLst/>
                <a:uFillTx/>
                <a:latin typeface="Arial"/>
                <a:ea typeface="DejaVu Sans"/>
              </a:rPr>
              <a:t>Existing ADR prediction methods rely on fragmented data sources—typically isolated clinical notes or social media posts—and lack a unified, large-scale data integration framework.</a:t>
            </a:r>
            <a:endParaRPr lang="en-US" sz="2000" b="0" u="none" strike="noStrike" dirty="0">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96" name="Rectangle 1"/>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97"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1.1 Solution: Data Sourcing</a:t>
            </a:r>
            <a:endParaRPr lang="en-US" sz="2800" b="0" u="none" strike="noStrike">
              <a:solidFill>
                <a:srgbClr val="FFFFFF"/>
              </a:solidFill>
              <a:effectLst/>
              <a:uFillTx/>
              <a:latin typeface="Arial"/>
            </a:endParaRPr>
          </a:p>
        </p:txBody>
      </p:sp>
      <p:pic>
        <p:nvPicPr>
          <p:cNvPr id="98" name="Picture 97"/>
          <p:cNvPicPr/>
          <p:nvPr/>
        </p:nvPicPr>
        <p:blipFill>
          <a:blip r:embed="rId3"/>
          <a:stretch/>
        </p:blipFill>
        <p:spPr>
          <a:xfrm>
            <a:off x="680007" y="1734358"/>
            <a:ext cx="5104972" cy="2195434"/>
          </a:xfrm>
          <a:prstGeom prst="rect">
            <a:avLst/>
          </a:prstGeom>
          <a:noFill/>
          <a:ln w="0">
            <a:noFill/>
          </a:ln>
        </p:spPr>
      </p:pic>
      <p:pic>
        <p:nvPicPr>
          <p:cNvPr id="99" name="Picture 98"/>
          <p:cNvPicPr/>
          <p:nvPr/>
        </p:nvPicPr>
        <p:blipFill>
          <a:blip r:embed="rId4"/>
          <a:stretch/>
        </p:blipFill>
        <p:spPr>
          <a:xfrm>
            <a:off x="6107400" y="2602907"/>
            <a:ext cx="5687640" cy="3196800"/>
          </a:xfrm>
          <a:prstGeom prst="rect">
            <a:avLst/>
          </a:prstGeom>
          <a:noFill/>
          <a:ln w="36720">
            <a:noFill/>
          </a:ln>
        </p:spPr>
      </p:pic>
      <p:sp>
        <p:nvSpPr>
          <p:cNvPr id="100" name="Rectangle 84"/>
          <p:cNvSpPr/>
          <p:nvPr/>
        </p:nvSpPr>
        <p:spPr>
          <a:xfrm>
            <a:off x="7043400" y="1087560"/>
            <a:ext cx="153540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1" name="Rectangle 85"/>
          <p:cNvSpPr/>
          <p:nvPr/>
        </p:nvSpPr>
        <p:spPr>
          <a:xfrm>
            <a:off x="457560" y="1087560"/>
            <a:ext cx="1361160" cy="496800"/>
          </a:xfrm>
          <a:prstGeom prst="rect">
            <a:avLst/>
          </a:prstGeom>
          <a:solidFill>
            <a:srgbClr val="4A9ED6">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2" name="TextBox 88"/>
          <p:cNvSpPr/>
          <p:nvPr/>
        </p:nvSpPr>
        <p:spPr>
          <a:xfrm>
            <a:off x="470520" y="108756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103" name="TextBox 89"/>
          <p:cNvSpPr/>
          <p:nvPr/>
        </p:nvSpPr>
        <p:spPr>
          <a:xfrm>
            <a:off x="1774080" y="11804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04" name="Rectangle 86"/>
          <p:cNvSpPr/>
          <p:nvPr/>
        </p:nvSpPr>
        <p:spPr>
          <a:xfrm>
            <a:off x="2038320" y="110196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5" name="TextBox 90"/>
          <p:cNvSpPr/>
          <p:nvPr/>
        </p:nvSpPr>
        <p:spPr>
          <a:xfrm>
            <a:off x="2038320" y="110196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106" name="TextBox 91"/>
          <p:cNvSpPr/>
          <p:nvPr/>
        </p:nvSpPr>
        <p:spPr>
          <a:xfrm>
            <a:off x="3558600" y="11865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07" name="Rectangle 87"/>
          <p:cNvSpPr/>
          <p:nvPr/>
        </p:nvSpPr>
        <p:spPr>
          <a:xfrm>
            <a:off x="3804120" y="1087560"/>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108" name="TextBox 92"/>
          <p:cNvSpPr/>
          <p:nvPr/>
        </p:nvSpPr>
        <p:spPr>
          <a:xfrm>
            <a:off x="6756480" y="117432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09" name="Rectangle 88"/>
          <p:cNvSpPr/>
          <p:nvPr/>
        </p:nvSpPr>
        <p:spPr>
          <a:xfrm>
            <a:off x="5407920" y="108756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0" name="TextBox 93"/>
          <p:cNvSpPr/>
          <p:nvPr/>
        </p:nvSpPr>
        <p:spPr>
          <a:xfrm>
            <a:off x="8519760" y="117432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11" name="TextBox 94"/>
          <p:cNvSpPr/>
          <p:nvPr/>
        </p:nvSpPr>
        <p:spPr>
          <a:xfrm>
            <a:off x="7080120" y="110160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112" name="TextBox 95"/>
          <p:cNvSpPr/>
          <p:nvPr/>
        </p:nvSpPr>
        <p:spPr>
          <a:xfrm>
            <a:off x="5164200" y="11865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13" name="Rectangle 89"/>
          <p:cNvSpPr/>
          <p:nvPr/>
        </p:nvSpPr>
        <p:spPr>
          <a:xfrm>
            <a:off x="8812800" y="108684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114" name="TextBox 96"/>
          <p:cNvSpPr/>
          <p:nvPr/>
        </p:nvSpPr>
        <p:spPr>
          <a:xfrm>
            <a:off x="10164600" y="11523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15" name="Rectangle 90"/>
          <p:cNvSpPr/>
          <p:nvPr/>
        </p:nvSpPr>
        <p:spPr>
          <a:xfrm>
            <a:off x="10450080" y="1085400"/>
            <a:ext cx="143532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6" name="Rectangle 115"/>
          <p:cNvSpPr/>
          <p:nvPr/>
        </p:nvSpPr>
        <p:spPr>
          <a:xfrm>
            <a:off x="10503360" y="1073520"/>
            <a:ext cx="1369800" cy="288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rlic"/>
                <a:ea typeface="DejaVu Sans"/>
              </a:rPr>
              <a:t> </a:t>
            </a:r>
            <a:endParaRPr lang="en-US" sz="1300" b="0" u="none" strike="noStrike">
              <a:solidFill>
                <a:srgbClr val="FFFFFF"/>
              </a:solidFill>
              <a:effectLst/>
              <a:uFillTx/>
              <a:latin typeface="Arial"/>
            </a:endParaRPr>
          </a:p>
        </p:txBody>
      </p:sp>
      <p:sp>
        <p:nvSpPr>
          <p:cNvPr id="117" name="Rectangle 116"/>
          <p:cNvSpPr/>
          <p:nvPr/>
        </p:nvSpPr>
        <p:spPr>
          <a:xfrm>
            <a:off x="471600" y="110700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sp>
        <p:nvSpPr>
          <p:cNvPr id="118" name="Rectangle 117"/>
          <p:cNvSpPr/>
          <p:nvPr/>
        </p:nvSpPr>
        <p:spPr>
          <a:xfrm>
            <a:off x="7839720" y="4419261"/>
            <a:ext cx="2055600" cy="25740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ctr">
            <a:noAutofit/>
          </a:bodyPr>
          <a:lstStyle/>
          <a:p>
            <a:endParaRPr lang="en-US" sz="1800" b="0" u="none" strike="noStrike">
              <a:solidFill>
                <a:srgbClr val="FFFFFF"/>
              </a:solidFill>
              <a:effectLst/>
              <a:uFillTx/>
              <a:latin typeface="Arial"/>
            </a:endParaRPr>
          </a:p>
        </p:txBody>
      </p:sp>
      <p:sp>
        <p:nvSpPr>
          <p:cNvPr id="119" name="Rectangle 118"/>
          <p:cNvSpPr/>
          <p:nvPr/>
        </p:nvSpPr>
        <p:spPr>
          <a:xfrm>
            <a:off x="8058989" y="3599128"/>
            <a:ext cx="1598400" cy="25740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ctr">
            <a:noAutofit/>
          </a:bodyPr>
          <a:lstStyle/>
          <a:p>
            <a:endParaRPr lang="en-US" sz="1800" b="0" u="none" strike="noStrike">
              <a:solidFill>
                <a:srgbClr val="FFFFFF"/>
              </a:solidFill>
              <a:effectLst/>
              <a:uFillTx/>
              <a:latin typeface="Arial"/>
            </a:endParaRPr>
          </a:p>
        </p:txBody>
      </p:sp>
      <p:pic>
        <p:nvPicPr>
          <p:cNvPr id="3" name="Picture 2">
            <a:extLst>
              <a:ext uri="{FF2B5EF4-FFF2-40B4-BE49-F238E27FC236}">
                <a16:creationId xmlns:a16="http://schemas.microsoft.com/office/drawing/2014/main" id="{37BAB80F-D873-4162-3D65-E8D85CA24A03}"/>
              </a:ext>
            </a:extLst>
          </p:cNvPr>
          <p:cNvPicPr>
            <a:picLocks noChangeAspect="1"/>
          </p:cNvPicPr>
          <p:nvPr/>
        </p:nvPicPr>
        <p:blipFill>
          <a:blip r:embed="rId5"/>
          <a:stretch>
            <a:fillRect/>
          </a:stretch>
        </p:blipFill>
        <p:spPr>
          <a:xfrm>
            <a:off x="680007" y="4013672"/>
            <a:ext cx="5104973" cy="26798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20" name="Rectangle 12"/>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121" name="Rectangle 44"/>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2" name="TextBox 57"/>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1.2 Solution: Data Engineering</a:t>
            </a:r>
            <a:endParaRPr lang="en-US" sz="2800" b="0" u="none" strike="noStrike">
              <a:solidFill>
                <a:srgbClr val="FFFFFF"/>
              </a:solidFill>
              <a:effectLst/>
              <a:uFillTx/>
              <a:latin typeface="Arial"/>
            </a:endParaRPr>
          </a:p>
        </p:txBody>
      </p:sp>
      <p:sp>
        <p:nvSpPr>
          <p:cNvPr id="123" name="Rectangle 122"/>
          <p:cNvSpPr/>
          <p:nvPr/>
        </p:nvSpPr>
        <p:spPr>
          <a:xfrm>
            <a:off x="6629400" y="2361960"/>
            <a:ext cx="4797000" cy="243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FFFFFF"/>
                </a:solidFill>
                <a:effectLst/>
                <a:uFillTx/>
                <a:latin typeface="Arial"/>
                <a:ea typeface="DejaVu Sans"/>
              </a:rPr>
              <a:t>Caseid Query:</a:t>
            </a:r>
            <a:r>
              <a:rPr lang="en-US" sz="1400" b="0" u="none" strike="noStrike">
                <a:solidFill>
                  <a:srgbClr val="FFFFFF"/>
                </a:solidFill>
                <a:effectLst/>
                <a:uFillTx/>
                <a:latin typeface="Arial"/>
                <a:ea typeface="DejaVu Sans"/>
              </a:rPr>
              <a:t> {</a:t>
            </a:r>
            <a:r>
              <a:rPr lang="en-US" sz="1400" b="0" u="none" strike="noStrike">
                <a:solidFill>
                  <a:srgbClr val="43C330"/>
                </a:solidFill>
                <a:effectLst/>
                <a:uFillTx/>
                <a:latin typeface="Arial"/>
                <a:ea typeface="DejaVu Sans"/>
              </a:rPr>
              <a:t>"patient": "{"age": "64.0", "age_cod": "yr", "gndr_cod": "m", "wt": "75.0", "wt_cod": "kg"}"</a:t>
            </a:r>
            <a:r>
              <a:rPr lang="en-US" sz="1400" b="0" u="none" strike="noStrike">
                <a:solidFill>
                  <a:srgbClr val="FFFFFF"/>
                </a:solidFill>
                <a:effectLst/>
                <a:uFillTx/>
                <a:latin typeface="Arial"/>
                <a:ea typeface="DejaVu Sans"/>
              </a:rPr>
              <a:t>, </a:t>
            </a:r>
            <a:r>
              <a:rPr lang="en-US" sz="1400" b="0" u="none" strike="noStrike">
                <a:solidFill>
                  <a:srgbClr val="E9B913"/>
                </a:solidFill>
                <a:effectLst/>
                <a:uFillTx/>
                <a:latin typeface="Arial"/>
                <a:ea typeface="DejaVu Sans"/>
              </a:rPr>
              <a:t>"treatment": ... {"drugname": "lenvima", </a:t>
            </a:r>
            <a:r>
              <a:rPr lang="en-US" sz="1400" b="0" u="none" strike="noStrike">
                <a:solidFill>
                  <a:srgbClr val="FC5C00"/>
                </a:solidFill>
                <a:effectLst/>
                <a:uFillTx/>
                <a:latin typeface="Arial"/>
                <a:ea typeface="DejaVu Sans"/>
              </a:rPr>
              <a:t>"ingredient": "lenvatinib", </a:t>
            </a:r>
            <a:r>
              <a:rPr lang="en-US" sz="1400" b="0" u="none" strike="noStrike">
                <a:solidFill>
                  <a:srgbClr val="0BF311"/>
                </a:solidFill>
                <a:effectLst/>
                <a:uFillTx/>
                <a:latin typeface="Arial"/>
                <a:ea typeface="DejaVu Sans"/>
              </a:rPr>
              <a:t>"atc4": "other protein kinase inhibitors"</a:t>
            </a:r>
            <a:r>
              <a:rPr lang="en-US" sz="1400" b="0" u="none" strike="noStrike">
                <a:solidFill>
                  <a:srgbClr val="E9B913"/>
                </a:solidFill>
                <a:effectLst/>
                <a:uFillTx/>
                <a:latin typeface="Arial"/>
                <a:ea typeface="DejaVu Sans"/>
              </a:rPr>
              <a:t>, "route": "oral use", "dose": "20.0 mg capsule qd"}; ... {"drugname": "keytruda", "ingredient": "pembrolizumab", "atc4": "pd-1/pd-l1 (programmed cell death protein 1/death ligand 1) inhibitors", "route": "intravenous drip", "dose": "200.0 mg injection q3w"}; ..."</a:t>
            </a:r>
            <a:r>
              <a:rPr lang="en-US" sz="1400" b="0" u="none" strike="noStrike">
                <a:solidFill>
                  <a:srgbClr val="FFFFFF"/>
                </a:solidFill>
                <a:effectLst/>
                <a:uFillTx/>
                <a:latin typeface="Arial"/>
                <a:ea typeface="DejaVu Sans"/>
              </a:rPr>
              <a:t>, </a:t>
            </a:r>
            <a:r>
              <a:rPr lang="en-US" sz="1400" b="0" u="none" strike="noStrike">
                <a:solidFill>
                  <a:srgbClr val="63BBEE"/>
                </a:solidFill>
                <a:effectLst/>
                <a:uFillTx/>
                <a:latin typeface="Arial"/>
                <a:ea typeface="DejaVu Sans"/>
              </a:rPr>
              <a:t>"indi_pt": "renal cell carcinoma stage iv; metastatic renal cell carcinoma; renal cell carcinoma stage iv", </a:t>
            </a:r>
            <a:r>
              <a:rPr lang="en-US" sz="1400" b="0" u="none" strike="noStrike">
                <a:solidFill>
                  <a:srgbClr val="E327FF"/>
                </a:solidFill>
                <a:effectLst/>
                <a:uFillTx/>
                <a:latin typeface="Arial"/>
                <a:ea typeface="DejaVu Sans"/>
              </a:rPr>
              <a:t>"yr_qtr": "2026q1"</a:t>
            </a:r>
            <a:r>
              <a:rPr lang="en-US" sz="1400" b="0" u="none" strike="noStrike">
                <a:solidFill>
                  <a:srgbClr val="FFFFFF"/>
                </a:solidFill>
                <a:effectLst/>
                <a:uFillTx/>
                <a:latin typeface="Arial"/>
                <a:ea typeface="DejaVu Sans"/>
              </a:rPr>
              <a:t>}</a:t>
            </a:r>
            <a:endParaRPr lang="en-US" sz="1400" b="0" u="none" strike="noStrike">
              <a:solidFill>
                <a:srgbClr val="FFFFFF"/>
              </a:solidFill>
              <a:effectLst/>
              <a:uFillTx/>
              <a:latin typeface="Arial"/>
            </a:endParaRPr>
          </a:p>
        </p:txBody>
      </p:sp>
      <p:graphicFrame>
        <p:nvGraphicFramePr>
          <p:cNvPr id="124" name="Table 123"/>
          <p:cNvGraphicFramePr/>
          <p:nvPr/>
        </p:nvGraphicFramePr>
        <p:xfrm>
          <a:off x="813600" y="2931840"/>
          <a:ext cx="5358600" cy="1463040"/>
        </p:xfrm>
        <a:graphic>
          <a:graphicData uri="http://schemas.openxmlformats.org/drawingml/2006/table">
            <a:tbl>
              <a:tblPr/>
              <a:tblGrid>
                <a:gridCol w="1786320">
                  <a:extLst>
                    <a:ext uri="{9D8B030D-6E8A-4147-A177-3AD203B41FA5}">
                      <a16:colId xmlns:a16="http://schemas.microsoft.com/office/drawing/2014/main" val="20000"/>
                    </a:ext>
                  </a:extLst>
                </a:gridCol>
                <a:gridCol w="1786320">
                  <a:extLst>
                    <a:ext uri="{9D8B030D-6E8A-4147-A177-3AD203B41FA5}">
                      <a16:colId xmlns:a16="http://schemas.microsoft.com/office/drawing/2014/main" val="20001"/>
                    </a:ext>
                  </a:extLst>
                </a:gridCol>
                <a:gridCol w="1785960">
                  <a:extLst>
                    <a:ext uri="{9D8B030D-6E8A-4147-A177-3AD203B41FA5}">
                      <a16:colId xmlns:a16="http://schemas.microsoft.com/office/drawing/2014/main" val="20002"/>
                    </a:ext>
                  </a:extLst>
                </a:gridCol>
              </a:tblGrid>
              <a:tr h="328320">
                <a:tc>
                  <a:txBody>
                    <a:bodyPr/>
                    <a:lstStyle/>
                    <a:p>
                      <a:pPr algn="ctr">
                        <a:lnSpc>
                          <a:spcPct val="100000"/>
                        </a:lnSpc>
                      </a:pPr>
                      <a:r>
                        <a:rPr lang="en-US" sz="1800" b="1" u="none" strike="noStrike">
                          <a:solidFill>
                            <a:srgbClr val="000000"/>
                          </a:solidFill>
                          <a:effectLst/>
                          <a:uFillTx/>
                          <a:latin typeface="Arial"/>
                        </a:rPr>
                        <a:t>Type</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AADCF7"/>
                    </a:solidFill>
                  </a:tcPr>
                </a:tc>
                <a:tc>
                  <a:txBody>
                    <a:bodyPr/>
                    <a:lstStyle/>
                    <a:p>
                      <a:pPr algn="ctr">
                        <a:lnSpc>
                          <a:spcPct val="100000"/>
                        </a:lnSpc>
                      </a:pPr>
                      <a:r>
                        <a:rPr lang="en-US" sz="1800" b="1" u="none" strike="noStrike">
                          <a:solidFill>
                            <a:srgbClr val="000000"/>
                          </a:solidFill>
                          <a:effectLst/>
                          <a:uFillTx/>
                          <a:latin typeface="Arial"/>
                        </a:rPr>
                        <a:t>Period</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AADCF7"/>
                    </a:solidFill>
                  </a:tcPr>
                </a:tc>
                <a:tc>
                  <a:txBody>
                    <a:bodyPr/>
                    <a:lstStyle/>
                    <a:p>
                      <a:pPr algn="ctr">
                        <a:lnSpc>
                          <a:spcPct val="100000"/>
                        </a:lnSpc>
                      </a:pPr>
                      <a:r>
                        <a:rPr lang="en-US" sz="1800" b="1" u="none" strike="noStrike">
                          <a:solidFill>
                            <a:srgbClr val="000000"/>
                          </a:solidFill>
                          <a:effectLst/>
                          <a:uFillTx/>
                          <a:latin typeface="Arial"/>
                        </a:rPr>
                        <a:t>Count</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AADCF7"/>
                    </a:solidFill>
                  </a:tcPr>
                </a:tc>
                <a:extLst>
                  <a:ext uri="{0D108BD9-81ED-4DB2-BD59-A6C34878D82A}">
                    <a16:rowId xmlns:a16="http://schemas.microsoft.com/office/drawing/2014/main" val="10000"/>
                  </a:ext>
                </a:extLst>
              </a:tr>
              <a:tr h="328320">
                <a:tc>
                  <a:txBody>
                    <a:bodyPr/>
                    <a:lstStyle/>
                    <a:p>
                      <a:pPr algn="ctr">
                        <a:lnSpc>
                          <a:spcPct val="100000"/>
                        </a:lnSpc>
                      </a:pPr>
                      <a:r>
                        <a:rPr lang="en-US" sz="1800" b="0" u="none" strike="noStrike">
                          <a:solidFill>
                            <a:srgbClr val="000000"/>
                          </a:solidFill>
                          <a:effectLst/>
                          <a:highlight>
                            <a:srgbClr val="FDE9A9"/>
                          </a:highlight>
                          <a:uFillTx/>
                          <a:latin typeface="Arial"/>
                        </a:rPr>
                        <a:t>Retrieval DB</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highlight>
                            <a:srgbClr val="FDE9A9"/>
                          </a:highlight>
                          <a:uFillTx/>
                          <a:latin typeface="Arial"/>
                        </a:rPr>
                        <a:t>2004Q1-2024Q4</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highlight>
                            <a:srgbClr val="FDE9A9"/>
                          </a:highlight>
                          <a:uFillTx/>
                          <a:latin typeface="Arial"/>
                        </a:rPr>
                        <a:t>3,593,932</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cap="flat" cmpd="sng" algn="ctr">
                      <a:solidFill>
                        <a:srgbClr val="000000"/>
                      </a:solidFill>
                      <a:prstDash val="solid"/>
                      <a:round/>
                      <a:headEnd type="none" w="med" len="med"/>
                      <a:tailEnd type="none" w="med" len="med"/>
                    </a:lnT>
                    <a:lnB w="7200">
                      <a:solidFill>
                        <a:srgbClr val="000000"/>
                      </a:solidFill>
                      <a:prstDash val="solid"/>
                    </a:lnB>
                    <a:solidFill>
                      <a:srgbClr val="FDE9A9"/>
                    </a:solidFill>
                  </a:tcPr>
                </a:tc>
                <a:extLst>
                  <a:ext uri="{0D108BD9-81ED-4DB2-BD59-A6C34878D82A}">
                    <a16:rowId xmlns:a16="http://schemas.microsoft.com/office/drawing/2014/main" val="10001"/>
                  </a:ext>
                </a:extLst>
              </a:tr>
              <a:tr h="328320">
                <a:tc>
                  <a:txBody>
                    <a:bodyPr/>
                    <a:lstStyle/>
                    <a:p>
                      <a:pPr algn="ctr">
                        <a:lnSpc>
                          <a:spcPct val="100000"/>
                        </a:lnSpc>
                      </a:pPr>
                      <a:r>
                        <a:rPr lang="en-US" sz="1800" b="0" u="none" strike="noStrike">
                          <a:solidFill>
                            <a:srgbClr val="000000"/>
                          </a:solidFill>
                          <a:effectLst/>
                          <a:uFillTx/>
                          <a:latin typeface="Arial"/>
                        </a:rPr>
                        <a:t>Training Set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highlight>
                            <a:srgbClr val="FDE9A9"/>
                          </a:highlight>
                          <a:uFillTx/>
                          <a:latin typeface="Arial"/>
                        </a:rPr>
                        <a:t>2025Q1-2025Q3</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highlight>
                            <a:srgbClr val="FDE9A9"/>
                          </a:highlight>
                          <a:uFillTx/>
                          <a:latin typeface="Arial"/>
                        </a:rPr>
                        <a:t>166,120</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FDE9A9"/>
                    </a:solidFill>
                  </a:tcPr>
                </a:tc>
                <a:extLst>
                  <a:ext uri="{0D108BD9-81ED-4DB2-BD59-A6C34878D82A}">
                    <a16:rowId xmlns:a16="http://schemas.microsoft.com/office/drawing/2014/main" val="10002"/>
                  </a:ext>
                </a:extLst>
              </a:tr>
              <a:tr h="328320">
                <a:tc>
                  <a:txBody>
                    <a:bodyPr/>
                    <a:lstStyle/>
                    <a:p>
                      <a:pPr algn="ctr">
                        <a:lnSpc>
                          <a:spcPct val="100000"/>
                        </a:lnSpc>
                      </a:pPr>
                      <a:r>
                        <a:rPr lang="en-US" sz="1800" b="0" u="none" strike="noStrike">
                          <a:solidFill>
                            <a:srgbClr val="000000"/>
                          </a:solidFill>
                          <a:effectLst/>
                          <a:highlight>
                            <a:srgbClr val="FDE9A9"/>
                          </a:highlight>
                          <a:uFillTx/>
                          <a:latin typeface="Arial"/>
                        </a:rPr>
                        <a:t>OOT Set</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highlight>
                            <a:srgbClr val="FDE9A9"/>
                          </a:highlight>
                          <a:uFillTx/>
                          <a:latin typeface="Arial"/>
                        </a:rPr>
                        <a:t>2025Q4-2026Q1</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highlight>
                            <a:srgbClr val="FDE9A9"/>
                          </a:highlight>
                          <a:uFillTx/>
                          <a:latin typeface="Arial"/>
                        </a:rPr>
                        <a:t>106,428</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FDE9A9"/>
                    </a:solidFill>
                  </a:tcPr>
                </a:tc>
                <a:extLst>
                  <a:ext uri="{0D108BD9-81ED-4DB2-BD59-A6C34878D82A}">
                    <a16:rowId xmlns:a16="http://schemas.microsoft.com/office/drawing/2014/main" val="10003"/>
                  </a:ext>
                </a:extLst>
              </a:tr>
            </a:tbl>
          </a:graphicData>
        </a:graphic>
      </p:graphicFrame>
      <p:sp>
        <p:nvSpPr>
          <p:cNvPr id="125" name="Rectangle 124"/>
          <p:cNvSpPr/>
          <p:nvPr/>
        </p:nvSpPr>
        <p:spPr>
          <a:xfrm>
            <a:off x="6629400" y="5029200"/>
            <a:ext cx="4797000" cy="453600"/>
          </a:xfrm>
          <a:prstGeom prst="rect">
            <a:avLst/>
          </a:prstGeom>
          <a:solidFill>
            <a:srgbClr val="729FCF"/>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u="none" strike="noStrike">
                <a:solidFill>
                  <a:srgbClr val="000000"/>
                </a:solidFill>
                <a:effectLst/>
                <a:uFillTx/>
                <a:latin typeface="Arial"/>
                <a:ea typeface="DejaVu Sans"/>
              </a:rPr>
              <a:t>Construct Query in JSONL</a:t>
            </a:r>
            <a:endParaRPr lang="en-US" sz="1800" b="0" u="none" strike="noStrike">
              <a:solidFill>
                <a:srgbClr val="000000"/>
              </a:solidFill>
              <a:effectLst/>
              <a:uFillTx/>
              <a:latin typeface="Arial"/>
            </a:endParaRPr>
          </a:p>
        </p:txBody>
      </p:sp>
      <p:sp>
        <p:nvSpPr>
          <p:cNvPr id="126" name="Rectangle 9"/>
          <p:cNvSpPr/>
          <p:nvPr/>
        </p:nvSpPr>
        <p:spPr>
          <a:xfrm>
            <a:off x="7043040" y="1087200"/>
            <a:ext cx="153540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7" name="Rectangle 4"/>
          <p:cNvSpPr/>
          <p:nvPr/>
        </p:nvSpPr>
        <p:spPr>
          <a:xfrm>
            <a:off x="457200" y="1087200"/>
            <a:ext cx="1361160" cy="496800"/>
          </a:xfrm>
          <a:prstGeom prst="rect">
            <a:avLst/>
          </a:prstGeom>
          <a:solidFill>
            <a:srgbClr val="4A9ED6">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8" name="TextBox 5"/>
          <p:cNvSpPr/>
          <p:nvPr/>
        </p:nvSpPr>
        <p:spPr>
          <a:xfrm>
            <a:off x="470160" y="108720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129" name="TextBox 6"/>
          <p:cNvSpPr/>
          <p:nvPr/>
        </p:nvSpPr>
        <p:spPr>
          <a:xfrm>
            <a:off x="1773720" y="11800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30" name="Rectangle 7"/>
          <p:cNvSpPr/>
          <p:nvPr/>
        </p:nvSpPr>
        <p:spPr>
          <a:xfrm>
            <a:off x="2037960" y="110160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1" name="TextBox 8"/>
          <p:cNvSpPr/>
          <p:nvPr/>
        </p:nvSpPr>
        <p:spPr>
          <a:xfrm>
            <a:off x="2037960" y="110160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132" name="TextBox 9"/>
          <p:cNvSpPr/>
          <p:nvPr/>
        </p:nvSpPr>
        <p:spPr>
          <a:xfrm>
            <a:off x="3558240" y="118620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33" name="Rectangle 10"/>
          <p:cNvSpPr/>
          <p:nvPr/>
        </p:nvSpPr>
        <p:spPr>
          <a:xfrm>
            <a:off x="3803760" y="1087200"/>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134" name="TextBox 12"/>
          <p:cNvSpPr/>
          <p:nvPr/>
        </p:nvSpPr>
        <p:spPr>
          <a:xfrm>
            <a:off x="6756120" y="11739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35" name="Rectangle 13"/>
          <p:cNvSpPr/>
          <p:nvPr/>
        </p:nvSpPr>
        <p:spPr>
          <a:xfrm>
            <a:off x="5407560" y="108720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6" name="TextBox 15"/>
          <p:cNvSpPr/>
          <p:nvPr/>
        </p:nvSpPr>
        <p:spPr>
          <a:xfrm>
            <a:off x="8519400" y="11739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37" name="TextBox 1"/>
          <p:cNvSpPr/>
          <p:nvPr/>
        </p:nvSpPr>
        <p:spPr>
          <a:xfrm>
            <a:off x="7079760" y="110124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138" name="TextBox 22"/>
          <p:cNvSpPr/>
          <p:nvPr/>
        </p:nvSpPr>
        <p:spPr>
          <a:xfrm>
            <a:off x="5163840" y="118620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39" name="Rectangle 15"/>
          <p:cNvSpPr/>
          <p:nvPr/>
        </p:nvSpPr>
        <p:spPr>
          <a:xfrm>
            <a:off x="8812440" y="108648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140" name="TextBox 58"/>
          <p:cNvSpPr/>
          <p:nvPr/>
        </p:nvSpPr>
        <p:spPr>
          <a:xfrm>
            <a:off x="10164240" y="115200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41" name="Rectangle 57"/>
          <p:cNvSpPr/>
          <p:nvPr/>
        </p:nvSpPr>
        <p:spPr>
          <a:xfrm>
            <a:off x="10449720" y="1085040"/>
            <a:ext cx="1435320" cy="496800"/>
          </a:xfrm>
          <a:prstGeom prst="rect">
            <a:avLst/>
          </a:prstGeom>
          <a:solidFill>
            <a:srgbClr val="63BBEE">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2" name="Rectangle 141"/>
          <p:cNvSpPr/>
          <p:nvPr/>
        </p:nvSpPr>
        <p:spPr>
          <a:xfrm>
            <a:off x="2038436" y="1090527"/>
            <a:ext cx="149904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dirty="0">
                <a:solidFill>
                  <a:srgbClr val="000000"/>
                </a:solidFill>
                <a:effectLst/>
                <a:uFillTx/>
                <a:latin typeface="Calibri"/>
                <a:ea typeface="DejaVu Sans"/>
              </a:rPr>
              <a:t>Normalize Drug Name and ATC L4</a:t>
            </a:r>
            <a:endParaRPr lang="en-US" sz="1300" b="0" u="none" strike="noStrike" dirty="0">
              <a:solidFill>
                <a:srgbClr val="FFFFFF"/>
              </a:solidFill>
              <a:effectLst/>
              <a:uFillTx/>
              <a:latin typeface="Arial"/>
            </a:endParaRPr>
          </a:p>
        </p:txBody>
      </p:sp>
      <p:sp>
        <p:nvSpPr>
          <p:cNvPr id="143" name="Rectangle 142"/>
          <p:cNvSpPr/>
          <p:nvPr/>
        </p:nvSpPr>
        <p:spPr>
          <a:xfrm>
            <a:off x="453240" y="110628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44" name="Rectangle 35"/>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145" name="Rectangle 36"/>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6" name="TextBox 39"/>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1.3 Solution: PT to SOC Mapping to Define Target</a:t>
            </a:r>
            <a:endParaRPr lang="en-US" sz="2800" b="0" u="none" strike="noStrike">
              <a:solidFill>
                <a:srgbClr val="FFFFFF"/>
              </a:solidFill>
              <a:effectLst/>
              <a:uFillTx/>
              <a:latin typeface="Arial"/>
            </a:endParaRPr>
          </a:p>
        </p:txBody>
      </p:sp>
      <p:sp>
        <p:nvSpPr>
          <p:cNvPr id="147" name="Rectangle 146"/>
          <p:cNvSpPr/>
          <p:nvPr/>
        </p:nvSpPr>
        <p:spPr>
          <a:xfrm>
            <a:off x="1371600" y="1829160"/>
            <a:ext cx="95976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dirty="0">
                <a:solidFill>
                  <a:srgbClr val="FFFFFF"/>
                </a:solidFill>
                <a:effectLst/>
                <a:uFillTx/>
                <a:latin typeface="Arial"/>
                <a:ea typeface="DejaVu Sans"/>
              </a:rPr>
              <a:t>ADR in 11 Preferred Terms (PT):</a:t>
            </a:r>
            <a:r>
              <a:rPr lang="en-US" sz="1400" b="0" u="none" strike="noStrike" dirty="0">
                <a:solidFill>
                  <a:srgbClr val="FFFFFF"/>
                </a:solidFill>
                <a:effectLst/>
                <a:uFillTx/>
                <a:latin typeface="Arial"/>
                <a:ea typeface="DejaVu Sans"/>
              </a:rPr>
              <a:t> </a:t>
            </a:r>
            <a:r>
              <a:rPr lang="en-US" sz="1400" b="0" u="none" strike="noStrike" dirty="0">
                <a:solidFill>
                  <a:srgbClr val="43C330"/>
                </a:solidFill>
                <a:effectLst/>
                <a:uFillTx/>
                <a:latin typeface="Arial"/>
                <a:ea typeface="DejaVu Sans"/>
              </a:rPr>
              <a:t>ileus; dehydration; </a:t>
            </a:r>
            <a:r>
              <a:rPr lang="en-US" sz="1400" b="0" u="none" strike="noStrike" dirty="0" err="1">
                <a:solidFill>
                  <a:srgbClr val="43C330"/>
                </a:solidFill>
                <a:effectLst/>
                <a:uFillTx/>
                <a:latin typeface="Arial"/>
                <a:ea typeface="DejaVu Sans"/>
              </a:rPr>
              <a:t>faecaloma</a:t>
            </a:r>
            <a:r>
              <a:rPr lang="en-US" sz="1400" b="0" u="none" strike="noStrike" dirty="0">
                <a:solidFill>
                  <a:srgbClr val="43C330"/>
                </a:solidFill>
                <a:effectLst/>
                <a:uFillTx/>
                <a:latin typeface="Arial"/>
                <a:ea typeface="DejaVu Sans"/>
              </a:rPr>
              <a:t>; dizziness; cancer pain; decreased appetite; bacterial translocation; headache; </a:t>
            </a:r>
            <a:r>
              <a:rPr lang="en-US" sz="1400" b="0" u="none" strike="noStrike" dirty="0" err="1">
                <a:solidFill>
                  <a:srgbClr val="43C330"/>
                </a:solidFill>
                <a:effectLst/>
                <a:uFillTx/>
                <a:latin typeface="Arial"/>
                <a:ea typeface="DejaVu Sans"/>
              </a:rPr>
              <a:t>diarrhoea</a:t>
            </a:r>
            <a:r>
              <a:rPr lang="en-US" sz="1400" b="0" u="none" strike="noStrike" dirty="0">
                <a:solidFill>
                  <a:srgbClr val="43C330"/>
                </a:solidFill>
                <a:effectLst/>
                <a:uFillTx/>
                <a:latin typeface="Arial"/>
                <a:ea typeface="DejaVu Sans"/>
              </a:rPr>
              <a:t>; circulatory collapse; sepsis</a:t>
            </a:r>
            <a:endParaRPr lang="en-US" sz="1400" b="0" u="none" strike="noStrike" dirty="0">
              <a:solidFill>
                <a:srgbClr val="FFFFFF"/>
              </a:solidFill>
              <a:effectLst/>
              <a:uFillTx/>
              <a:latin typeface="Arial"/>
            </a:endParaRPr>
          </a:p>
        </p:txBody>
      </p:sp>
      <p:sp>
        <p:nvSpPr>
          <p:cNvPr id="148" name="Rectangle 147"/>
          <p:cNvSpPr/>
          <p:nvPr/>
        </p:nvSpPr>
        <p:spPr>
          <a:xfrm>
            <a:off x="914400" y="5029200"/>
            <a:ext cx="10054800" cy="73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FFFFFF"/>
                </a:solidFill>
                <a:effectLst/>
                <a:uFillTx/>
                <a:latin typeface="Arial"/>
                <a:ea typeface="DejaVu Sans"/>
              </a:rPr>
              <a:t>Mapped SOC:</a:t>
            </a:r>
            <a:r>
              <a:rPr lang="en-US" sz="1400" b="0" u="none" strike="noStrike">
                <a:solidFill>
                  <a:srgbClr val="FFFFFF"/>
                </a:solidFill>
                <a:effectLst/>
                <a:uFillTx/>
                <a:latin typeface="Arial"/>
                <a:ea typeface="DejaVu Sans"/>
              </a:rPr>
              <a:t> </a:t>
            </a:r>
            <a:r>
              <a:rPr lang="en-US" sz="1400" b="0" u="none" strike="noStrike">
                <a:solidFill>
                  <a:srgbClr val="F09E6F"/>
                </a:solidFill>
                <a:effectLst/>
                <a:uFillTx/>
                <a:latin typeface="Arial"/>
                <a:ea typeface="DejaVu Sans"/>
              </a:rPr>
              <a:t>'neoplasms benign, malignant and unspecified (incl cysts and polyps)', 'infections and infestations', 'gastrointestinal disorders', 'nervous system disorders', 'vascular disorders', 'cardiac disorders', 'metabolism and nutrition disorders', 'general disorders and administration site conditions'</a:t>
            </a:r>
            <a:endParaRPr lang="en-US" sz="1400" b="0" u="none" strike="noStrike">
              <a:solidFill>
                <a:srgbClr val="FFFFFF"/>
              </a:solidFill>
              <a:effectLst/>
              <a:uFillTx/>
              <a:latin typeface="Arial"/>
            </a:endParaRPr>
          </a:p>
        </p:txBody>
      </p:sp>
      <p:sp>
        <p:nvSpPr>
          <p:cNvPr id="149" name="Rectangle 148"/>
          <p:cNvSpPr/>
          <p:nvPr/>
        </p:nvSpPr>
        <p:spPr>
          <a:xfrm>
            <a:off x="915120" y="5943600"/>
            <a:ext cx="93682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FFFFFF"/>
                </a:solidFill>
                <a:effectLst/>
                <a:uFillTx/>
                <a:latin typeface="Arial"/>
                <a:ea typeface="DejaVu Sans"/>
              </a:rPr>
              <a:t>Multi-label SOC (8 positives out of 27 dimensions)</a:t>
            </a:r>
            <a:r>
              <a:rPr lang="en-US" sz="1400" b="0" u="none" strike="noStrike">
                <a:solidFill>
                  <a:srgbClr val="FFFFFF"/>
                </a:solidFill>
                <a:effectLst/>
                <a:uFillTx/>
                <a:latin typeface="Arial"/>
                <a:ea typeface="DejaVu Sans"/>
              </a:rPr>
              <a:t>:</a:t>
            </a:r>
            <a:r>
              <a:rPr lang="en-US" sz="1400" b="0" u="none" strike="noStrike">
                <a:solidFill>
                  <a:srgbClr val="0D3AE5"/>
                </a:solidFill>
                <a:effectLst/>
                <a:uFillTx/>
                <a:latin typeface="Arial"/>
                <a:ea typeface="DejaVu Sans"/>
              </a:rPr>
              <a:t> </a:t>
            </a:r>
            <a:r>
              <a:rPr lang="en-US" sz="1400" b="1" u="none" strike="noStrike">
                <a:solidFill>
                  <a:srgbClr val="63BBEE"/>
                </a:solidFill>
                <a:effectLst/>
                <a:uFillTx/>
                <a:latin typeface="Arial"/>
                <a:ea typeface="DejaVu Sans"/>
              </a:rPr>
              <a:t>[0 1 0 0 0 0 1 1 0 0 1 0 0 1 0 1 1 0 0 0 0 0 0 0 0 0 1]</a:t>
            </a:r>
            <a:endParaRPr lang="en-US" sz="1400" b="0" u="none" strike="noStrike">
              <a:solidFill>
                <a:srgbClr val="FFFFFF"/>
              </a:solidFill>
              <a:effectLst/>
              <a:uFillTx/>
              <a:latin typeface="Arial"/>
            </a:endParaRPr>
          </a:p>
        </p:txBody>
      </p:sp>
      <p:sp>
        <p:nvSpPr>
          <p:cNvPr id="150" name="Rectangle 149"/>
          <p:cNvSpPr/>
          <p:nvPr/>
        </p:nvSpPr>
        <p:spPr>
          <a:xfrm>
            <a:off x="2745000" y="2514600"/>
            <a:ext cx="9140400" cy="2509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57"/>
              </a:spcBef>
            </a:pPr>
            <a:r>
              <a:rPr lang="en-US" sz="1400" b="0" u="none" strike="noStrike" dirty="0">
                <a:solidFill>
                  <a:srgbClr val="18A303"/>
                </a:solidFill>
                <a:effectLst/>
                <a:uFillTx/>
                <a:latin typeface="Arial"/>
                <a:ea typeface="DejaVu Sans"/>
              </a:rPr>
              <a:t>ileus</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gastrointestinal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18A303"/>
                </a:solidFill>
                <a:effectLst/>
                <a:uFillTx/>
                <a:latin typeface="Arial"/>
                <a:ea typeface="DejaVu Sans"/>
              </a:rPr>
              <a:t>dehydration</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metabolism and nutrition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err="1">
                <a:solidFill>
                  <a:srgbClr val="18A303"/>
                </a:solidFill>
                <a:effectLst/>
                <a:uFillTx/>
                <a:latin typeface="Arial"/>
                <a:ea typeface="DejaVu Sans"/>
              </a:rPr>
              <a:t>faecaloma</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gastrointestinal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FC5C00"/>
                </a:solidFill>
                <a:effectLst/>
                <a:uFillTx/>
                <a:latin typeface="Arial"/>
                <a:ea typeface="DejaVu Sans"/>
              </a:rPr>
              <a:t>dizziness</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cardiac disorders</a:t>
            </a:r>
            <a:r>
              <a:rPr lang="en-US" sz="1400" b="0" u="none" strike="noStrike" dirty="0">
                <a:solidFill>
                  <a:srgbClr val="FFFFFF"/>
                </a:solidFill>
                <a:effectLst/>
                <a:uFillTx/>
                <a:latin typeface="Arial"/>
                <a:ea typeface="DejaVu Sans"/>
              </a:rPr>
              <a:t>', '</a:t>
            </a:r>
            <a:r>
              <a:rPr lang="en-US" sz="1400" b="0" u="none" strike="noStrike" dirty="0">
                <a:solidFill>
                  <a:srgbClr val="F09E6F"/>
                </a:solidFill>
                <a:effectLst/>
                <a:uFillTx/>
                <a:latin typeface="Arial"/>
                <a:ea typeface="DejaVu Sans"/>
              </a:rPr>
              <a:t>nervous system disorders</a:t>
            </a:r>
            <a:r>
              <a:rPr lang="en-US" sz="1400" b="0" u="none" strike="noStrike" dirty="0">
                <a:solidFill>
                  <a:srgbClr val="FFFFFF"/>
                </a:solidFill>
                <a:effectLst/>
                <a:uFillTx/>
                <a:latin typeface="Arial"/>
                <a:ea typeface="DejaVu Sans"/>
              </a:rPr>
              <a:t>', '</a:t>
            </a:r>
            <a:r>
              <a:rPr lang="en-US" sz="1400" b="0" u="none" strike="noStrike" dirty="0">
                <a:solidFill>
                  <a:srgbClr val="F09E6F"/>
                </a:solidFill>
                <a:effectLst/>
                <a:uFillTx/>
                <a:latin typeface="Arial"/>
                <a:ea typeface="DejaVu Sans"/>
              </a:rPr>
              <a:t>vascular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18A303"/>
                </a:solidFill>
                <a:effectLst/>
                <a:uFillTx/>
                <a:latin typeface="Arial"/>
                <a:ea typeface="DejaVu Sans"/>
              </a:rPr>
              <a:t>cancer pain</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neoplasms benign, malignant and unspecified (incl cysts and polyps)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FC5C00"/>
                </a:solidFill>
                <a:effectLst/>
                <a:uFillTx/>
                <a:latin typeface="Arial"/>
                <a:ea typeface="DejaVu Sans"/>
              </a:rPr>
              <a:t>decreased appetite</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general disorders and administration site conditions</a:t>
            </a:r>
            <a:r>
              <a:rPr lang="en-US" sz="1400" b="0" u="none" strike="noStrike" dirty="0">
                <a:solidFill>
                  <a:srgbClr val="FFFFFF"/>
                </a:solidFill>
                <a:effectLst/>
                <a:uFillTx/>
                <a:latin typeface="Arial"/>
                <a:ea typeface="DejaVu Sans"/>
              </a:rPr>
              <a:t>', '</a:t>
            </a:r>
            <a:r>
              <a:rPr lang="en-US" sz="1400" b="0" u="none" strike="noStrike" dirty="0">
                <a:solidFill>
                  <a:srgbClr val="F09E6F"/>
                </a:solidFill>
                <a:effectLst/>
                <a:uFillTx/>
                <a:latin typeface="Arial"/>
                <a:ea typeface="DejaVu Sans"/>
              </a:rPr>
              <a:t>metabolism and nutrition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18A303"/>
                </a:solidFill>
                <a:effectLst/>
                <a:uFillTx/>
                <a:latin typeface="Arial"/>
                <a:ea typeface="DejaVu Sans"/>
              </a:rPr>
              <a:t>bacterial translocation</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infections and infestations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18A303"/>
                </a:solidFill>
                <a:effectLst/>
                <a:uFillTx/>
                <a:latin typeface="Arial"/>
                <a:ea typeface="DejaVu Sans"/>
              </a:rPr>
              <a:t>headache</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nervous system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err="1">
                <a:solidFill>
                  <a:srgbClr val="18A303"/>
                </a:solidFill>
                <a:effectLst/>
                <a:uFillTx/>
                <a:latin typeface="Arial"/>
                <a:ea typeface="DejaVu Sans"/>
              </a:rPr>
              <a:t>diarrhoea</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gastrointestinal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18A303"/>
                </a:solidFill>
                <a:effectLst/>
                <a:uFillTx/>
                <a:latin typeface="Arial"/>
                <a:ea typeface="DejaVu Sans"/>
              </a:rPr>
              <a:t>circulatory collapse</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vascular disorders</a:t>
            </a:r>
            <a:r>
              <a:rPr lang="en-US" sz="1400" b="0" u="none" strike="noStrike" dirty="0">
                <a:solidFill>
                  <a:srgbClr val="FFFFFF"/>
                </a:solidFill>
                <a:effectLst/>
                <a:uFillTx/>
                <a:latin typeface="Arial"/>
                <a:ea typeface="DejaVu Sans"/>
              </a:rPr>
              <a:t>'] </a:t>
            </a:r>
            <a:endParaRPr lang="en-US" sz="1400" b="0" u="none" strike="noStrike" dirty="0">
              <a:solidFill>
                <a:srgbClr val="FFFFFF"/>
              </a:solidFill>
              <a:effectLst/>
              <a:uFillTx/>
              <a:latin typeface="Arial"/>
            </a:endParaRPr>
          </a:p>
          <a:p>
            <a:pPr>
              <a:lnSpc>
                <a:spcPct val="100000"/>
              </a:lnSpc>
              <a:spcBef>
                <a:spcPts val="57"/>
              </a:spcBef>
            </a:pPr>
            <a:r>
              <a:rPr lang="en-US" sz="1400" b="0" u="none" strike="noStrike" dirty="0">
                <a:solidFill>
                  <a:srgbClr val="18A303"/>
                </a:solidFill>
                <a:effectLst/>
                <a:uFillTx/>
                <a:latin typeface="Arial"/>
                <a:ea typeface="DejaVu Sans"/>
              </a:rPr>
              <a:t>sepsis</a:t>
            </a:r>
            <a:r>
              <a:rPr lang="en-US" sz="1400" b="0" u="none" strike="noStrike" dirty="0">
                <a:solidFill>
                  <a:srgbClr val="FFFFFF"/>
                </a:solidFill>
                <a:effectLst/>
                <a:uFillTx/>
                <a:latin typeface="Arial"/>
                <a:ea typeface="DejaVu Sans"/>
              </a:rPr>
              <a:t> -&gt; ['</a:t>
            </a:r>
            <a:r>
              <a:rPr lang="en-US" sz="1400" b="0" u="none" strike="noStrike" dirty="0">
                <a:solidFill>
                  <a:srgbClr val="F09E6F"/>
                </a:solidFill>
                <a:effectLst/>
                <a:uFillTx/>
                <a:latin typeface="Arial"/>
                <a:ea typeface="DejaVu Sans"/>
              </a:rPr>
              <a:t>infections and infestations</a:t>
            </a:r>
            <a:r>
              <a:rPr lang="en-US" sz="1400" b="0" u="none" strike="noStrike" dirty="0">
                <a:solidFill>
                  <a:srgbClr val="FFFFFF"/>
                </a:solidFill>
                <a:effectLst/>
                <a:uFillTx/>
                <a:latin typeface="Arial"/>
                <a:ea typeface="DejaVu Sans"/>
              </a:rPr>
              <a:t>']</a:t>
            </a:r>
            <a:endParaRPr lang="en-US" sz="1400" b="0" u="none" strike="noStrike" dirty="0">
              <a:solidFill>
                <a:srgbClr val="FFFFFF"/>
              </a:solidFill>
              <a:effectLst/>
              <a:uFillTx/>
              <a:latin typeface="Arial"/>
            </a:endParaRPr>
          </a:p>
        </p:txBody>
      </p:sp>
      <p:sp>
        <p:nvSpPr>
          <p:cNvPr id="151" name="Rectangle 150"/>
          <p:cNvSpPr/>
          <p:nvPr/>
        </p:nvSpPr>
        <p:spPr>
          <a:xfrm>
            <a:off x="685800" y="3429000"/>
            <a:ext cx="1828800" cy="684000"/>
          </a:xfrm>
          <a:prstGeom prst="rect">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0" u="none" strike="noStrike">
                <a:solidFill>
                  <a:srgbClr val="000000"/>
                </a:solidFill>
                <a:effectLst/>
                <a:uFillTx/>
                <a:latin typeface="Arial"/>
                <a:ea typeface="DejaVu Sans"/>
              </a:rPr>
              <a:t>1 PT to multiple SOC mapping</a:t>
            </a:r>
            <a:endParaRPr lang="en-US" sz="1800" b="0" u="none" strike="noStrike">
              <a:solidFill>
                <a:srgbClr val="000000"/>
              </a:solidFill>
              <a:effectLst/>
              <a:uFillTx/>
              <a:latin typeface="Arial"/>
            </a:endParaRPr>
          </a:p>
        </p:txBody>
      </p:sp>
      <p:grpSp>
        <p:nvGrpSpPr>
          <p:cNvPr id="152" name="Group 151"/>
          <p:cNvGrpSpPr/>
          <p:nvPr/>
        </p:nvGrpSpPr>
        <p:grpSpPr>
          <a:xfrm>
            <a:off x="457920" y="1058040"/>
            <a:ext cx="11427840" cy="525240"/>
            <a:chOff x="457920" y="1058040"/>
            <a:chExt cx="11427840" cy="525240"/>
          </a:xfrm>
        </p:grpSpPr>
        <p:sp>
          <p:nvSpPr>
            <p:cNvPr id="153" name="Rectangle 9"/>
            <p:cNvSpPr/>
            <p:nvPr/>
          </p:nvSpPr>
          <p:spPr>
            <a:xfrm>
              <a:off x="7043760" y="1072080"/>
              <a:ext cx="153540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4" name="Rectangle 4"/>
            <p:cNvSpPr/>
            <p:nvPr/>
          </p:nvSpPr>
          <p:spPr>
            <a:xfrm>
              <a:off x="457920" y="1072080"/>
              <a:ext cx="1361160" cy="496800"/>
            </a:xfrm>
            <a:prstGeom prst="rect">
              <a:avLst/>
            </a:prstGeom>
            <a:solidFill>
              <a:srgbClr val="4A9ED6">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5" name="TextBox 5"/>
            <p:cNvSpPr/>
            <p:nvPr/>
          </p:nvSpPr>
          <p:spPr>
            <a:xfrm>
              <a:off x="470880" y="107208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156" name="TextBox 6"/>
            <p:cNvSpPr/>
            <p:nvPr/>
          </p:nvSpPr>
          <p:spPr>
            <a:xfrm>
              <a:off x="1774440" y="11649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57" name="Rectangle 7"/>
            <p:cNvSpPr/>
            <p:nvPr/>
          </p:nvSpPr>
          <p:spPr>
            <a:xfrm>
              <a:off x="2038680" y="108648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8" name="TextBox 8"/>
            <p:cNvSpPr/>
            <p:nvPr/>
          </p:nvSpPr>
          <p:spPr>
            <a:xfrm>
              <a:off x="2038680" y="108648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159" name="TextBox 9"/>
            <p:cNvSpPr/>
            <p:nvPr/>
          </p:nvSpPr>
          <p:spPr>
            <a:xfrm>
              <a:off x="3558960" y="11710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60" name="Rectangle 10"/>
            <p:cNvSpPr/>
            <p:nvPr/>
          </p:nvSpPr>
          <p:spPr>
            <a:xfrm>
              <a:off x="3804480" y="1072080"/>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161" name="TextBox 12"/>
            <p:cNvSpPr/>
            <p:nvPr/>
          </p:nvSpPr>
          <p:spPr>
            <a:xfrm>
              <a:off x="6756840" y="11588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62" name="Rectangle 13"/>
            <p:cNvSpPr/>
            <p:nvPr/>
          </p:nvSpPr>
          <p:spPr>
            <a:xfrm>
              <a:off x="5408280" y="107208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3" name="TextBox 15"/>
            <p:cNvSpPr/>
            <p:nvPr/>
          </p:nvSpPr>
          <p:spPr>
            <a:xfrm>
              <a:off x="8520120" y="11588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64" name="TextBox 1"/>
            <p:cNvSpPr/>
            <p:nvPr/>
          </p:nvSpPr>
          <p:spPr>
            <a:xfrm>
              <a:off x="7080480" y="108612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165" name="TextBox 22"/>
            <p:cNvSpPr/>
            <p:nvPr/>
          </p:nvSpPr>
          <p:spPr>
            <a:xfrm>
              <a:off x="5164560" y="11710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66" name="Rectangle 15"/>
            <p:cNvSpPr/>
            <p:nvPr/>
          </p:nvSpPr>
          <p:spPr>
            <a:xfrm>
              <a:off x="8813160" y="107136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167" name="TextBox 58"/>
            <p:cNvSpPr/>
            <p:nvPr/>
          </p:nvSpPr>
          <p:spPr>
            <a:xfrm>
              <a:off x="10164960" y="11368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68" name="Rectangle 57"/>
            <p:cNvSpPr/>
            <p:nvPr/>
          </p:nvSpPr>
          <p:spPr>
            <a:xfrm>
              <a:off x="10450440" y="1069920"/>
              <a:ext cx="143532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9" name="Rectangle 168"/>
            <p:cNvSpPr/>
            <p:nvPr/>
          </p:nvSpPr>
          <p:spPr>
            <a:xfrm>
              <a:off x="10503720" y="1058040"/>
              <a:ext cx="1369800" cy="288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rlic"/>
                  <a:ea typeface="DejaVu Sans"/>
                </a:rPr>
                <a:t> </a:t>
              </a:r>
              <a:endParaRPr lang="en-US" sz="1300" b="0" u="none" strike="noStrike">
                <a:solidFill>
                  <a:srgbClr val="FFFFFF"/>
                </a:solidFill>
                <a:effectLst/>
                <a:uFillTx/>
                <a:latin typeface="Arial"/>
              </a:endParaRPr>
            </a:p>
          </p:txBody>
        </p:sp>
        <p:sp>
          <p:nvSpPr>
            <p:cNvPr id="170" name="Rectangle 169"/>
            <p:cNvSpPr/>
            <p:nvPr/>
          </p:nvSpPr>
          <p:spPr>
            <a:xfrm>
              <a:off x="3901140" y="1096920"/>
              <a:ext cx="1192680" cy="48636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Map PT to SOC</a:t>
              </a:r>
              <a:endParaRPr lang="en-US" sz="1300" b="0" u="none" strike="noStrike" dirty="0">
                <a:solidFill>
                  <a:srgbClr val="FFFFFF"/>
                </a:solidFill>
                <a:effectLst/>
                <a:uFillTx/>
                <a:latin typeface="Arial"/>
              </a:endParaRPr>
            </a:p>
          </p:txBody>
        </p:sp>
      </p:grpSp>
      <p:sp>
        <p:nvSpPr>
          <p:cNvPr id="171" name="Rectangle 170"/>
          <p:cNvSpPr/>
          <p:nvPr/>
        </p:nvSpPr>
        <p:spPr>
          <a:xfrm>
            <a:off x="2037240" y="1086480"/>
            <a:ext cx="154512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Normalize Drug Name and ATC L4</a:t>
            </a:r>
            <a:endParaRPr lang="en-US" sz="1300" b="0" u="none" strike="noStrike">
              <a:solidFill>
                <a:srgbClr val="FFFFFF"/>
              </a:solidFill>
              <a:effectLst/>
              <a:uFillTx/>
              <a:latin typeface="Arial"/>
            </a:endParaRPr>
          </a:p>
        </p:txBody>
      </p:sp>
      <p:sp>
        <p:nvSpPr>
          <p:cNvPr id="172" name="Rectangle 171"/>
          <p:cNvSpPr/>
          <p:nvPr/>
        </p:nvSpPr>
        <p:spPr>
          <a:xfrm>
            <a:off x="444960" y="107208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73" name="Rectangle 17"/>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174" name="Rectangle 19"/>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5" name="TextBox 30"/>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1.4 Solution: Fine-tune Embedding Model – Convert Text to Vector</a:t>
            </a:r>
            <a:endParaRPr lang="en-US" sz="2800" b="0" u="none" strike="noStrike">
              <a:solidFill>
                <a:srgbClr val="FFFFFF"/>
              </a:solidFill>
              <a:effectLst/>
              <a:uFillTx/>
              <a:latin typeface="Arial"/>
            </a:endParaRPr>
          </a:p>
        </p:txBody>
      </p:sp>
      <p:pic>
        <p:nvPicPr>
          <p:cNvPr id="176" name="Picture 175"/>
          <p:cNvPicPr/>
          <p:nvPr/>
        </p:nvPicPr>
        <p:blipFill>
          <a:blip r:embed="rId3"/>
          <a:stretch/>
        </p:blipFill>
        <p:spPr>
          <a:xfrm>
            <a:off x="1371600" y="1797120"/>
            <a:ext cx="4158000" cy="1858680"/>
          </a:xfrm>
          <a:prstGeom prst="rect">
            <a:avLst/>
          </a:prstGeom>
          <a:noFill/>
          <a:ln w="0">
            <a:noFill/>
          </a:ln>
        </p:spPr>
      </p:pic>
      <p:sp>
        <p:nvSpPr>
          <p:cNvPr id="177" name="Rectangle 176"/>
          <p:cNvSpPr/>
          <p:nvPr/>
        </p:nvSpPr>
        <p:spPr>
          <a:xfrm>
            <a:off x="6629400" y="2057400"/>
            <a:ext cx="4643640" cy="265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FFFFFF"/>
                </a:solidFill>
                <a:effectLst/>
                <a:uFillTx/>
                <a:latin typeface="Arial"/>
                <a:ea typeface="DejaVu Sans"/>
              </a:rPr>
              <a:t>Caseid Query:</a:t>
            </a:r>
            <a:r>
              <a:rPr lang="en-US" sz="1400" b="0" u="none" strike="noStrike">
                <a:solidFill>
                  <a:srgbClr val="FFFFFF"/>
                </a:solidFill>
                <a:effectLst/>
                <a:uFillTx/>
                <a:latin typeface="Arial"/>
                <a:ea typeface="DejaVu Sans"/>
              </a:rPr>
              <a:t> {</a:t>
            </a:r>
            <a:r>
              <a:rPr lang="en-US" sz="1400" b="0" u="none" strike="noStrike">
                <a:solidFill>
                  <a:srgbClr val="43C330"/>
                </a:solidFill>
                <a:effectLst/>
                <a:uFillTx/>
                <a:latin typeface="Arial"/>
                <a:ea typeface="DejaVu Sans"/>
              </a:rPr>
              <a:t>"patient": "{"age": "64.0", "age_cod": "yr", "gndr_cod": "m", "wt": "75.0", "wt_cod": "kg"}"</a:t>
            </a:r>
            <a:r>
              <a:rPr lang="en-US" sz="1400" b="0" u="none" strike="noStrike">
                <a:solidFill>
                  <a:srgbClr val="FFFFFF"/>
                </a:solidFill>
                <a:effectLst/>
                <a:uFillTx/>
                <a:latin typeface="Arial"/>
                <a:ea typeface="DejaVu Sans"/>
              </a:rPr>
              <a:t>, </a:t>
            </a:r>
            <a:r>
              <a:rPr lang="en-US" sz="1400" b="0" u="none" strike="noStrike">
                <a:solidFill>
                  <a:srgbClr val="E9B913"/>
                </a:solidFill>
                <a:effectLst/>
                <a:uFillTx/>
                <a:latin typeface="Arial"/>
                <a:ea typeface="DejaVu Sans"/>
              </a:rPr>
              <a:t>"treatment": ... {"drugname": "lenvima", </a:t>
            </a:r>
            <a:r>
              <a:rPr lang="en-US" sz="1400" b="0" u="none" strike="noStrike">
                <a:solidFill>
                  <a:srgbClr val="FC5C00"/>
                </a:solidFill>
                <a:effectLst/>
                <a:uFillTx/>
                <a:latin typeface="Arial"/>
                <a:ea typeface="DejaVu Sans"/>
              </a:rPr>
              <a:t>"ingredient": "lenvatinib", "atc4": "other protein kinase inhibitors"</a:t>
            </a:r>
            <a:r>
              <a:rPr lang="en-US" sz="1400" b="0" u="none" strike="noStrike">
                <a:solidFill>
                  <a:srgbClr val="E9B913"/>
                </a:solidFill>
                <a:effectLst/>
                <a:uFillTx/>
                <a:latin typeface="Arial"/>
                <a:ea typeface="DejaVu Sans"/>
              </a:rPr>
              <a:t>, "route": "oral use", "dose": "20.0 mg capsule qd"}; ... {"drugname": "keytruda", "ingredient": "pembrolizumab", "atc4": "pd-1/pd-l1 (programmed cell death protein 1/death ligand 1) inhibitors", "route": "intravenous drip", "dose": "200.0 mg injection q3w"}; ..."</a:t>
            </a:r>
            <a:r>
              <a:rPr lang="en-US" sz="1400" b="0" u="none" strike="noStrike">
                <a:solidFill>
                  <a:srgbClr val="FFFFFF"/>
                </a:solidFill>
                <a:effectLst/>
                <a:uFillTx/>
                <a:latin typeface="Arial"/>
                <a:ea typeface="DejaVu Sans"/>
              </a:rPr>
              <a:t>, </a:t>
            </a:r>
            <a:r>
              <a:rPr lang="en-US" sz="1400" b="0" u="none" strike="noStrike">
                <a:solidFill>
                  <a:srgbClr val="63BBEE"/>
                </a:solidFill>
                <a:effectLst/>
                <a:uFillTx/>
                <a:latin typeface="Arial"/>
                <a:ea typeface="DejaVu Sans"/>
              </a:rPr>
              <a:t>"indi_pt": "renal cell carcinoma stage iv; metastatic renal cell carcinoma; metastatic renal cell carcinoma; renal cell carcinoma stage iv", </a:t>
            </a:r>
            <a:r>
              <a:rPr lang="en-US" sz="1400" b="0" u="none" strike="noStrike">
                <a:solidFill>
                  <a:srgbClr val="E327FF"/>
                </a:solidFill>
                <a:effectLst/>
                <a:uFillTx/>
                <a:latin typeface="Arial"/>
                <a:ea typeface="DejaVu Sans"/>
              </a:rPr>
              <a:t>"yr_qtr": "2026q1"</a:t>
            </a:r>
            <a:r>
              <a:rPr lang="en-US" sz="1400" b="0" u="none" strike="noStrike">
                <a:solidFill>
                  <a:srgbClr val="FFFFFF"/>
                </a:solidFill>
                <a:effectLst/>
                <a:uFillTx/>
                <a:latin typeface="Arial"/>
                <a:ea typeface="DejaVu Sans"/>
              </a:rPr>
              <a:t>}</a:t>
            </a:r>
            <a:endParaRPr lang="en-US" sz="1400" b="0" u="none" strike="noStrike">
              <a:solidFill>
                <a:srgbClr val="FFFFFF"/>
              </a:solidFill>
              <a:effectLst/>
              <a:uFillTx/>
              <a:latin typeface="Arial"/>
            </a:endParaRPr>
          </a:p>
        </p:txBody>
      </p:sp>
      <p:sp>
        <p:nvSpPr>
          <p:cNvPr id="178" name="Rectangle 177"/>
          <p:cNvSpPr/>
          <p:nvPr/>
        </p:nvSpPr>
        <p:spPr>
          <a:xfrm>
            <a:off x="6629400" y="5212800"/>
            <a:ext cx="4797000" cy="73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rgbClr val="FFFFFF"/>
                </a:solidFill>
                <a:effectLst/>
                <a:uFillTx/>
                <a:latin typeface="Arial"/>
                <a:ea typeface="DejaVu Sans"/>
              </a:rPr>
              <a:t>Query Embedding (1024 dimension):</a:t>
            </a:r>
            <a:endParaRPr lang="en-US" sz="1400" b="0" u="none" strike="noStrike">
              <a:solidFill>
                <a:srgbClr val="FFFFFF"/>
              </a:solidFill>
              <a:effectLst/>
              <a:uFillTx/>
              <a:latin typeface="Arial"/>
            </a:endParaRPr>
          </a:p>
          <a:p>
            <a:pPr>
              <a:lnSpc>
                <a:spcPct val="100000"/>
              </a:lnSpc>
            </a:pPr>
            <a:r>
              <a:rPr lang="en-US" sz="1400" b="0" u="none" strike="noStrike">
                <a:solidFill>
                  <a:srgbClr val="2CEE0E"/>
                </a:solidFill>
                <a:effectLst/>
                <a:uFillTx/>
                <a:latin typeface="Arial"/>
                <a:ea typeface="DejaVu Sans"/>
              </a:rPr>
              <a:t>array([ 0.01515 , -0.006317, 0.03087 , ..., 0.02869 , 0.006718, -0.00535 ], shape=(</a:t>
            </a:r>
            <a:r>
              <a:rPr lang="en-US" sz="1400" b="0" u="none" strike="noStrike">
                <a:solidFill>
                  <a:srgbClr val="F09E6F"/>
                </a:solidFill>
                <a:effectLst/>
                <a:uFillTx/>
                <a:latin typeface="Arial"/>
                <a:ea typeface="DejaVu Sans"/>
              </a:rPr>
              <a:t>1024</a:t>
            </a:r>
            <a:r>
              <a:rPr lang="en-US" sz="1400" b="0" u="none" strike="noStrike">
                <a:solidFill>
                  <a:srgbClr val="2CEE0E"/>
                </a:solidFill>
                <a:effectLst/>
                <a:uFillTx/>
                <a:latin typeface="Arial"/>
                <a:ea typeface="DejaVu Sans"/>
              </a:rPr>
              <a:t>,), dtype=</a:t>
            </a:r>
            <a:r>
              <a:rPr lang="en-US" sz="1400" b="0" u="none" strike="noStrike">
                <a:solidFill>
                  <a:srgbClr val="F09E6F"/>
                </a:solidFill>
                <a:effectLst/>
                <a:uFillTx/>
                <a:latin typeface="Arial"/>
                <a:ea typeface="DejaVu Sans"/>
              </a:rPr>
              <a:t>float16</a:t>
            </a:r>
            <a:r>
              <a:rPr lang="en-US" sz="1400" b="0" u="none" strike="noStrike">
                <a:solidFill>
                  <a:srgbClr val="2CEE0E"/>
                </a:solidFill>
                <a:effectLst/>
                <a:uFillTx/>
                <a:latin typeface="Arial"/>
                <a:ea typeface="DejaVu Sans"/>
              </a:rPr>
              <a:t>)</a:t>
            </a:r>
            <a:endParaRPr lang="en-US" sz="1400" b="0" u="none" strike="noStrike">
              <a:solidFill>
                <a:srgbClr val="FFFFFF"/>
              </a:solidFill>
              <a:effectLst/>
              <a:uFillTx/>
              <a:latin typeface="Arial"/>
            </a:endParaRPr>
          </a:p>
        </p:txBody>
      </p:sp>
      <p:sp>
        <p:nvSpPr>
          <p:cNvPr id="179" name="Arrow: Down 178"/>
          <p:cNvSpPr/>
          <p:nvPr/>
        </p:nvSpPr>
        <p:spPr>
          <a:xfrm>
            <a:off x="8688600" y="4708800"/>
            <a:ext cx="225000" cy="453600"/>
          </a:xfrm>
          <a:prstGeom prst="downArrow">
            <a:avLst>
              <a:gd name="adj1" fmla="val 50000"/>
              <a:gd name="adj2" fmla="val 50000"/>
            </a:avLst>
          </a:prstGeom>
          <a:solidFill>
            <a:srgbClr val="729FCF">
              <a:alpha val="50000"/>
            </a:srgbClr>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1" u="none" strike="noStrike">
              <a:solidFill>
                <a:srgbClr val="000000"/>
              </a:solidFill>
              <a:effectLst/>
              <a:uFillTx/>
              <a:latin typeface="Arial"/>
            </a:endParaRPr>
          </a:p>
        </p:txBody>
      </p:sp>
      <p:grpSp>
        <p:nvGrpSpPr>
          <p:cNvPr id="180" name="Group 179"/>
          <p:cNvGrpSpPr/>
          <p:nvPr/>
        </p:nvGrpSpPr>
        <p:grpSpPr>
          <a:xfrm>
            <a:off x="862560" y="4802400"/>
            <a:ext cx="5307840" cy="1368000"/>
            <a:chOff x="862560" y="4802400"/>
            <a:chExt cx="5307840" cy="1368000"/>
          </a:xfrm>
        </p:grpSpPr>
        <p:pic>
          <p:nvPicPr>
            <p:cNvPr id="181" name="Picture 180"/>
            <p:cNvPicPr/>
            <p:nvPr/>
          </p:nvPicPr>
          <p:blipFill>
            <a:blip r:embed="rId4"/>
            <a:stretch/>
          </p:blipFill>
          <p:spPr>
            <a:xfrm>
              <a:off x="862560" y="4802400"/>
              <a:ext cx="5307840" cy="1368000"/>
            </a:xfrm>
            <a:prstGeom prst="rect">
              <a:avLst/>
            </a:prstGeom>
            <a:noFill/>
            <a:ln w="0">
              <a:noFill/>
            </a:ln>
          </p:spPr>
        </p:pic>
        <p:sp>
          <p:nvSpPr>
            <p:cNvPr id="182" name="Rectangle: Rounded Corners 181"/>
            <p:cNvSpPr/>
            <p:nvPr/>
          </p:nvSpPr>
          <p:spPr>
            <a:xfrm>
              <a:off x="903960" y="5067720"/>
              <a:ext cx="5254200" cy="225000"/>
            </a:xfrm>
            <a:prstGeom prst="roundRect">
              <a:avLst>
                <a:gd name="adj" fmla="val 16667"/>
              </a:avLst>
            </a:prstGeom>
            <a:solidFill>
              <a:srgbClr val="729FCF">
                <a:alpha val="50000"/>
              </a:srgbClr>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1" u="none" strike="noStrike">
                <a:solidFill>
                  <a:srgbClr val="000000"/>
                </a:solidFill>
                <a:effectLst/>
                <a:uFillTx/>
                <a:latin typeface="Arial"/>
              </a:endParaRPr>
            </a:p>
          </p:txBody>
        </p:sp>
      </p:grpSp>
      <p:sp>
        <p:nvSpPr>
          <p:cNvPr id="183" name="Rectangle 182"/>
          <p:cNvSpPr/>
          <p:nvPr/>
        </p:nvSpPr>
        <p:spPr>
          <a:xfrm>
            <a:off x="9102240" y="4708800"/>
            <a:ext cx="1297440" cy="367878"/>
          </a:xfrm>
          <a:prstGeom prst="rect">
            <a:avLst/>
          </a:prstGeom>
          <a:noFill/>
          <a:ln w="1836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800" b="0" u="none" strike="noStrike" dirty="0">
                <a:solidFill>
                  <a:srgbClr val="FFFFFF"/>
                </a:solidFill>
                <a:effectLst/>
                <a:uFillTx/>
                <a:latin typeface="Arial"/>
                <a:ea typeface="DejaVu Sans"/>
              </a:rPr>
              <a:t>Encode</a:t>
            </a:r>
            <a:endParaRPr lang="en-US" sz="1800" b="0" u="none" strike="noStrike" dirty="0">
              <a:solidFill>
                <a:srgbClr val="FFFFFF"/>
              </a:solidFill>
              <a:effectLst/>
              <a:uFillTx/>
              <a:latin typeface="Arial"/>
            </a:endParaRPr>
          </a:p>
        </p:txBody>
      </p:sp>
      <p:sp>
        <p:nvSpPr>
          <p:cNvPr id="184" name="Rectangle 9"/>
          <p:cNvSpPr/>
          <p:nvPr/>
        </p:nvSpPr>
        <p:spPr>
          <a:xfrm>
            <a:off x="7043400" y="1072080"/>
            <a:ext cx="1535400" cy="496800"/>
          </a:xfrm>
          <a:prstGeom prst="rect">
            <a:avLst/>
          </a:prstGeom>
          <a:solidFill>
            <a:srgbClr val="63BBEE">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5" name="Rectangle 4"/>
          <p:cNvSpPr/>
          <p:nvPr/>
        </p:nvSpPr>
        <p:spPr>
          <a:xfrm>
            <a:off x="457560" y="1072080"/>
            <a:ext cx="1361160" cy="496800"/>
          </a:xfrm>
          <a:prstGeom prst="rect">
            <a:avLst/>
          </a:prstGeom>
          <a:solidFill>
            <a:srgbClr val="63BBEE">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6" name="TextBox 5"/>
          <p:cNvSpPr/>
          <p:nvPr/>
        </p:nvSpPr>
        <p:spPr>
          <a:xfrm>
            <a:off x="470520" y="107208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187" name="TextBox 6"/>
          <p:cNvSpPr/>
          <p:nvPr/>
        </p:nvSpPr>
        <p:spPr>
          <a:xfrm>
            <a:off x="1774080" y="11649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88" name="Rectangle 7"/>
          <p:cNvSpPr/>
          <p:nvPr/>
        </p:nvSpPr>
        <p:spPr>
          <a:xfrm>
            <a:off x="2038320" y="108648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9" name="TextBox 8"/>
          <p:cNvSpPr/>
          <p:nvPr/>
        </p:nvSpPr>
        <p:spPr>
          <a:xfrm>
            <a:off x="2038320" y="108648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190" name="TextBox 9"/>
          <p:cNvSpPr/>
          <p:nvPr/>
        </p:nvSpPr>
        <p:spPr>
          <a:xfrm>
            <a:off x="3558600" y="11710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91" name="Rectangle 10"/>
          <p:cNvSpPr/>
          <p:nvPr/>
        </p:nvSpPr>
        <p:spPr>
          <a:xfrm>
            <a:off x="3793680" y="1056585"/>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192" name="TextBox 12"/>
          <p:cNvSpPr/>
          <p:nvPr/>
        </p:nvSpPr>
        <p:spPr>
          <a:xfrm>
            <a:off x="6756480" y="11588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93" name="Rectangle 13"/>
          <p:cNvSpPr/>
          <p:nvPr/>
        </p:nvSpPr>
        <p:spPr>
          <a:xfrm>
            <a:off x="5407920" y="107208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4" name="TextBox 15"/>
          <p:cNvSpPr/>
          <p:nvPr/>
        </p:nvSpPr>
        <p:spPr>
          <a:xfrm>
            <a:off x="8519760" y="11588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95" name="TextBox 1"/>
          <p:cNvSpPr/>
          <p:nvPr/>
        </p:nvSpPr>
        <p:spPr>
          <a:xfrm>
            <a:off x="7080120" y="108612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196" name="TextBox 22"/>
          <p:cNvSpPr/>
          <p:nvPr/>
        </p:nvSpPr>
        <p:spPr>
          <a:xfrm>
            <a:off x="5164200" y="11710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97" name="Rectangle 15"/>
          <p:cNvSpPr/>
          <p:nvPr/>
        </p:nvSpPr>
        <p:spPr>
          <a:xfrm>
            <a:off x="8812800" y="107136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198" name="TextBox 58"/>
          <p:cNvSpPr/>
          <p:nvPr/>
        </p:nvSpPr>
        <p:spPr>
          <a:xfrm>
            <a:off x="10164600" y="11368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199" name="Rectangle 57"/>
          <p:cNvSpPr/>
          <p:nvPr/>
        </p:nvSpPr>
        <p:spPr>
          <a:xfrm>
            <a:off x="10450080" y="1069920"/>
            <a:ext cx="1435320" cy="496800"/>
          </a:xfrm>
          <a:prstGeom prst="rect">
            <a:avLst/>
          </a:prstGeom>
          <a:solidFill>
            <a:srgbClr val="63BBEE">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0" name="Rectangle 199"/>
          <p:cNvSpPr/>
          <p:nvPr/>
        </p:nvSpPr>
        <p:spPr>
          <a:xfrm>
            <a:off x="10503360" y="1058040"/>
            <a:ext cx="1369800" cy="288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rlic"/>
                <a:ea typeface="DejaVu Sans"/>
              </a:rPr>
              <a:t> </a:t>
            </a:r>
            <a:endParaRPr lang="en-US" sz="1300" b="0" u="none" strike="noStrike">
              <a:solidFill>
                <a:srgbClr val="FFFFFF"/>
              </a:solidFill>
              <a:effectLst/>
              <a:uFillTx/>
              <a:latin typeface="Arial"/>
            </a:endParaRPr>
          </a:p>
        </p:txBody>
      </p:sp>
      <p:sp>
        <p:nvSpPr>
          <p:cNvPr id="201" name="Rectangle 200"/>
          <p:cNvSpPr/>
          <p:nvPr/>
        </p:nvSpPr>
        <p:spPr>
          <a:xfrm>
            <a:off x="5407920" y="1072080"/>
            <a:ext cx="139896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 Embedding Model</a:t>
            </a:r>
            <a:endParaRPr lang="en-US" sz="1300" b="0" u="none" strike="noStrike">
              <a:solidFill>
                <a:srgbClr val="FFFFFF"/>
              </a:solidFill>
              <a:effectLst/>
              <a:uFillTx/>
              <a:latin typeface="Arial"/>
            </a:endParaRPr>
          </a:p>
        </p:txBody>
      </p:sp>
      <p:pic>
        <p:nvPicPr>
          <p:cNvPr id="202" name="Picture 201"/>
          <p:cNvPicPr/>
          <p:nvPr/>
        </p:nvPicPr>
        <p:blipFill>
          <a:blip r:embed="rId5"/>
          <a:stretch/>
        </p:blipFill>
        <p:spPr>
          <a:xfrm>
            <a:off x="1600200" y="3657600"/>
            <a:ext cx="3702960" cy="858960"/>
          </a:xfrm>
          <a:prstGeom prst="rect">
            <a:avLst/>
          </a:prstGeom>
          <a:noFill/>
          <a:ln w="18360">
            <a:noFill/>
          </a:ln>
        </p:spPr>
      </p:pic>
      <p:sp>
        <p:nvSpPr>
          <p:cNvPr id="203" name="Rectangle 202"/>
          <p:cNvSpPr/>
          <p:nvPr/>
        </p:nvSpPr>
        <p:spPr>
          <a:xfrm>
            <a:off x="228600" y="3886200"/>
            <a:ext cx="1369800" cy="31896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b="0" u="none" strike="noStrike">
                <a:solidFill>
                  <a:srgbClr val="FFFFFF"/>
                </a:solidFill>
                <a:effectLst/>
                <a:uFillTx/>
                <a:latin typeface="Arial"/>
                <a:ea typeface="DejaVu Sans"/>
              </a:rPr>
              <a:t>Triple Loss:</a:t>
            </a:r>
            <a:endParaRPr lang="en-US" sz="1500" b="0" u="none" strike="noStrike">
              <a:solidFill>
                <a:srgbClr val="FFFFFF"/>
              </a:solidFill>
              <a:effectLst/>
              <a:uFillTx/>
              <a:latin typeface="Arial"/>
            </a:endParaRPr>
          </a:p>
        </p:txBody>
      </p:sp>
      <p:sp>
        <p:nvSpPr>
          <p:cNvPr id="204" name="Rectangle 203"/>
          <p:cNvSpPr/>
          <p:nvPr/>
        </p:nvSpPr>
        <p:spPr>
          <a:xfrm>
            <a:off x="2037240" y="1086840"/>
            <a:ext cx="154512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Normalize Drug Name and ATC L4</a:t>
            </a:r>
            <a:endParaRPr lang="en-US" sz="1300" b="0" u="none" strike="noStrike">
              <a:solidFill>
                <a:srgbClr val="FFFFFF"/>
              </a:solidFill>
              <a:effectLst/>
              <a:uFillTx/>
              <a:latin typeface="Arial"/>
            </a:endParaRPr>
          </a:p>
        </p:txBody>
      </p:sp>
      <p:sp>
        <p:nvSpPr>
          <p:cNvPr id="205" name="Rectangle 204"/>
          <p:cNvSpPr/>
          <p:nvPr/>
        </p:nvSpPr>
        <p:spPr>
          <a:xfrm>
            <a:off x="444960" y="107244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sp>
        <p:nvSpPr>
          <p:cNvPr id="206" name="Rectangle 205"/>
          <p:cNvSpPr/>
          <p:nvPr/>
        </p:nvSpPr>
        <p:spPr>
          <a:xfrm>
            <a:off x="4009320" y="1054785"/>
            <a:ext cx="1012680" cy="486360"/>
          </a:xfrm>
          <a:prstGeom prst="rect">
            <a:avLst/>
          </a:prstGeom>
          <a:noFill/>
          <a:ln w="1836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Map PT to SOC</a:t>
            </a:r>
            <a:endParaRPr lang="en-US" sz="1300" b="0" u="none" strike="noStrike" dirty="0">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07" name="Rectangle 16"/>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208" name="Rectangle 2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9" name="TextBox 2"/>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1.5 Solution: Construction Search DB and Information Retrieval</a:t>
            </a:r>
            <a:endParaRPr lang="en-US" sz="2800" b="0" u="none" strike="noStrike">
              <a:solidFill>
                <a:srgbClr val="FFFFFF"/>
              </a:solidFill>
              <a:effectLst/>
              <a:uFillTx/>
              <a:latin typeface="Arial"/>
            </a:endParaRPr>
          </a:p>
        </p:txBody>
      </p:sp>
      <p:sp>
        <p:nvSpPr>
          <p:cNvPr id="210" name="Rectangle 209"/>
          <p:cNvSpPr/>
          <p:nvPr/>
        </p:nvSpPr>
        <p:spPr>
          <a:xfrm>
            <a:off x="1600560" y="3200400"/>
            <a:ext cx="1596600" cy="2053800"/>
          </a:xfrm>
          <a:prstGeom prst="rect">
            <a:avLst/>
          </a:prstGeom>
          <a:solidFill>
            <a:srgbClr val="63BBEE"/>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216000" indent="-216000">
              <a:lnSpc>
                <a:spcPct val="100000"/>
              </a:lnSpc>
              <a:spcBef>
                <a:spcPts val="283"/>
              </a:spcBef>
              <a:spcAft>
                <a:spcPts val="283"/>
              </a:spcAft>
              <a:buClr>
                <a:srgbClr val="FFFFFF"/>
              </a:buClr>
              <a:buSzPct val="45000"/>
              <a:buFont typeface="Wingdings" charset="2"/>
              <a:buChar char=""/>
            </a:pPr>
            <a:r>
              <a:rPr lang="en-US" sz="1300" b="1" u="none" strike="noStrike">
                <a:solidFill>
                  <a:srgbClr val="000000"/>
                </a:solidFill>
                <a:effectLst/>
                <a:uFillTx/>
                <a:latin typeface="Arial"/>
                <a:ea typeface="DejaVu Sans"/>
              </a:rPr>
              <a:t>Patient: </a:t>
            </a:r>
            <a:r>
              <a:rPr lang="en-US" sz="1300" b="0" u="none" strike="noStrike">
                <a:solidFill>
                  <a:srgbClr val="000000"/>
                </a:solidFill>
                <a:effectLst/>
                <a:uFillTx/>
                <a:latin typeface="Arial"/>
                <a:ea typeface="DejaVu Sans"/>
              </a:rPr>
              <a:t>76 yr, F, 59.8 kg</a:t>
            </a:r>
            <a:endParaRPr lang="en-US" sz="1300" b="0" u="none" strike="noStrike">
              <a:solidFill>
                <a:srgbClr val="000000"/>
              </a:solidFill>
              <a:effectLst/>
              <a:uFillTx/>
              <a:latin typeface="Arial"/>
            </a:endParaRPr>
          </a:p>
          <a:p>
            <a:pPr marL="216000" indent="-216000">
              <a:lnSpc>
                <a:spcPct val="100000"/>
              </a:lnSpc>
              <a:spcBef>
                <a:spcPts val="340"/>
              </a:spcBef>
              <a:spcAft>
                <a:spcPts val="283"/>
              </a:spcAft>
              <a:buClr>
                <a:srgbClr val="FFFFFF"/>
              </a:buClr>
              <a:buSzPct val="45000"/>
              <a:buFont typeface="Wingdings" charset="2"/>
              <a:buChar char=""/>
            </a:pPr>
            <a:r>
              <a:rPr lang="en-US" sz="1300" b="1" u="none" strike="noStrike">
                <a:solidFill>
                  <a:srgbClr val="000000"/>
                </a:solidFill>
                <a:effectLst/>
                <a:uFillTx/>
                <a:latin typeface="Arial"/>
                <a:ea typeface="DejaVu Sans"/>
              </a:rPr>
              <a:t>Drug</a:t>
            </a:r>
            <a:r>
              <a:rPr lang="en-US" sz="1300" b="0" u="none" strike="noStrike">
                <a:solidFill>
                  <a:srgbClr val="000000"/>
                </a:solidFill>
                <a:effectLst/>
                <a:uFillTx/>
                <a:latin typeface="Arial"/>
                <a:ea typeface="DejaVu Sans"/>
              </a:rPr>
              <a:t>: mianserin hydrochloride, venlafaxine</a:t>
            </a:r>
            <a:endParaRPr lang="en-US" sz="1300" b="0" u="none" strike="noStrike">
              <a:solidFill>
                <a:srgbClr val="000000"/>
              </a:solidFill>
              <a:effectLst/>
              <a:uFillTx/>
              <a:latin typeface="Arial"/>
            </a:endParaRPr>
          </a:p>
          <a:p>
            <a:pPr marL="216000" indent="-216000">
              <a:lnSpc>
                <a:spcPct val="100000"/>
              </a:lnSpc>
              <a:spcBef>
                <a:spcPts val="340"/>
              </a:spcBef>
              <a:spcAft>
                <a:spcPts val="283"/>
              </a:spcAft>
              <a:buClr>
                <a:srgbClr val="FFFFFF"/>
              </a:buClr>
              <a:buSzPct val="45000"/>
              <a:buFont typeface="Wingdings" charset="2"/>
              <a:buChar char=""/>
            </a:pPr>
            <a:r>
              <a:rPr lang="en-US" sz="1300" b="1" u="none" strike="noStrike">
                <a:solidFill>
                  <a:srgbClr val="000000"/>
                </a:solidFill>
                <a:effectLst/>
                <a:uFillTx/>
                <a:latin typeface="Arial"/>
                <a:ea typeface="DejaVu Sans"/>
              </a:rPr>
              <a:t>Indication:</a:t>
            </a:r>
            <a:r>
              <a:rPr lang="en-US" sz="1300" b="0" u="none" strike="noStrike">
                <a:solidFill>
                  <a:srgbClr val="000000"/>
                </a:solidFill>
                <a:effectLst/>
                <a:uFillTx/>
                <a:latin typeface="Arial"/>
                <a:ea typeface="DejaVu Sans"/>
              </a:rPr>
              <a:t> depression</a:t>
            </a:r>
            <a:endParaRPr lang="en-US" sz="1300" b="0" u="none" strike="noStrike">
              <a:solidFill>
                <a:srgbClr val="000000"/>
              </a:solidFill>
              <a:effectLst/>
              <a:uFillTx/>
              <a:latin typeface="Arial"/>
            </a:endParaRPr>
          </a:p>
          <a:p>
            <a:pPr marL="216000" indent="-216000">
              <a:lnSpc>
                <a:spcPct val="100000"/>
              </a:lnSpc>
              <a:spcBef>
                <a:spcPts val="340"/>
              </a:spcBef>
              <a:spcAft>
                <a:spcPts val="283"/>
              </a:spcAft>
              <a:buClr>
                <a:srgbClr val="FFFFFF"/>
              </a:buClr>
              <a:buSzPct val="45000"/>
              <a:buFont typeface="Wingdings" charset="2"/>
              <a:buChar char=""/>
            </a:pPr>
            <a:r>
              <a:rPr lang="en-US" sz="1300" b="1" u="none" strike="noStrike">
                <a:solidFill>
                  <a:srgbClr val="000000"/>
                </a:solidFill>
                <a:effectLst/>
                <a:uFillTx/>
                <a:latin typeface="Arial"/>
                <a:ea typeface="DejaVu Sans"/>
              </a:rPr>
              <a:t>Yr_qtr</a:t>
            </a:r>
            <a:r>
              <a:rPr lang="en-US" sz="1300" b="0" u="none" strike="noStrike">
                <a:solidFill>
                  <a:srgbClr val="000000"/>
                </a:solidFill>
                <a:effectLst/>
                <a:uFillTx/>
                <a:latin typeface="Arial"/>
                <a:ea typeface="DejaVu Sans"/>
              </a:rPr>
              <a:t>: 2025q1</a:t>
            </a:r>
            <a:endParaRPr lang="en-US" sz="1300" b="0" u="none" strike="noStrike">
              <a:solidFill>
                <a:srgbClr val="000000"/>
              </a:solidFill>
              <a:effectLst/>
              <a:uFillTx/>
              <a:latin typeface="Arial"/>
            </a:endParaRPr>
          </a:p>
        </p:txBody>
      </p:sp>
      <p:sp>
        <p:nvSpPr>
          <p:cNvPr id="211" name="Arrow: Right 210"/>
          <p:cNvSpPr/>
          <p:nvPr/>
        </p:nvSpPr>
        <p:spPr>
          <a:xfrm>
            <a:off x="3429000" y="3200760"/>
            <a:ext cx="453600" cy="225000"/>
          </a:xfrm>
          <a:prstGeom prst="rightArrow">
            <a:avLst>
              <a:gd name="adj1" fmla="val 50000"/>
              <a:gd name="adj2" fmla="val 50000"/>
            </a:avLst>
          </a:prstGeom>
          <a:solidFill>
            <a:srgbClr val="FC5C00"/>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1" u="none" strike="noStrike">
              <a:solidFill>
                <a:srgbClr val="000000"/>
              </a:solidFill>
              <a:effectLst/>
              <a:uFillTx/>
              <a:latin typeface="Arial"/>
            </a:endParaRPr>
          </a:p>
        </p:txBody>
      </p:sp>
      <p:sp>
        <p:nvSpPr>
          <p:cNvPr id="212" name="Arrow: Right 211"/>
          <p:cNvSpPr/>
          <p:nvPr/>
        </p:nvSpPr>
        <p:spPr>
          <a:xfrm>
            <a:off x="3429360" y="5029560"/>
            <a:ext cx="453600" cy="225000"/>
          </a:xfrm>
          <a:prstGeom prst="rightArrow">
            <a:avLst>
              <a:gd name="adj1" fmla="val 50000"/>
              <a:gd name="adj2" fmla="val 50000"/>
            </a:avLst>
          </a:prstGeom>
          <a:solidFill>
            <a:srgbClr val="023F62"/>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1" u="none" strike="noStrike">
              <a:solidFill>
                <a:srgbClr val="FFFFFF"/>
              </a:solidFill>
              <a:effectLst/>
              <a:uFillTx/>
              <a:latin typeface="Arial"/>
            </a:endParaRPr>
          </a:p>
        </p:txBody>
      </p:sp>
      <p:sp>
        <p:nvSpPr>
          <p:cNvPr id="213" name="Rectangle 212"/>
          <p:cNvSpPr/>
          <p:nvPr/>
        </p:nvSpPr>
        <p:spPr>
          <a:xfrm>
            <a:off x="7086600" y="4572000"/>
            <a:ext cx="3425400" cy="1368000"/>
          </a:xfrm>
          <a:prstGeom prst="rect">
            <a:avLst/>
          </a:prstGeom>
          <a:solidFill>
            <a:srgbClr val="63BBEE"/>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u="none" strike="noStrike">
                <a:solidFill>
                  <a:srgbClr val="000000"/>
                </a:solidFill>
                <a:effectLst/>
                <a:uFillTx/>
                <a:latin typeface="Arial"/>
                <a:ea typeface="Noto Sans CJK SC"/>
              </a:rPr>
              <a:t>Top5 Lexical Matches</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300" b="1" u="none" strike="noStrike">
                <a:solidFill>
                  <a:srgbClr val="000000"/>
                </a:solidFill>
                <a:effectLst/>
                <a:uFillTx/>
                <a:latin typeface="Arial"/>
                <a:ea typeface="Noto Sans CJK SC"/>
              </a:rPr>
              <a:t>IDs</a:t>
            </a:r>
            <a:r>
              <a:rPr lang="en-US" sz="1300" b="0" u="none" strike="noStrike">
                <a:solidFill>
                  <a:srgbClr val="000000"/>
                </a:solidFill>
                <a:effectLst/>
                <a:uFillTx/>
                <a:latin typeface="Arial"/>
                <a:ea typeface="Noto Sans CJK SC"/>
              </a:rPr>
              <a:t>: [3227685, 2201309, 3274897, 3287041, 2859269]</a:t>
            </a:r>
            <a:endParaRPr lang="en-US" sz="1300" b="0" u="none" strike="noStrike">
              <a:solidFill>
                <a:srgbClr val="000000"/>
              </a:solidFill>
              <a:effectLst/>
              <a:uFillTx/>
              <a:latin typeface="Arial"/>
            </a:endParaRPr>
          </a:p>
          <a:p>
            <a:pPr>
              <a:lnSpc>
                <a:spcPct val="100000"/>
              </a:lnSpc>
              <a:spcBef>
                <a:spcPts val="340"/>
              </a:spcBef>
              <a:spcAft>
                <a:spcPts val="142"/>
              </a:spcAft>
            </a:pPr>
            <a:r>
              <a:rPr lang="en-US" sz="1300" b="1" u="none" strike="noStrike">
                <a:solidFill>
                  <a:srgbClr val="000000"/>
                </a:solidFill>
                <a:effectLst/>
                <a:uFillTx/>
                <a:latin typeface="Arial"/>
                <a:ea typeface="Noto Sans CJK SC"/>
              </a:rPr>
              <a:t>Scores</a:t>
            </a:r>
            <a:r>
              <a:rPr lang="en-US" sz="1300" b="0" u="none" strike="noStrike">
                <a:solidFill>
                  <a:srgbClr val="000000"/>
                </a:solidFill>
                <a:effectLst/>
                <a:uFillTx/>
                <a:latin typeface="Arial"/>
                <a:ea typeface="Noto Sans CJK SC"/>
              </a:rPr>
              <a:t>: [100.612854 , 100.36943817, 98.56613159, 95.6333847 ,  95.56513977]</a:t>
            </a:r>
            <a:endParaRPr lang="en-US" sz="1300" b="0" u="none" strike="noStrike">
              <a:solidFill>
                <a:srgbClr val="000000"/>
              </a:solidFill>
              <a:effectLst/>
              <a:uFillTx/>
              <a:latin typeface="Arial"/>
            </a:endParaRPr>
          </a:p>
        </p:txBody>
      </p:sp>
      <p:sp>
        <p:nvSpPr>
          <p:cNvPr id="214" name="Rectangle 213"/>
          <p:cNvSpPr/>
          <p:nvPr/>
        </p:nvSpPr>
        <p:spPr>
          <a:xfrm>
            <a:off x="7086600" y="2514600"/>
            <a:ext cx="3425400" cy="1368000"/>
          </a:xfrm>
          <a:prstGeom prst="rect">
            <a:avLst/>
          </a:prstGeom>
          <a:solidFill>
            <a:srgbClr val="63BBEE"/>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u="none" strike="noStrike">
                <a:solidFill>
                  <a:srgbClr val="000000"/>
                </a:solidFill>
                <a:effectLst/>
                <a:uFillTx/>
                <a:latin typeface="Arial"/>
                <a:ea typeface="Noto Sans CJK SC"/>
              </a:rPr>
              <a:t>Top5 Sematic Matches</a:t>
            </a:r>
            <a:endParaRPr lang="en-US" sz="1800" b="0" u="none" strike="noStrike">
              <a:solidFill>
                <a:srgbClr val="000000"/>
              </a:solidFill>
              <a:effectLst/>
              <a:uFillTx/>
              <a:latin typeface="Arial"/>
            </a:endParaRPr>
          </a:p>
          <a:p>
            <a:pPr>
              <a:lnSpc>
                <a:spcPct val="100000"/>
              </a:lnSpc>
              <a:spcBef>
                <a:spcPts val="340"/>
              </a:spcBef>
              <a:spcAft>
                <a:spcPts val="142"/>
              </a:spcAft>
            </a:pPr>
            <a:r>
              <a:rPr lang="en-US" sz="1300" b="1" u="none" strike="noStrike">
                <a:solidFill>
                  <a:srgbClr val="000000"/>
                </a:solidFill>
                <a:effectLst/>
                <a:uFillTx/>
                <a:latin typeface="Arial"/>
                <a:ea typeface="DejaVu Sans"/>
              </a:rPr>
              <a:t>IDs</a:t>
            </a:r>
            <a:r>
              <a:rPr lang="en-US" sz="1300" b="0" u="none" strike="noStrike">
                <a:solidFill>
                  <a:srgbClr val="000000"/>
                </a:solidFill>
                <a:effectLst/>
                <a:uFillTx/>
                <a:latin typeface="Arial"/>
                <a:ea typeface="DejaVu Sans"/>
              </a:rPr>
              <a:t>: [3238518, 3287456, 3423125, 3350654, 3245516]</a:t>
            </a:r>
            <a:endParaRPr lang="en-US" sz="1300" b="0" u="none" strike="noStrike">
              <a:solidFill>
                <a:srgbClr val="000000"/>
              </a:solidFill>
              <a:effectLst/>
              <a:uFillTx/>
              <a:latin typeface="Arial"/>
            </a:endParaRPr>
          </a:p>
          <a:p>
            <a:pPr>
              <a:lnSpc>
                <a:spcPct val="100000"/>
              </a:lnSpc>
              <a:spcBef>
                <a:spcPts val="340"/>
              </a:spcBef>
              <a:spcAft>
                <a:spcPts val="142"/>
              </a:spcAft>
            </a:pPr>
            <a:r>
              <a:rPr lang="en-US" sz="1300" b="1" u="none" strike="noStrike">
                <a:solidFill>
                  <a:srgbClr val="000000"/>
                </a:solidFill>
                <a:effectLst/>
                <a:uFillTx/>
                <a:latin typeface="Arial"/>
                <a:ea typeface="DejaVu Sans"/>
              </a:rPr>
              <a:t>Scores</a:t>
            </a:r>
            <a:r>
              <a:rPr lang="en-US" sz="1300" b="0" u="none" strike="noStrike">
                <a:solidFill>
                  <a:srgbClr val="000000"/>
                </a:solidFill>
                <a:effectLst/>
                <a:uFillTx/>
                <a:latin typeface="Arial"/>
                <a:ea typeface="DejaVu Sans"/>
              </a:rPr>
              <a:t>: [ 1.44758348, 0.90507292, -0.3958535 , -0.89441837, -1.06238452]</a:t>
            </a:r>
            <a:endParaRPr lang="en-US" sz="1300" b="0" u="none" strike="noStrike">
              <a:solidFill>
                <a:srgbClr val="000000"/>
              </a:solidFill>
              <a:effectLst/>
              <a:uFillTx/>
              <a:latin typeface="Arial"/>
            </a:endParaRPr>
          </a:p>
        </p:txBody>
      </p:sp>
      <p:sp>
        <p:nvSpPr>
          <p:cNvPr id="215" name="Arrow: Right 214"/>
          <p:cNvSpPr/>
          <p:nvPr/>
        </p:nvSpPr>
        <p:spPr>
          <a:xfrm>
            <a:off x="6519600" y="3200400"/>
            <a:ext cx="453600" cy="225000"/>
          </a:xfrm>
          <a:prstGeom prst="rightArrow">
            <a:avLst>
              <a:gd name="adj1" fmla="val 50000"/>
              <a:gd name="adj2" fmla="val 50000"/>
            </a:avLst>
          </a:prstGeom>
          <a:solidFill>
            <a:srgbClr val="FC5C00"/>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1" u="none" strike="noStrike">
              <a:solidFill>
                <a:srgbClr val="000000"/>
              </a:solidFill>
              <a:effectLst/>
              <a:uFillTx/>
              <a:latin typeface="Arial"/>
            </a:endParaRPr>
          </a:p>
        </p:txBody>
      </p:sp>
      <p:sp>
        <p:nvSpPr>
          <p:cNvPr id="216" name="Arrow: Right 215"/>
          <p:cNvSpPr/>
          <p:nvPr/>
        </p:nvSpPr>
        <p:spPr>
          <a:xfrm>
            <a:off x="6485040" y="5029200"/>
            <a:ext cx="453600" cy="225000"/>
          </a:xfrm>
          <a:prstGeom prst="rightArrow">
            <a:avLst>
              <a:gd name="adj1" fmla="val 50000"/>
              <a:gd name="adj2" fmla="val 50000"/>
            </a:avLst>
          </a:prstGeom>
          <a:solidFill>
            <a:srgbClr val="023F62"/>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1" u="none" strike="noStrike">
              <a:solidFill>
                <a:srgbClr val="FFFFFF"/>
              </a:solidFill>
              <a:effectLst/>
              <a:uFillTx/>
              <a:latin typeface="Arial"/>
            </a:endParaRPr>
          </a:p>
        </p:txBody>
      </p:sp>
      <p:pic>
        <p:nvPicPr>
          <p:cNvPr id="217" name="Picture 216"/>
          <p:cNvPicPr/>
          <p:nvPr/>
        </p:nvPicPr>
        <p:blipFill>
          <a:blip r:embed="rId3"/>
          <a:stretch/>
        </p:blipFill>
        <p:spPr>
          <a:xfrm>
            <a:off x="4082040" y="2984760"/>
            <a:ext cx="2278800" cy="682560"/>
          </a:xfrm>
          <a:prstGeom prst="rect">
            <a:avLst/>
          </a:prstGeom>
          <a:noFill/>
          <a:ln w="0">
            <a:noFill/>
          </a:ln>
        </p:spPr>
      </p:pic>
      <p:pic>
        <p:nvPicPr>
          <p:cNvPr id="218" name="Picture 217"/>
          <p:cNvPicPr/>
          <p:nvPr/>
        </p:nvPicPr>
        <p:blipFill>
          <a:blip r:embed="rId4"/>
          <a:stretch/>
        </p:blipFill>
        <p:spPr>
          <a:xfrm>
            <a:off x="4114800" y="4693298"/>
            <a:ext cx="2276640" cy="789861"/>
          </a:xfrm>
          <a:prstGeom prst="rect">
            <a:avLst/>
          </a:prstGeom>
          <a:noFill/>
          <a:ln w="0">
            <a:noFill/>
          </a:ln>
        </p:spPr>
      </p:pic>
      <p:sp>
        <p:nvSpPr>
          <p:cNvPr id="219" name="Rectangle 15"/>
          <p:cNvSpPr/>
          <p:nvPr/>
        </p:nvSpPr>
        <p:spPr>
          <a:xfrm>
            <a:off x="8812800" y="101484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220" name="TextBox 58"/>
          <p:cNvSpPr/>
          <p:nvPr/>
        </p:nvSpPr>
        <p:spPr>
          <a:xfrm>
            <a:off x="10164600" y="10803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21" name="Rectangle 57"/>
          <p:cNvSpPr/>
          <p:nvPr/>
        </p:nvSpPr>
        <p:spPr>
          <a:xfrm>
            <a:off x="10450080" y="1013400"/>
            <a:ext cx="1435320" cy="496800"/>
          </a:xfrm>
          <a:prstGeom prst="rect">
            <a:avLst/>
          </a:prstGeom>
          <a:solidFill>
            <a:srgbClr val="63BBEE">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2" name="Rectangle 221"/>
          <p:cNvSpPr/>
          <p:nvPr/>
        </p:nvSpPr>
        <p:spPr>
          <a:xfrm>
            <a:off x="10503360" y="1001520"/>
            <a:ext cx="1369800" cy="288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rlic"/>
                <a:ea typeface="DejaVu Sans"/>
              </a:rPr>
              <a:t> </a:t>
            </a:r>
            <a:endParaRPr lang="en-US" sz="1300" b="0" u="none" strike="noStrike">
              <a:solidFill>
                <a:srgbClr val="FFFFFF"/>
              </a:solidFill>
              <a:effectLst/>
              <a:uFillTx/>
              <a:latin typeface="Arial"/>
            </a:endParaRPr>
          </a:p>
        </p:txBody>
      </p:sp>
      <p:grpSp>
        <p:nvGrpSpPr>
          <p:cNvPr id="223" name="Group 222"/>
          <p:cNvGrpSpPr/>
          <p:nvPr/>
        </p:nvGrpSpPr>
        <p:grpSpPr>
          <a:xfrm>
            <a:off x="436320" y="1014840"/>
            <a:ext cx="8318520" cy="690840"/>
            <a:chOff x="436320" y="1014840"/>
            <a:chExt cx="8318520" cy="690840"/>
          </a:xfrm>
        </p:grpSpPr>
        <p:sp>
          <p:nvSpPr>
            <p:cNvPr id="224" name="Rectangle 9"/>
            <p:cNvSpPr/>
            <p:nvPr/>
          </p:nvSpPr>
          <p:spPr>
            <a:xfrm>
              <a:off x="7043400" y="1015560"/>
              <a:ext cx="153540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5" name="Rectangle 4"/>
            <p:cNvSpPr/>
            <p:nvPr/>
          </p:nvSpPr>
          <p:spPr>
            <a:xfrm>
              <a:off x="457560" y="1015560"/>
              <a:ext cx="1361160" cy="496800"/>
            </a:xfrm>
            <a:prstGeom prst="rect">
              <a:avLst/>
            </a:prstGeom>
            <a:solidFill>
              <a:srgbClr val="63BBEE">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6" name="TextBox 5"/>
            <p:cNvSpPr/>
            <p:nvPr/>
          </p:nvSpPr>
          <p:spPr>
            <a:xfrm>
              <a:off x="470520" y="101556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227" name="TextBox 6"/>
            <p:cNvSpPr/>
            <p:nvPr/>
          </p:nvSpPr>
          <p:spPr>
            <a:xfrm>
              <a:off x="1774080" y="11084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28" name="Rectangle 7"/>
            <p:cNvSpPr/>
            <p:nvPr/>
          </p:nvSpPr>
          <p:spPr>
            <a:xfrm>
              <a:off x="2038320" y="102996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9" name="TextBox 8"/>
            <p:cNvSpPr/>
            <p:nvPr/>
          </p:nvSpPr>
          <p:spPr>
            <a:xfrm>
              <a:off x="2038320" y="102996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230" name="TextBox 9"/>
            <p:cNvSpPr/>
            <p:nvPr/>
          </p:nvSpPr>
          <p:spPr>
            <a:xfrm>
              <a:off x="3558600" y="11145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31" name="Rectangle 10"/>
            <p:cNvSpPr/>
            <p:nvPr/>
          </p:nvSpPr>
          <p:spPr>
            <a:xfrm>
              <a:off x="3804120" y="1015560"/>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232" name="TextBox 12"/>
            <p:cNvSpPr/>
            <p:nvPr/>
          </p:nvSpPr>
          <p:spPr>
            <a:xfrm>
              <a:off x="6756480" y="110232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33" name="Rectangle 13"/>
            <p:cNvSpPr/>
            <p:nvPr/>
          </p:nvSpPr>
          <p:spPr>
            <a:xfrm>
              <a:off x="5407920" y="101556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4" name="TextBox 15"/>
            <p:cNvSpPr/>
            <p:nvPr/>
          </p:nvSpPr>
          <p:spPr>
            <a:xfrm>
              <a:off x="8519760" y="110232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35" name="TextBox 1"/>
            <p:cNvSpPr/>
            <p:nvPr/>
          </p:nvSpPr>
          <p:spPr>
            <a:xfrm>
              <a:off x="7080120" y="102960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236" name="TextBox 22"/>
            <p:cNvSpPr/>
            <p:nvPr/>
          </p:nvSpPr>
          <p:spPr>
            <a:xfrm>
              <a:off x="5164200" y="11145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37" name="Rectangle 236"/>
            <p:cNvSpPr/>
            <p:nvPr/>
          </p:nvSpPr>
          <p:spPr>
            <a:xfrm>
              <a:off x="7043400" y="1014840"/>
              <a:ext cx="153540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Hybrid Retrieve BM25 + Dense</a:t>
              </a:r>
              <a:endParaRPr lang="en-US" sz="1300" b="0" u="none" strike="noStrike">
                <a:solidFill>
                  <a:srgbClr val="FFFFFF"/>
                </a:solidFill>
                <a:effectLst/>
                <a:uFillTx/>
                <a:latin typeface="Arial"/>
              </a:endParaRPr>
            </a:p>
          </p:txBody>
        </p:sp>
        <p:sp>
          <p:nvSpPr>
            <p:cNvPr id="238" name="Rectangle 237"/>
            <p:cNvSpPr/>
            <p:nvPr/>
          </p:nvSpPr>
          <p:spPr>
            <a:xfrm>
              <a:off x="5408280" y="1015560"/>
              <a:ext cx="139896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 Embedding Model</a:t>
              </a:r>
              <a:endParaRPr lang="en-US" sz="1300" b="0" u="none" strike="noStrike">
                <a:solidFill>
                  <a:srgbClr val="FFFFFF"/>
                </a:solidFill>
                <a:effectLst/>
                <a:uFillTx/>
                <a:latin typeface="Arial"/>
              </a:endParaRPr>
            </a:p>
          </p:txBody>
        </p:sp>
        <p:sp>
          <p:nvSpPr>
            <p:cNvPr id="239" name="Rectangle 238"/>
            <p:cNvSpPr/>
            <p:nvPr/>
          </p:nvSpPr>
          <p:spPr>
            <a:xfrm>
              <a:off x="3933720" y="1020960"/>
              <a:ext cx="1192680" cy="48636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Map PT to SOC</a:t>
              </a:r>
              <a:endParaRPr lang="en-US" sz="1300" b="0" u="none" strike="noStrike" dirty="0">
                <a:solidFill>
                  <a:srgbClr val="FFFFFF"/>
                </a:solidFill>
                <a:effectLst/>
                <a:uFillTx/>
                <a:latin typeface="Arial"/>
              </a:endParaRPr>
            </a:p>
          </p:txBody>
        </p:sp>
        <p:sp>
          <p:nvSpPr>
            <p:cNvPr id="240" name="Rectangle 239"/>
            <p:cNvSpPr/>
            <p:nvPr/>
          </p:nvSpPr>
          <p:spPr>
            <a:xfrm>
              <a:off x="2053080" y="1029960"/>
              <a:ext cx="154512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Normalize Drug Name and ATC L4</a:t>
              </a:r>
              <a:endParaRPr lang="en-US" sz="1300" b="0" u="none" strike="noStrike">
                <a:solidFill>
                  <a:srgbClr val="FFFFFF"/>
                </a:solidFill>
                <a:effectLst/>
                <a:uFillTx/>
                <a:latin typeface="Arial"/>
              </a:endParaRPr>
            </a:p>
          </p:txBody>
        </p:sp>
        <p:sp>
          <p:nvSpPr>
            <p:cNvPr id="241" name="Rectangle 240"/>
            <p:cNvSpPr/>
            <p:nvPr/>
          </p:nvSpPr>
          <p:spPr>
            <a:xfrm>
              <a:off x="436320" y="102096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42" name="Rectangle 1"/>
          <p:cNvSpPr/>
          <p:nvPr/>
        </p:nvSpPr>
        <p:spPr>
          <a:xfrm>
            <a:off x="0" y="0"/>
            <a:ext cx="66960" cy="6851880"/>
          </a:xfrm>
          <a:prstGeom prst="rect">
            <a:avLst/>
          </a:prstGeom>
          <a:solidFill>
            <a:srgbClr val="5AC87A">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243" name="Rectangle 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4"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1.6 Solution: Fit Predictive Models </a:t>
            </a:r>
            <a:endParaRPr lang="en-US" sz="2800" b="0" u="none" strike="noStrike">
              <a:solidFill>
                <a:srgbClr val="FFFFFF"/>
              </a:solidFill>
              <a:effectLst/>
              <a:uFillTx/>
              <a:latin typeface="Arial"/>
            </a:endParaRPr>
          </a:p>
        </p:txBody>
      </p:sp>
      <p:grpSp>
        <p:nvGrpSpPr>
          <p:cNvPr id="3" name="Group 2">
            <a:extLst>
              <a:ext uri="{FF2B5EF4-FFF2-40B4-BE49-F238E27FC236}">
                <a16:creationId xmlns:a16="http://schemas.microsoft.com/office/drawing/2014/main" id="{44AFAEE0-2A72-A73D-BC13-3CF939CDC4F2}"/>
              </a:ext>
            </a:extLst>
          </p:cNvPr>
          <p:cNvGrpSpPr/>
          <p:nvPr/>
        </p:nvGrpSpPr>
        <p:grpSpPr>
          <a:xfrm>
            <a:off x="1000080" y="2845117"/>
            <a:ext cx="5940000" cy="2511000"/>
            <a:chOff x="5029200" y="2514600"/>
            <a:chExt cx="5940000" cy="2511000"/>
          </a:xfrm>
        </p:grpSpPr>
        <p:sp>
          <p:nvSpPr>
            <p:cNvPr id="246" name="Rectangle 245"/>
            <p:cNvSpPr/>
            <p:nvPr/>
          </p:nvSpPr>
          <p:spPr>
            <a:xfrm>
              <a:off x="5029200" y="3200400"/>
              <a:ext cx="1825200" cy="453600"/>
            </a:xfrm>
            <a:prstGeom prst="rect">
              <a:avLst/>
            </a:prstGeom>
            <a:solidFill>
              <a:srgbClr val="CCF4C6"/>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300" b="1" u="none" strike="noStrike">
                  <a:solidFill>
                    <a:srgbClr val="000000"/>
                  </a:solidFill>
                  <a:effectLst/>
                  <a:uFillTx/>
                  <a:latin typeface="Arial"/>
                  <a:ea typeface="DejaVu Sans"/>
                </a:rPr>
                <a:t>Normalized Score (1)</a:t>
              </a:r>
              <a:endParaRPr lang="en-US" sz="1300" b="0" u="none" strike="noStrike">
                <a:solidFill>
                  <a:srgbClr val="000000"/>
                </a:solidFill>
                <a:effectLst/>
                <a:uFillTx/>
                <a:latin typeface="Arial"/>
              </a:endParaRPr>
            </a:p>
          </p:txBody>
        </p:sp>
        <p:sp>
          <p:nvSpPr>
            <p:cNvPr id="247" name="Rectangle 246"/>
            <p:cNvSpPr/>
            <p:nvPr/>
          </p:nvSpPr>
          <p:spPr>
            <a:xfrm>
              <a:off x="6858000" y="3200400"/>
              <a:ext cx="1596600" cy="453600"/>
            </a:xfrm>
            <a:prstGeom prst="rect">
              <a:avLst/>
            </a:prstGeom>
            <a:solidFill>
              <a:srgbClr val="92E285"/>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300" b="1" u="none" strike="noStrike">
                  <a:solidFill>
                    <a:srgbClr val="000000"/>
                  </a:solidFill>
                  <a:effectLst/>
                  <a:uFillTx/>
                  <a:latin typeface="Arial"/>
                  <a:ea typeface="DejaVu Sans"/>
                </a:rPr>
                <a:t>Multi-label (27)</a:t>
              </a:r>
              <a:r>
                <a:rPr lang="en-US" sz="1300" b="0" u="none" strike="noStrike">
                  <a:solidFill>
                    <a:srgbClr val="000000"/>
                  </a:solidFill>
                  <a:effectLst/>
                  <a:uFillTx/>
                  <a:latin typeface="Arial"/>
                  <a:ea typeface="DejaVu Sans"/>
                </a:rPr>
                <a:t> </a:t>
              </a:r>
              <a:endParaRPr lang="en-US" sz="1300" b="0" u="none" strike="noStrike">
                <a:solidFill>
                  <a:srgbClr val="000000"/>
                </a:solidFill>
                <a:effectLst/>
                <a:uFillTx/>
                <a:latin typeface="Arial"/>
              </a:endParaRPr>
            </a:p>
          </p:txBody>
        </p:sp>
        <p:sp>
          <p:nvSpPr>
            <p:cNvPr id="248" name="Rectangle 247"/>
            <p:cNvSpPr/>
            <p:nvPr/>
          </p:nvSpPr>
          <p:spPr>
            <a:xfrm>
              <a:off x="8458200" y="3200400"/>
              <a:ext cx="2511000" cy="453600"/>
            </a:xfrm>
            <a:prstGeom prst="rect">
              <a:avLst/>
            </a:prstGeom>
            <a:solidFill>
              <a:srgbClr val="18A303"/>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300" b="1" u="none" strike="noStrike">
                  <a:solidFill>
                    <a:srgbClr val="000000"/>
                  </a:solidFill>
                  <a:effectLst/>
                  <a:uFillTx/>
                  <a:latin typeface="Arial"/>
                  <a:ea typeface="DejaVu Sans"/>
                </a:rPr>
                <a:t>Retrieval Embedding (1024)</a:t>
              </a:r>
              <a:endParaRPr lang="en-US" sz="1300" b="0" u="none" strike="noStrike">
                <a:solidFill>
                  <a:srgbClr val="FFFFFF"/>
                </a:solidFill>
                <a:effectLst/>
                <a:uFillTx/>
                <a:latin typeface="Arial"/>
              </a:endParaRPr>
            </a:p>
          </p:txBody>
        </p:sp>
        <p:sp>
          <p:nvSpPr>
            <p:cNvPr id="249" name="Rectangle 248"/>
            <p:cNvSpPr/>
            <p:nvPr/>
          </p:nvSpPr>
          <p:spPr>
            <a:xfrm>
              <a:off x="5029200" y="2514600"/>
              <a:ext cx="3425400" cy="453600"/>
            </a:xfrm>
            <a:prstGeom prst="rect">
              <a:avLst/>
            </a:prstGeom>
            <a:solidFill>
              <a:srgbClr val="63BBEE"/>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u="none" strike="noStrike" dirty="0">
                  <a:solidFill>
                    <a:srgbClr val="000000"/>
                  </a:solidFill>
                  <a:effectLst/>
                  <a:uFillTx/>
                  <a:latin typeface="Arial"/>
                  <a:ea typeface="DejaVu Sans"/>
                </a:rPr>
                <a:t>Input dimension: (10, 1052)</a:t>
              </a:r>
              <a:endParaRPr lang="en-US" sz="1800" b="0" u="none" strike="noStrike" dirty="0">
                <a:solidFill>
                  <a:srgbClr val="000000"/>
                </a:solidFill>
                <a:effectLst/>
                <a:uFillTx/>
                <a:latin typeface="Arial"/>
              </a:endParaRPr>
            </a:p>
          </p:txBody>
        </p:sp>
        <p:sp>
          <p:nvSpPr>
            <p:cNvPr id="250" name="Rectangle 249"/>
            <p:cNvSpPr/>
            <p:nvPr/>
          </p:nvSpPr>
          <p:spPr>
            <a:xfrm>
              <a:off x="5029200" y="3886200"/>
              <a:ext cx="3425400" cy="453600"/>
            </a:xfrm>
            <a:prstGeom prst="rect">
              <a:avLst/>
            </a:prstGeom>
            <a:solidFill>
              <a:srgbClr val="63BBEE"/>
            </a:solidFill>
            <a:ln w="0">
              <a:solidFill>
                <a:srgbClr val="F09E6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800" b="1" u="none" strike="noStrike">
                  <a:solidFill>
                    <a:srgbClr val="000000"/>
                  </a:solidFill>
                  <a:effectLst/>
                  <a:uFillTx/>
                  <a:latin typeface="Arial"/>
                  <a:ea typeface="DejaVu Sans"/>
                </a:rPr>
                <a:t>Output dimension: (27, )</a:t>
              </a:r>
              <a:endParaRPr lang="en-US" sz="1800" b="0" u="none" strike="noStrike">
                <a:solidFill>
                  <a:srgbClr val="000000"/>
                </a:solidFill>
                <a:effectLst/>
                <a:uFillTx/>
                <a:latin typeface="Arial"/>
              </a:endParaRPr>
            </a:p>
          </p:txBody>
        </p:sp>
        <p:sp>
          <p:nvSpPr>
            <p:cNvPr id="251" name="Rectangle 21"/>
            <p:cNvSpPr/>
            <p:nvPr/>
          </p:nvSpPr>
          <p:spPr>
            <a:xfrm>
              <a:off x="5031720" y="4572000"/>
              <a:ext cx="4565880" cy="453600"/>
            </a:xfrm>
            <a:prstGeom prst="rect">
              <a:avLst/>
            </a:prstGeom>
            <a:solidFill>
              <a:srgbClr val="CCF4C6"/>
            </a:solidFill>
            <a:ln w="9360">
              <a:solidFill>
                <a:srgbClr val="A33E03"/>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2" name="Rectangle 251"/>
            <p:cNvSpPr/>
            <p:nvPr/>
          </p:nvSpPr>
          <p:spPr>
            <a:xfrm>
              <a:off x="5135400" y="4639320"/>
              <a:ext cx="4339800" cy="303120"/>
            </a:xfrm>
            <a:prstGeom prst="rect">
              <a:avLst/>
            </a:prstGeom>
            <a:solidFill>
              <a:srgbClr val="CCF4C6"/>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dirty="0">
                  <a:solidFill>
                    <a:srgbClr val="000000"/>
                  </a:solidFill>
                  <a:effectLst/>
                  <a:uFillTx/>
                  <a:latin typeface="Arial"/>
                  <a:ea typeface="DejaVu Sans"/>
                </a:rPr>
                <a:t>[0 1 0 0 0 0 1 1 0 0 1 0 0 1 0 1 1 0 0 0 0 0 0 0 0 0 1]</a:t>
              </a:r>
              <a:endParaRPr lang="en-US" sz="1400" b="0" u="none" strike="noStrike" dirty="0">
                <a:solidFill>
                  <a:srgbClr val="000000"/>
                </a:solidFill>
                <a:effectLst/>
                <a:uFillTx/>
                <a:latin typeface="Arial"/>
              </a:endParaRPr>
            </a:p>
          </p:txBody>
        </p:sp>
      </p:grpSp>
      <p:sp>
        <p:nvSpPr>
          <p:cNvPr id="253" name="Rectangle 57"/>
          <p:cNvSpPr/>
          <p:nvPr/>
        </p:nvSpPr>
        <p:spPr>
          <a:xfrm>
            <a:off x="10450080" y="1001520"/>
            <a:ext cx="1435320" cy="496800"/>
          </a:xfrm>
          <a:prstGeom prst="rect">
            <a:avLst/>
          </a:prstGeom>
          <a:solidFill>
            <a:srgbClr val="63BBEE">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grpSp>
        <p:nvGrpSpPr>
          <p:cNvPr id="2" name="Group 1">
            <a:extLst>
              <a:ext uri="{FF2B5EF4-FFF2-40B4-BE49-F238E27FC236}">
                <a16:creationId xmlns:a16="http://schemas.microsoft.com/office/drawing/2014/main" id="{8923FEA9-70E0-2030-62EE-17EC601527FF}"/>
              </a:ext>
            </a:extLst>
          </p:cNvPr>
          <p:cNvGrpSpPr/>
          <p:nvPr/>
        </p:nvGrpSpPr>
        <p:grpSpPr>
          <a:xfrm>
            <a:off x="7401791" y="1706040"/>
            <a:ext cx="3966840" cy="5038200"/>
            <a:chOff x="833040" y="1608840"/>
            <a:chExt cx="3966840" cy="5038200"/>
          </a:xfrm>
        </p:grpSpPr>
        <p:pic>
          <p:nvPicPr>
            <p:cNvPr id="245" name="Picture 244"/>
            <p:cNvPicPr/>
            <p:nvPr/>
          </p:nvPicPr>
          <p:blipFill>
            <a:blip r:embed="rId3"/>
            <a:stretch/>
          </p:blipFill>
          <p:spPr>
            <a:xfrm>
              <a:off x="914400" y="1608840"/>
              <a:ext cx="3648240" cy="4561560"/>
            </a:xfrm>
            <a:prstGeom prst="rect">
              <a:avLst/>
            </a:prstGeom>
            <a:noFill/>
            <a:ln w="0">
              <a:noFill/>
            </a:ln>
          </p:spPr>
        </p:pic>
        <p:sp>
          <p:nvSpPr>
            <p:cNvPr id="254" name="Rectangle 253"/>
            <p:cNvSpPr/>
            <p:nvPr/>
          </p:nvSpPr>
          <p:spPr>
            <a:xfrm>
              <a:off x="833040" y="6283080"/>
              <a:ext cx="3966840" cy="363960"/>
            </a:xfrm>
            <a:prstGeom prst="rect">
              <a:avLst/>
            </a:prstGeom>
            <a:noFill/>
            <a:ln w="1836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800" b="0" u="none" strike="noStrike">
                  <a:solidFill>
                    <a:srgbClr val="FFFFFF"/>
                  </a:solidFill>
                  <a:effectLst/>
                  <a:uFillTx/>
                  <a:latin typeface="Arial"/>
                  <a:ea typeface="DejaVu Sans"/>
                </a:rPr>
                <a:t>Architecture of Deep Learning Model </a:t>
              </a:r>
              <a:endParaRPr lang="en-US" sz="1800" b="0" u="none" strike="noStrike">
                <a:solidFill>
                  <a:srgbClr val="FFFFFF"/>
                </a:solidFill>
                <a:effectLst/>
                <a:uFillTx/>
                <a:latin typeface="Arial"/>
              </a:endParaRPr>
            </a:p>
          </p:txBody>
        </p:sp>
      </p:grpSp>
      <p:grpSp>
        <p:nvGrpSpPr>
          <p:cNvPr id="255" name="Group 254"/>
          <p:cNvGrpSpPr/>
          <p:nvPr/>
        </p:nvGrpSpPr>
        <p:grpSpPr>
          <a:xfrm>
            <a:off x="436320" y="1002960"/>
            <a:ext cx="9963360" cy="703080"/>
            <a:chOff x="436320" y="1002960"/>
            <a:chExt cx="9963360" cy="703080"/>
          </a:xfrm>
        </p:grpSpPr>
        <p:sp>
          <p:nvSpPr>
            <p:cNvPr id="256" name="TextBox 5"/>
            <p:cNvSpPr/>
            <p:nvPr/>
          </p:nvSpPr>
          <p:spPr>
            <a:xfrm>
              <a:off x="470520" y="100368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257" name="TextBox 8"/>
            <p:cNvSpPr/>
            <p:nvPr/>
          </p:nvSpPr>
          <p:spPr>
            <a:xfrm>
              <a:off x="2038320" y="101808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258" name="TextBox 15"/>
            <p:cNvSpPr/>
            <p:nvPr/>
          </p:nvSpPr>
          <p:spPr>
            <a:xfrm>
              <a:off x="8519760" y="10904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59" name="TextBox 1"/>
            <p:cNvSpPr/>
            <p:nvPr/>
          </p:nvSpPr>
          <p:spPr>
            <a:xfrm>
              <a:off x="7080120" y="101772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260" name="Rectangle 15"/>
            <p:cNvSpPr/>
            <p:nvPr/>
          </p:nvSpPr>
          <p:spPr>
            <a:xfrm>
              <a:off x="8812800" y="100296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261" name="TextBox 58"/>
            <p:cNvSpPr/>
            <p:nvPr/>
          </p:nvSpPr>
          <p:spPr>
            <a:xfrm>
              <a:off x="10164600" y="10684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62" name="Rectangle 261"/>
            <p:cNvSpPr/>
            <p:nvPr/>
          </p:nvSpPr>
          <p:spPr>
            <a:xfrm>
              <a:off x="8806320" y="1026720"/>
              <a:ext cx="1369800" cy="490988"/>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Define Models</a:t>
              </a:r>
            </a:p>
            <a:p>
              <a:pPr algn="ctr">
                <a:lnSpc>
                  <a:spcPct val="100000"/>
                </a:lnSpc>
              </a:pPr>
              <a:r>
                <a:rPr lang="en-US" sz="1300" b="1" dirty="0">
                  <a:solidFill>
                    <a:srgbClr val="000000"/>
                  </a:solidFill>
                  <a:latin typeface="Calibri"/>
                </a:rPr>
                <a:t>(IV/DV)</a:t>
              </a:r>
              <a:endParaRPr lang="en-US" sz="1300" b="0" u="none" strike="noStrike" dirty="0">
                <a:solidFill>
                  <a:srgbClr val="FFFFFF"/>
                </a:solidFill>
                <a:effectLst/>
                <a:uFillTx/>
                <a:latin typeface="Arial"/>
              </a:endParaRPr>
            </a:p>
          </p:txBody>
        </p:sp>
        <p:grpSp>
          <p:nvGrpSpPr>
            <p:cNvPr id="263" name="Group 262"/>
            <p:cNvGrpSpPr/>
            <p:nvPr/>
          </p:nvGrpSpPr>
          <p:grpSpPr>
            <a:xfrm>
              <a:off x="436320" y="1015200"/>
              <a:ext cx="8318520" cy="690840"/>
              <a:chOff x="436320" y="1015200"/>
              <a:chExt cx="8318520" cy="690840"/>
            </a:xfrm>
          </p:grpSpPr>
          <p:sp>
            <p:nvSpPr>
              <p:cNvPr id="264" name="Rectangle 9"/>
              <p:cNvSpPr/>
              <p:nvPr/>
            </p:nvSpPr>
            <p:spPr>
              <a:xfrm>
                <a:off x="7043400" y="1015920"/>
                <a:ext cx="153540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5" name="Rectangle 4"/>
              <p:cNvSpPr/>
              <p:nvPr/>
            </p:nvSpPr>
            <p:spPr>
              <a:xfrm>
                <a:off x="457560" y="1015920"/>
                <a:ext cx="1361160" cy="496800"/>
              </a:xfrm>
              <a:prstGeom prst="rect">
                <a:avLst/>
              </a:prstGeom>
              <a:solidFill>
                <a:srgbClr val="63BBEE">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6" name="TextBox 5"/>
              <p:cNvSpPr/>
              <p:nvPr/>
            </p:nvSpPr>
            <p:spPr>
              <a:xfrm>
                <a:off x="470520" y="101592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267" name="TextBox 6"/>
              <p:cNvSpPr/>
              <p:nvPr/>
            </p:nvSpPr>
            <p:spPr>
              <a:xfrm>
                <a:off x="1774080" y="110880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68" name="Rectangle 7"/>
              <p:cNvSpPr/>
              <p:nvPr/>
            </p:nvSpPr>
            <p:spPr>
              <a:xfrm>
                <a:off x="2038320" y="103032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9" name="TextBox 8"/>
              <p:cNvSpPr/>
              <p:nvPr/>
            </p:nvSpPr>
            <p:spPr>
              <a:xfrm>
                <a:off x="2038320" y="103032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270" name="TextBox 9"/>
              <p:cNvSpPr/>
              <p:nvPr/>
            </p:nvSpPr>
            <p:spPr>
              <a:xfrm>
                <a:off x="3558600" y="111492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71" name="Rectangle 10"/>
              <p:cNvSpPr/>
              <p:nvPr/>
            </p:nvSpPr>
            <p:spPr>
              <a:xfrm>
                <a:off x="3804120" y="1015920"/>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272" name="TextBox 12"/>
              <p:cNvSpPr/>
              <p:nvPr/>
            </p:nvSpPr>
            <p:spPr>
              <a:xfrm>
                <a:off x="6756480" y="11026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73" name="Rectangle 13"/>
              <p:cNvSpPr/>
              <p:nvPr/>
            </p:nvSpPr>
            <p:spPr>
              <a:xfrm>
                <a:off x="5407920" y="101592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4" name="TextBox 15"/>
              <p:cNvSpPr/>
              <p:nvPr/>
            </p:nvSpPr>
            <p:spPr>
              <a:xfrm>
                <a:off x="8519760" y="11026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75" name="TextBox 1"/>
              <p:cNvSpPr/>
              <p:nvPr/>
            </p:nvSpPr>
            <p:spPr>
              <a:xfrm>
                <a:off x="7080120" y="102996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276" name="TextBox 22"/>
              <p:cNvSpPr/>
              <p:nvPr/>
            </p:nvSpPr>
            <p:spPr>
              <a:xfrm>
                <a:off x="5164200" y="111492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77" name="Rectangle 276"/>
              <p:cNvSpPr/>
              <p:nvPr/>
            </p:nvSpPr>
            <p:spPr>
              <a:xfrm>
                <a:off x="7043400" y="1015200"/>
                <a:ext cx="153540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Hybrid Retrieve BM25 + Dense</a:t>
                </a:r>
                <a:endParaRPr lang="en-US" sz="1300" b="0" u="none" strike="noStrike">
                  <a:solidFill>
                    <a:srgbClr val="FFFFFF"/>
                  </a:solidFill>
                  <a:effectLst/>
                  <a:uFillTx/>
                  <a:latin typeface="Arial"/>
                </a:endParaRPr>
              </a:p>
            </p:txBody>
          </p:sp>
          <p:sp>
            <p:nvSpPr>
              <p:cNvPr id="278" name="Rectangle 277"/>
              <p:cNvSpPr/>
              <p:nvPr/>
            </p:nvSpPr>
            <p:spPr>
              <a:xfrm>
                <a:off x="5408280" y="1015920"/>
                <a:ext cx="139896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 Embedding Model</a:t>
                </a:r>
                <a:endParaRPr lang="en-US" sz="1300" b="0" u="none" strike="noStrike">
                  <a:solidFill>
                    <a:srgbClr val="FFFFFF"/>
                  </a:solidFill>
                  <a:effectLst/>
                  <a:uFillTx/>
                  <a:latin typeface="Arial"/>
                </a:endParaRPr>
              </a:p>
            </p:txBody>
          </p:sp>
          <p:sp>
            <p:nvSpPr>
              <p:cNvPr id="279" name="Rectangle 278"/>
              <p:cNvSpPr/>
              <p:nvPr/>
            </p:nvSpPr>
            <p:spPr>
              <a:xfrm>
                <a:off x="3970080" y="1030680"/>
                <a:ext cx="1018080" cy="496440"/>
              </a:xfrm>
              <a:prstGeom prst="rect">
                <a:avLst/>
              </a:prstGeom>
              <a:noFill/>
              <a:ln w="1836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Map PT to SOC</a:t>
                </a:r>
                <a:endParaRPr lang="en-US" sz="1300" b="0" u="none" strike="noStrike" dirty="0">
                  <a:solidFill>
                    <a:srgbClr val="FFFFFF"/>
                  </a:solidFill>
                  <a:effectLst/>
                  <a:uFillTx/>
                  <a:latin typeface="Arial"/>
                </a:endParaRPr>
              </a:p>
            </p:txBody>
          </p:sp>
          <p:sp>
            <p:nvSpPr>
              <p:cNvPr id="280" name="Rectangle 279"/>
              <p:cNvSpPr/>
              <p:nvPr/>
            </p:nvSpPr>
            <p:spPr>
              <a:xfrm>
                <a:off x="2053080" y="1030320"/>
                <a:ext cx="154512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Normalize Drug Name and ATC L4</a:t>
                </a:r>
                <a:endParaRPr lang="en-US" sz="1300" b="0" u="none" strike="noStrike">
                  <a:solidFill>
                    <a:srgbClr val="FFFFFF"/>
                  </a:solidFill>
                  <a:effectLst/>
                  <a:uFillTx/>
                  <a:latin typeface="Arial"/>
                </a:endParaRPr>
              </a:p>
            </p:txBody>
          </p:sp>
          <p:sp>
            <p:nvSpPr>
              <p:cNvPr id="281" name="Rectangle 280"/>
              <p:cNvSpPr/>
              <p:nvPr/>
            </p:nvSpPr>
            <p:spPr>
              <a:xfrm>
                <a:off x="436320" y="102132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82" name="Rectangle 1"/>
          <p:cNvSpPr/>
          <p:nvPr/>
        </p:nvSpPr>
        <p:spPr>
          <a:xfrm>
            <a:off x="0" y="0"/>
            <a:ext cx="66960" cy="6851880"/>
          </a:xfrm>
          <a:prstGeom prst="rect">
            <a:avLst/>
          </a:prstGeom>
          <a:solidFill>
            <a:srgbClr val="5AC87A">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283" name="Rectangle 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4"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1.7 Evaluation: Benchmarking Model Performance Against the Baseline </a:t>
            </a:r>
            <a:endParaRPr lang="en-US" sz="2800" b="0" u="none" strike="noStrike">
              <a:solidFill>
                <a:srgbClr val="FFFFFF"/>
              </a:solidFill>
              <a:effectLst/>
              <a:uFillTx/>
              <a:latin typeface="Arial"/>
            </a:endParaRPr>
          </a:p>
        </p:txBody>
      </p:sp>
      <p:sp>
        <p:nvSpPr>
          <p:cNvPr id="285" name="Rectangle 284"/>
          <p:cNvSpPr/>
          <p:nvPr/>
        </p:nvSpPr>
        <p:spPr>
          <a:xfrm>
            <a:off x="7774920" y="5715000"/>
            <a:ext cx="3196080" cy="452880"/>
          </a:xfrm>
          <a:prstGeom prst="rect">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500" b="0" u="none" strike="noStrike">
                <a:solidFill>
                  <a:srgbClr val="000000"/>
                </a:solidFill>
                <a:effectLst/>
                <a:uFillTx/>
                <a:latin typeface="Arial"/>
                <a:ea typeface="DejaVu Sans"/>
              </a:rPr>
              <a:t>Evaluation on Val and OOT Sets</a:t>
            </a:r>
            <a:endParaRPr lang="en-US" sz="1500" b="0" u="none" strike="noStrike">
              <a:solidFill>
                <a:srgbClr val="000000"/>
              </a:solidFill>
              <a:effectLst/>
              <a:uFillTx/>
              <a:latin typeface="Arial"/>
            </a:endParaRPr>
          </a:p>
        </p:txBody>
      </p:sp>
      <p:sp>
        <p:nvSpPr>
          <p:cNvPr id="286" name="Rectangle 285"/>
          <p:cNvSpPr/>
          <p:nvPr/>
        </p:nvSpPr>
        <p:spPr>
          <a:xfrm>
            <a:off x="2517120" y="5715000"/>
            <a:ext cx="3196080" cy="452880"/>
          </a:xfrm>
          <a:prstGeom prst="rect">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1500" b="0" u="none" strike="noStrike">
                <a:solidFill>
                  <a:srgbClr val="000000"/>
                </a:solidFill>
                <a:effectLst/>
                <a:uFillTx/>
                <a:latin typeface="Arial"/>
                <a:ea typeface="DejaVu Sans"/>
              </a:rPr>
              <a:t>KNN Vote Prior and ML Baselines</a:t>
            </a:r>
            <a:endParaRPr lang="en-US" sz="1500" b="0" u="none" strike="noStrike">
              <a:solidFill>
                <a:srgbClr val="000000"/>
              </a:solidFill>
              <a:effectLst/>
              <a:uFillTx/>
              <a:latin typeface="Arial"/>
            </a:endParaRPr>
          </a:p>
        </p:txBody>
      </p:sp>
      <p:sp>
        <p:nvSpPr>
          <p:cNvPr id="287" name="Rectangle 57"/>
          <p:cNvSpPr/>
          <p:nvPr/>
        </p:nvSpPr>
        <p:spPr>
          <a:xfrm>
            <a:off x="10450440" y="1001880"/>
            <a:ext cx="1435320" cy="496800"/>
          </a:xfrm>
          <a:prstGeom prst="rect">
            <a:avLst/>
          </a:prstGeom>
          <a:solidFill>
            <a:srgbClr val="63BBEE">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8" name="Rectangle 287"/>
          <p:cNvSpPr/>
          <p:nvPr/>
        </p:nvSpPr>
        <p:spPr>
          <a:xfrm>
            <a:off x="10497600" y="983520"/>
            <a:ext cx="136980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rlic"/>
                <a:ea typeface="DejaVu Sans"/>
              </a:rPr>
              <a:t> Model Performance</a:t>
            </a:r>
            <a:endParaRPr lang="en-US" sz="1300" b="0" u="none" strike="noStrike">
              <a:solidFill>
                <a:srgbClr val="FFFFFF"/>
              </a:solidFill>
              <a:effectLst/>
              <a:uFillTx/>
              <a:latin typeface="Arial"/>
            </a:endParaRPr>
          </a:p>
        </p:txBody>
      </p:sp>
      <p:grpSp>
        <p:nvGrpSpPr>
          <p:cNvPr id="289" name="Group 288"/>
          <p:cNvGrpSpPr/>
          <p:nvPr/>
        </p:nvGrpSpPr>
        <p:grpSpPr>
          <a:xfrm>
            <a:off x="436680" y="1003320"/>
            <a:ext cx="9963360" cy="703080"/>
            <a:chOff x="436680" y="1003320"/>
            <a:chExt cx="9963360" cy="703080"/>
          </a:xfrm>
        </p:grpSpPr>
        <p:sp>
          <p:nvSpPr>
            <p:cNvPr id="290" name="TextBox 5"/>
            <p:cNvSpPr/>
            <p:nvPr/>
          </p:nvSpPr>
          <p:spPr>
            <a:xfrm>
              <a:off x="470880" y="100404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291" name="TextBox 8"/>
            <p:cNvSpPr/>
            <p:nvPr/>
          </p:nvSpPr>
          <p:spPr>
            <a:xfrm>
              <a:off x="2038680" y="101844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292" name="TextBox 15"/>
            <p:cNvSpPr/>
            <p:nvPr/>
          </p:nvSpPr>
          <p:spPr>
            <a:xfrm>
              <a:off x="8520120" y="109080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93" name="TextBox 1"/>
            <p:cNvSpPr/>
            <p:nvPr/>
          </p:nvSpPr>
          <p:spPr>
            <a:xfrm>
              <a:off x="7080480" y="101808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294" name="Rectangle 15"/>
            <p:cNvSpPr/>
            <p:nvPr/>
          </p:nvSpPr>
          <p:spPr>
            <a:xfrm>
              <a:off x="8813160" y="100332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u="none" strike="noStrike">
                <a:solidFill>
                  <a:srgbClr val="000000"/>
                </a:solidFill>
                <a:effectLst/>
                <a:uFillTx/>
                <a:latin typeface="Arial"/>
              </a:endParaRPr>
            </a:p>
          </p:txBody>
        </p:sp>
        <p:sp>
          <p:nvSpPr>
            <p:cNvPr id="295" name="TextBox 58"/>
            <p:cNvSpPr/>
            <p:nvPr/>
          </p:nvSpPr>
          <p:spPr>
            <a:xfrm>
              <a:off x="10164960" y="10688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296" name="Rectangle 295"/>
            <p:cNvSpPr/>
            <p:nvPr/>
          </p:nvSpPr>
          <p:spPr>
            <a:xfrm>
              <a:off x="8806680" y="1027080"/>
              <a:ext cx="1369800" cy="490988"/>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Define Model</a:t>
              </a:r>
            </a:p>
            <a:p>
              <a:pPr algn="ctr">
                <a:lnSpc>
                  <a:spcPct val="100000"/>
                </a:lnSpc>
              </a:pPr>
              <a:r>
                <a:rPr lang="en-US" sz="1300" b="1" dirty="0">
                  <a:solidFill>
                    <a:srgbClr val="000000"/>
                  </a:solidFill>
                  <a:latin typeface="Calibri"/>
                </a:rPr>
                <a:t>(IV/DV)</a:t>
              </a:r>
              <a:endParaRPr lang="en-US" sz="1300" b="0" u="none" strike="noStrike" dirty="0">
                <a:solidFill>
                  <a:srgbClr val="FFFFFF"/>
                </a:solidFill>
                <a:effectLst/>
                <a:uFillTx/>
                <a:latin typeface="Arial"/>
              </a:endParaRPr>
            </a:p>
          </p:txBody>
        </p:sp>
        <p:grpSp>
          <p:nvGrpSpPr>
            <p:cNvPr id="297" name="Group 296"/>
            <p:cNvGrpSpPr/>
            <p:nvPr/>
          </p:nvGrpSpPr>
          <p:grpSpPr>
            <a:xfrm>
              <a:off x="436680" y="1015560"/>
              <a:ext cx="8318520" cy="690840"/>
              <a:chOff x="436680" y="1015560"/>
              <a:chExt cx="8318520" cy="690840"/>
            </a:xfrm>
          </p:grpSpPr>
          <p:sp>
            <p:nvSpPr>
              <p:cNvPr id="298" name="Rectangle 9"/>
              <p:cNvSpPr/>
              <p:nvPr/>
            </p:nvSpPr>
            <p:spPr>
              <a:xfrm>
                <a:off x="7043760" y="1016280"/>
                <a:ext cx="1535400" cy="496800"/>
              </a:xfrm>
              <a:prstGeom prst="rect">
                <a:avLst/>
              </a:prstGeom>
              <a:solidFill>
                <a:srgbClr val="4A9ED6">
                  <a:alpha val="99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9" name="Rectangle 4"/>
              <p:cNvSpPr/>
              <p:nvPr/>
            </p:nvSpPr>
            <p:spPr>
              <a:xfrm>
                <a:off x="457920" y="1016280"/>
                <a:ext cx="1361160" cy="496800"/>
              </a:xfrm>
              <a:prstGeom prst="rect">
                <a:avLst/>
              </a:prstGeom>
              <a:solidFill>
                <a:srgbClr val="63BBEE">
                  <a:alpha val="98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0" name="TextBox 5"/>
              <p:cNvSpPr/>
              <p:nvPr/>
            </p:nvSpPr>
            <p:spPr>
              <a:xfrm>
                <a:off x="470880" y="1016280"/>
                <a:ext cx="13212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301" name="TextBox 6"/>
              <p:cNvSpPr/>
              <p:nvPr/>
            </p:nvSpPr>
            <p:spPr>
              <a:xfrm>
                <a:off x="1774440" y="110916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02" name="Rectangle 7"/>
              <p:cNvSpPr/>
              <p:nvPr/>
            </p:nvSpPr>
            <p:spPr>
              <a:xfrm>
                <a:off x="2038680" y="1030680"/>
                <a:ext cx="155952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3" name="TextBox 8"/>
              <p:cNvSpPr/>
              <p:nvPr/>
            </p:nvSpPr>
            <p:spPr>
              <a:xfrm>
                <a:off x="2038680" y="1030680"/>
                <a:ext cx="155988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304" name="TextBox 9"/>
              <p:cNvSpPr/>
              <p:nvPr/>
            </p:nvSpPr>
            <p:spPr>
              <a:xfrm>
                <a:off x="3558960" y="11152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05" name="Rectangle 10"/>
              <p:cNvSpPr/>
              <p:nvPr/>
            </p:nvSpPr>
            <p:spPr>
              <a:xfrm>
                <a:off x="3804480" y="1016280"/>
                <a:ext cx="1399680" cy="496800"/>
              </a:xfrm>
              <a:prstGeom prst="rect">
                <a:avLst/>
              </a:prstGeom>
              <a:solidFill>
                <a:srgbClr val="63BBEE">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306" name="TextBox 12"/>
              <p:cNvSpPr/>
              <p:nvPr/>
            </p:nvSpPr>
            <p:spPr>
              <a:xfrm>
                <a:off x="6756840" y="11030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07" name="Rectangle 13"/>
              <p:cNvSpPr/>
              <p:nvPr/>
            </p:nvSpPr>
            <p:spPr>
              <a:xfrm>
                <a:off x="5408280" y="1016280"/>
                <a:ext cx="1398960" cy="496800"/>
              </a:xfrm>
              <a:prstGeom prst="rect">
                <a:avLst/>
              </a:prstGeom>
              <a:solidFill>
                <a:srgbClr val="CCF4C6">
                  <a:alpha val="97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8" name="TextBox 15"/>
              <p:cNvSpPr/>
              <p:nvPr/>
            </p:nvSpPr>
            <p:spPr>
              <a:xfrm>
                <a:off x="8520120" y="110304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09" name="TextBox 1"/>
              <p:cNvSpPr/>
              <p:nvPr/>
            </p:nvSpPr>
            <p:spPr>
              <a:xfrm>
                <a:off x="7080480" y="1030320"/>
                <a:ext cx="14972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310" name="TextBox 22"/>
              <p:cNvSpPr/>
              <p:nvPr/>
            </p:nvSpPr>
            <p:spPr>
              <a:xfrm>
                <a:off x="5164560" y="1115280"/>
                <a:ext cx="2350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11" name="Rectangle 310"/>
              <p:cNvSpPr/>
              <p:nvPr/>
            </p:nvSpPr>
            <p:spPr>
              <a:xfrm>
                <a:off x="7043760" y="1015560"/>
                <a:ext cx="153540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Hybrid Retrieve BM25 + Dense</a:t>
                </a:r>
                <a:endParaRPr lang="en-US" sz="1300" b="0" u="none" strike="noStrike">
                  <a:solidFill>
                    <a:srgbClr val="FFFFFF"/>
                  </a:solidFill>
                  <a:effectLst/>
                  <a:uFillTx/>
                  <a:latin typeface="Arial"/>
                </a:endParaRPr>
              </a:p>
            </p:txBody>
          </p:sp>
          <p:sp>
            <p:nvSpPr>
              <p:cNvPr id="312" name="Rectangle 311"/>
              <p:cNvSpPr/>
              <p:nvPr/>
            </p:nvSpPr>
            <p:spPr>
              <a:xfrm>
                <a:off x="5408640" y="1016280"/>
                <a:ext cx="139896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 Embedding Model</a:t>
                </a:r>
                <a:endParaRPr lang="en-US" sz="1300" b="0" u="none" strike="noStrike">
                  <a:solidFill>
                    <a:srgbClr val="FFFFFF"/>
                  </a:solidFill>
                  <a:effectLst/>
                  <a:uFillTx/>
                  <a:latin typeface="Arial"/>
                </a:endParaRPr>
              </a:p>
            </p:txBody>
          </p:sp>
          <p:sp>
            <p:nvSpPr>
              <p:cNvPr id="313" name="Rectangle 312"/>
              <p:cNvSpPr/>
              <p:nvPr/>
            </p:nvSpPr>
            <p:spPr>
              <a:xfrm>
                <a:off x="3883680" y="1015560"/>
                <a:ext cx="1192680" cy="48636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Map PT to SOC</a:t>
                </a:r>
                <a:endParaRPr lang="en-US" sz="1300" b="0" u="none" strike="noStrike" dirty="0">
                  <a:solidFill>
                    <a:srgbClr val="FFFFFF"/>
                  </a:solidFill>
                  <a:effectLst/>
                  <a:uFillTx/>
                  <a:latin typeface="Arial"/>
                </a:endParaRPr>
              </a:p>
            </p:txBody>
          </p:sp>
          <p:sp>
            <p:nvSpPr>
              <p:cNvPr id="314" name="Rectangle 313"/>
              <p:cNvSpPr/>
              <p:nvPr/>
            </p:nvSpPr>
            <p:spPr>
              <a:xfrm>
                <a:off x="2053440" y="1030680"/>
                <a:ext cx="154512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Normalize Drug Name and ATC L4</a:t>
                </a:r>
                <a:endParaRPr lang="en-US" sz="1300" b="0" u="none" strike="noStrike">
                  <a:solidFill>
                    <a:srgbClr val="FFFFFF"/>
                  </a:solidFill>
                  <a:effectLst/>
                  <a:uFillTx/>
                  <a:latin typeface="Arial"/>
                </a:endParaRPr>
              </a:p>
            </p:txBody>
          </p:sp>
          <p:sp>
            <p:nvSpPr>
              <p:cNvPr id="315" name="Rectangle 314"/>
              <p:cNvSpPr/>
              <p:nvPr/>
            </p:nvSpPr>
            <p:spPr>
              <a:xfrm>
                <a:off x="436680" y="102168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Q1 2026</a:t>
                </a:r>
                <a:endParaRPr lang="en-US" sz="1300" b="0" u="none" strike="noStrike">
                  <a:solidFill>
                    <a:srgbClr val="FFFFFF"/>
                  </a:solidFill>
                  <a:effectLst/>
                  <a:uFillTx/>
                  <a:latin typeface="Arial"/>
                </a:endParaRPr>
              </a:p>
            </p:txBody>
          </p:sp>
        </p:grpSp>
      </p:grpSp>
      <p:pic>
        <p:nvPicPr>
          <p:cNvPr id="316" name="Picture 315"/>
          <p:cNvPicPr/>
          <p:nvPr/>
        </p:nvPicPr>
        <p:blipFill>
          <a:blip r:embed="rId3"/>
          <a:stretch/>
        </p:blipFill>
        <p:spPr>
          <a:xfrm>
            <a:off x="7315200" y="2514600"/>
            <a:ext cx="4053600" cy="3030480"/>
          </a:xfrm>
          <a:prstGeom prst="rect">
            <a:avLst/>
          </a:prstGeom>
          <a:noFill/>
          <a:ln w="18360">
            <a:noFill/>
          </a:ln>
        </p:spPr>
      </p:pic>
      <p:pic>
        <p:nvPicPr>
          <p:cNvPr id="317" name="Picture 316"/>
          <p:cNvPicPr/>
          <p:nvPr/>
        </p:nvPicPr>
        <p:blipFill>
          <a:blip r:embed="rId4"/>
          <a:stretch/>
        </p:blipFill>
        <p:spPr>
          <a:xfrm>
            <a:off x="952682" y="2512800"/>
            <a:ext cx="6116400" cy="3034080"/>
          </a:xfrm>
          <a:prstGeom prst="rect">
            <a:avLst/>
          </a:prstGeom>
          <a:noFill/>
          <a:ln w="18360">
            <a:noFill/>
          </a:ln>
        </p:spPr>
      </p:pic>
      <p:sp>
        <p:nvSpPr>
          <p:cNvPr id="7" name="Arrow: Right 6">
            <a:extLst>
              <a:ext uri="{FF2B5EF4-FFF2-40B4-BE49-F238E27FC236}">
                <a16:creationId xmlns:a16="http://schemas.microsoft.com/office/drawing/2014/main" id="{FC94AE3B-48D3-58D8-08C8-51907325893E}"/>
              </a:ext>
            </a:extLst>
          </p:cNvPr>
          <p:cNvSpPr/>
          <p:nvPr/>
        </p:nvSpPr>
        <p:spPr>
          <a:xfrm rot="414565">
            <a:off x="8235057" y="3879003"/>
            <a:ext cx="2727703" cy="301673"/>
          </a:xfrm>
          <a:prstGeom prst="rightArrow">
            <a:avLst>
              <a:gd name="adj1" fmla="val 29451"/>
              <a:gd name="adj2" fmla="val 5000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Arrow: Right 8">
            <a:extLst>
              <a:ext uri="{FF2B5EF4-FFF2-40B4-BE49-F238E27FC236}">
                <a16:creationId xmlns:a16="http://schemas.microsoft.com/office/drawing/2014/main" id="{883D52F1-722C-04DF-0E28-62484BF51135}"/>
              </a:ext>
            </a:extLst>
          </p:cNvPr>
          <p:cNvSpPr/>
          <p:nvPr/>
        </p:nvSpPr>
        <p:spPr>
          <a:xfrm rot="414565">
            <a:off x="2234348" y="4614387"/>
            <a:ext cx="2727703" cy="301673"/>
          </a:xfrm>
          <a:prstGeom prst="rightArrow">
            <a:avLst>
              <a:gd name="adj1" fmla="val 29451"/>
              <a:gd name="adj2" fmla="val 50000"/>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18" name="Rectangle 18"/>
          <p:cNvSpPr/>
          <p:nvPr/>
        </p:nvSpPr>
        <p:spPr>
          <a:xfrm>
            <a:off x="0" y="0"/>
            <a:ext cx="66960" cy="6851880"/>
          </a:xfrm>
          <a:prstGeom prst="rect">
            <a:avLst/>
          </a:prstGeom>
          <a:solidFill>
            <a:srgbClr val="5AC87A">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319" name="Rectangle 20"/>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0" name="TextBox 2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spcBef>
                <a:spcPts val="1191"/>
              </a:spcBef>
              <a:spcAft>
                <a:spcPts val="992"/>
              </a:spcAft>
            </a:pPr>
            <a:r>
              <a:rPr lang="en-US" sz="2800" b="1" u="none" strike="noStrike">
                <a:solidFill>
                  <a:srgbClr val="FFFFFF"/>
                </a:solidFill>
                <a:effectLst/>
                <a:uFillTx/>
                <a:latin typeface="Calibri"/>
                <a:ea typeface="Noto Sans CJK SC"/>
              </a:rPr>
              <a:t>1.8 Conclusion - SOC Multi-label Prediction</a:t>
            </a:r>
            <a:endParaRPr lang="en-US" sz="2800" b="0" u="none" strike="noStrike">
              <a:solidFill>
                <a:srgbClr val="FFFFFF"/>
              </a:solidFill>
              <a:effectLst/>
              <a:uFillTx/>
              <a:latin typeface="Arial"/>
            </a:endParaRPr>
          </a:p>
        </p:txBody>
      </p:sp>
      <p:sp>
        <p:nvSpPr>
          <p:cNvPr id="321" name="Rectangle 320"/>
          <p:cNvSpPr/>
          <p:nvPr/>
        </p:nvSpPr>
        <p:spPr>
          <a:xfrm>
            <a:off x="457920" y="1143720"/>
            <a:ext cx="10968480" cy="4911392"/>
          </a:xfrm>
          <a:prstGeom prst="rect">
            <a:avLst/>
          </a:prstGeom>
          <a:solidFill>
            <a:srgbClr val="FFFFF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spcBef>
                <a:spcPts val="1191"/>
              </a:spcBef>
              <a:spcAft>
                <a:spcPts val="992"/>
              </a:spcAft>
            </a:pPr>
            <a:r>
              <a:rPr lang="en-US" sz="2000" b="0" u="none" strike="noStrike" dirty="0">
                <a:solidFill>
                  <a:srgbClr val="000000"/>
                </a:solidFill>
                <a:effectLst/>
                <a:uFillTx/>
                <a:latin typeface="Arial"/>
                <a:ea typeface="DejaVu Sans"/>
              </a:rPr>
              <a:t>Two findings stand out.</a:t>
            </a:r>
          </a:p>
          <a:p>
            <a:pPr marL="342900" indent="-342900">
              <a:lnSpc>
                <a:spcPct val="100000"/>
              </a:lnSpc>
              <a:spcBef>
                <a:spcPts val="1191"/>
              </a:spcBef>
              <a:spcAft>
                <a:spcPts val="992"/>
              </a:spcAft>
              <a:buFont typeface="Arial" panose="020B0604020202020204" pitchFamily="34" charset="0"/>
              <a:buChar char="•"/>
            </a:pPr>
            <a:r>
              <a:rPr lang="en-US" sz="2000" b="1" u="none" strike="noStrike" dirty="0">
                <a:solidFill>
                  <a:srgbClr val="000000"/>
                </a:solidFill>
                <a:effectLst/>
                <a:uFillTx/>
                <a:latin typeface="Arial"/>
                <a:ea typeface="DejaVu Sans"/>
              </a:rPr>
              <a:t>Hybrid retrieval substantially improves prediction accuracy</a:t>
            </a:r>
          </a:p>
          <a:p>
            <a:pPr lvl="1">
              <a:spcBef>
                <a:spcPts val="1191"/>
              </a:spcBef>
              <a:spcAft>
                <a:spcPts val="992"/>
              </a:spcAft>
            </a:pPr>
            <a:r>
              <a:rPr lang="en-US" sz="1600" b="0" u="none" strike="noStrike" dirty="0">
                <a:solidFill>
                  <a:srgbClr val="000000"/>
                </a:solidFill>
                <a:effectLst/>
                <a:uFillTx/>
                <a:latin typeface="Arial"/>
                <a:ea typeface="DejaVu Sans"/>
              </a:rPr>
              <a:t>Hybrid retrieval achieves an average macro-F1 of </a:t>
            </a:r>
            <a:r>
              <a:rPr lang="en-US" sz="1600" b="1" u="none" strike="noStrike" dirty="0">
                <a:solidFill>
                  <a:srgbClr val="000000"/>
                </a:solidFill>
                <a:effectLst/>
                <a:uFillTx/>
                <a:latin typeface="Arial"/>
                <a:ea typeface="DejaVu Sans"/>
              </a:rPr>
              <a:t>0.465</a:t>
            </a:r>
            <a:r>
              <a:rPr lang="en-US" sz="1600" b="0" u="none" strike="noStrike" dirty="0">
                <a:solidFill>
                  <a:srgbClr val="000000"/>
                </a:solidFill>
                <a:effectLst/>
                <a:uFillTx/>
                <a:latin typeface="Arial"/>
                <a:ea typeface="DejaVu Sans"/>
              </a:rPr>
              <a:t> on the out-of-time (OOT) test sets, compared with </a:t>
            </a:r>
            <a:r>
              <a:rPr lang="en-US" sz="1600" b="1" u="none" strike="noStrike" dirty="0">
                <a:solidFill>
                  <a:srgbClr val="000000"/>
                </a:solidFill>
                <a:effectLst/>
                <a:uFillTx/>
                <a:latin typeface="Arial"/>
                <a:ea typeface="DejaVu Sans"/>
              </a:rPr>
              <a:t>0.428</a:t>
            </a:r>
            <a:r>
              <a:rPr lang="en-US" sz="1600" b="0" u="none" strike="noStrike" dirty="0">
                <a:solidFill>
                  <a:srgbClr val="000000"/>
                </a:solidFill>
                <a:effectLst/>
                <a:uFillTx/>
                <a:latin typeface="Arial"/>
                <a:ea typeface="DejaVu Sans"/>
              </a:rPr>
              <a:t> for the KNN voting baseline. This substantially outperforms the random prediction baseline (positive density ≈ </a:t>
            </a:r>
            <a:r>
              <a:rPr lang="en-US" sz="1600" b="1" u="none" strike="noStrike" dirty="0">
                <a:solidFill>
                  <a:srgbClr val="000000"/>
                </a:solidFill>
                <a:effectLst/>
                <a:uFillTx/>
                <a:latin typeface="Arial"/>
                <a:ea typeface="DejaVu Sans"/>
              </a:rPr>
              <a:t>0.15</a:t>
            </a:r>
            <a:r>
              <a:rPr lang="en-US" sz="1600" b="0" u="none" strike="noStrike" dirty="0">
                <a:solidFill>
                  <a:srgbClr val="000000"/>
                </a:solidFill>
                <a:effectLst/>
                <a:uFillTx/>
                <a:latin typeface="Arial"/>
                <a:ea typeface="DejaVu Sans"/>
              </a:rPr>
              <a:t>).</a:t>
            </a:r>
            <a:endParaRPr lang="en-US" sz="1600" b="0" u="none" strike="noStrike" dirty="0">
              <a:solidFill>
                <a:srgbClr val="000000"/>
              </a:solidFill>
              <a:effectLst/>
              <a:uFillTx/>
              <a:latin typeface="Arial"/>
            </a:endParaRPr>
          </a:p>
          <a:p>
            <a:pPr marL="342900" indent="-342900">
              <a:lnSpc>
                <a:spcPct val="100000"/>
              </a:lnSpc>
              <a:spcBef>
                <a:spcPts val="1191"/>
              </a:spcBef>
              <a:spcAft>
                <a:spcPts val="992"/>
              </a:spcAft>
              <a:buFont typeface="Arial" panose="020B0604020202020204" pitchFamily="34" charset="0"/>
              <a:buChar char="•"/>
            </a:pPr>
            <a:r>
              <a:rPr lang="en-US" sz="2000" b="1" u="none" strike="noStrike" dirty="0">
                <a:solidFill>
                  <a:srgbClr val="000000"/>
                </a:solidFill>
                <a:effectLst/>
                <a:uFillTx/>
                <a:latin typeface="Arial"/>
                <a:ea typeface="DejaVu Sans"/>
              </a:rPr>
              <a:t>Temporal performance drift remains a challenge as reporting patterns evolve over time</a:t>
            </a:r>
            <a:r>
              <a:rPr lang="en-US" sz="2000" b="0" u="none" strike="noStrike" dirty="0">
                <a:solidFill>
                  <a:srgbClr val="000000"/>
                </a:solidFill>
                <a:effectLst/>
                <a:uFillTx/>
                <a:latin typeface="Arial"/>
                <a:ea typeface="DejaVu Sans"/>
              </a:rPr>
              <a:t>.</a:t>
            </a:r>
          </a:p>
          <a:p>
            <a:pPr lvl="1">
              <a:spcBef>
                <a:spcPts val="1191"/>
              </a:spcBef>
              <a:spcAft>
                <a:spcPts val="992"/>
              </a:spcAft>
            </a:pPr>
            <a:r>
              <a:rPr lang="en-US" b="0" u="none" strike="noStrike" dirty="0">
                <a:solidFill>
                  <a:srgbClr val="000000"/>
                </a:solidFill>
                <a:effectLst/>
                <a:uFillTx/>
                <a:latin typeface="Arial"/>
                <a:ea typeface="DejaVu Sans"/>
              </a:rPr>
              <a:t>Evaluation on temporal out-of-time (OOT) test sets reveals evidence of data drift, with declining on ADR cases in Q1’26 (macro-F1 of </a:t>
            </a:r>
            <a:r>
              <a:rPr lang="en-US" b="1" u="none" strike="noStrike" dirty="0">
                <a:solidFill>
                  <a:srgbClr val="000000"/>
                </a:solidFill>
                <a:effectLst/>
                <a:uFillTx/>
                <a:latin typeface="Arial"/>
                <a:ea typeface="DejaVu Sans"/>
              </a:rPr>
              <a:t>0.442</a:t>
            </a:r>
            <a:r>
              <a:rPr lang="en-US" b="0" u="none" strike="noStrike" dirty="0">
                <a:solidFill>
                  <a:srgbClr val="000000"/>
                </a:solidFill>
                <a:effectLst/>
                <a:uFillTx/>
                <a:latin typeface="Arial"/>
                <a:ea typeface="DejaVu Sans"/>
              </a:rPr>
              <a:t>) from cases Q4’25 (macro-F1 of </a:t>
            </a:r>
            <a:r>
              <a:rPr lang="en-US" b="1" u="none" strike="noStrike" dirty="0">
                <a:solidFill>
                  <a:srgbClr val="000000"/>
                </a:solidFill>
                <a:effectLst/>
                <a:uFillTx/>
                <a:latin typeface="Arial"/>
                <a:ea typeface="DejaVu Sans"/>
              </a:rPr>
              <a:t>0.487</a:t>
            </a:r>
            <a:r>
              <a:rPr lang="en-US" b="0" u="none" strike="noStrike" dirty="0">
                <a:solidFill>
                  <a:srgbClr val="000000"/>
                </a:solidFill>
                <a:effectLst/>
                <a:uFillTx/>
                <a:latin typeface="Arial"/>
                <a:ea typeface="DejaVu Sans"/>
              </a:rPr>
              <a:t>), suggesting that evolving pharmacovigilance data distributions pose an ongoing challenge for model generalization.</a:t>
            </a:r>
            <a:endParaRPr lang="en-US" b="0" u="none" strike="noStrike" dirty="0">
              <a:solidFill>
                <a:srgbClr val="000000"/>
              </a:solidFill>
              <a:effectLst/>
              <a:uFillTx/>
              <a:latin typeface="Arial"/>
            </a:endParaRPr>
          </a:p>
          <a:p>
            <a:pPr>
              <a:lnSpc>
                <a:spcPct val="100000"/>
              </a:lnSpc>
              <a:spcBef>
                <a:spcPts val="1191"/>
              </a:spcBef>
              <a:spcAft>
                <a:spcPts val="992"/>
              </a:spcAft>
            </a:pPr>
            <a:endParaRPr lang="en-US" sz="15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22" name="Rectangle 1"/>
          <p:cNvSpPr/>
          <p:nvPr/>
        </p:nvSpPr>
        <p:spPr>
          <a:xfrm>
            <a:off x="0" y="0"/>
            <a:ext cx="12182760" cy="6851880"/>
          </a:xfrm>
          <a:prstGeom prst="rect">
            <a:avLst/>
          </a:prstGeom>
          <a:solidFill>
            <a:srgbClr val="1A1A2E">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3" name="Rectangle 2"/>
          <p:cNvSpPr/>
          <p:nvPr/>
        </p:nvSpPr>
        <p:spPr>
          <a:xfrm>
            <a:off x="0" y="2743200"/>
            <a:ext cx="12182760" cy="66960"/>
          </a:xfrm>
          <a:prstGeom prst="rect">
            <a:avLst/>
          </a:prstGeom>
          <a:solidFill>
            <a:srgbClr val="92E285">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endParaRPr lang="en-US" sz="1800" b="0" u="none" strike="noStrike">
              <a:solidFill>
                <a:schemeClr val="lt1"/>
              </a:solidFill>
              <a:effectLst/>
              <a:uFillTx/>
              <a:latin typeface="Calibri"/>
            </a:endParaRPr>
          </a:p>
        </p:txBody>
      </p:sp>
      <p:sp>
        <p:nvSpPr>
          <p:cNvPr id="324" name="TextBox 3"/>
          <p:cNvSpPr/>
          <p:nvPr/>
        </p:nvSpPr>
        <p:spPr>
          <a:xfrm>
            <a:off x="731520" y="548640"/>
            <a:ext cx="100522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800" b="1" u="none" strike="noStrike">
                <a:solidFill>
                  <a:srgbClr val="92E285"/>
                </a:solidFill>
                <a:effectLst/>
                <a:uFillTx/>
                <a:latin typeface="Calibri"/>
                <a:ea typeface="DejaVu Sans"/>
              </a:rPr>
              <a:t>TOPIC 2</a:t>
            </a:r>
            <a:endParaRPr lang="en-US" sz="1800" b="0" u="none" strike="noStrike">
              <a:solidFill>
                <a:srgbClr val="FFFFFF"/>
              </a:solidFill>
              <a:effectLst/>
              <a:uFillTx/>
              <a:latin typeface="Arial"/>
            </a:endParaRPr>
          </a:p>
        </p:txBody>
      </p:sp>
      <p:sp>
        <p:nvSpPr>
          <p:cNvPr id="325" name="TextBox 4"/>
          <p:cNvSpPr/>
          <p:nvPr/>
        </p:nvSpPr>
        <p:spPr>
          <a:xfrm>
            <a:off x="731520" y="1371600"/>
            <a:ext cx="10692360" cy="1369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4400" b="1" u="none" strike="noStrike">
                <a:solidFill>
                  <a:srgbClr val="FFFFFF"/>
                </a:solidFill>
                <a:effectLst/>
                <a:uFillTx/>
                <a:latin typeface="Calibri"/>
                <a:ea typeface="DejaVu Sans"/>
              </a:rPr>
              <a:t>Binary ADR Prediction:</a:t>
            </a:r>
            <a:endParaRPr lang="en-US" sz="4400" b="0" u="none" strike="noStrike">
              <a:solidFill>
                <a:srgbClr val="FFFFFF"/>
              </a:solidFill>
              <a:effectLst/>
              <a:uFillTx/>
              <a:latin typeface="Arial"/>
            </a:endParaRPr>
          </a:p>
          <a:p>
            <a:pPr defTabSz="457200">
              <a:lnSpc>
                <a:spcPct val="100000"/>
              </a:lnSpc>
            </a:pPr>
            <a:r>
              <a:rPr lang="en-US" sz="4000" b="1" u="none" strike="noStrike">
                <a:solidFill>
                  <a:srgbClr val="FFFFFF"/>
                </a:solidFill>
                <a:effectLst/>
                <a:uFillTx/>
                <a:latin typeface="Calibri"/>
                <a:ea typeface="Noto Sans CJK SC"/>
              </a:rPr>
              <a:t>Death/Lethal vs Non-Death/Lethal </a:t>
            </a:r>
            <a:endParaRPr lang="en-US" sz="4000" b="0" u="none" strike="noStrike">
              <a:solidFill>
                <a:srgbClr val="FFFFFF"/>
              </a:solidFill>
              <a:effectLst/>
              <a:uFillTx/>
              <a:latin typeface="Arial"/>
            </a:endParaRPr>
          </a:p>
        </p:txBody>
      </p:sp>
      <p:sp>
        <p:nvSpPr>
          <p:cNvPr id="326" name="TextBox 5"/>
          <p:cNvSpPr/>
          <p:nvPr/>
        </p:nvSpPr>
        <p:spPr>
          <a:xfrm>
            <a:off x="914400" y="3200400"/>
            <a:ext cx="10326600" cy="42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US" sz="1800" b="0" u="none" strike="noStrike">
              <a:solidFill>
                <a:srgbClr val="FFFFFF"/>
              </a:solidFill>
              <a:effectLst/>
              <a:uFillTx/>
              <a:latin typeface="Arial"/>
            </a:endParaRPr>
          </a:p>
        </p:txBody>
      </p:sp>
      <p:sp>
        <p:nvSpPr>
          <p:cNvPr id="327" name="Rectangle 326"/>
          <p:cNvSpPr/>
          <p:nvPr/>
        </p:nvSpPr>
        <p:spPr>
          <a:xfrm>
            <a:off x="685800" y="3262320"/>
            <a:ext cx="5025240" cy="1919160"/>
          </a:xfrm>
          <a:prstGeom prst="rect">
            <a:avLst/>
          </a:prstGeom>
          <a:solidFill>
            <a:srgbClr val="CCF4C6"/>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1" u="none" strike="noStrike">
                <a:solidFill>
                  <a:srgbClr val="000000"/>
                </a:solidFill>
                <a:effectLst/>
                <a:uFillTx/>
                <a:latin typeface="Arial"/>
                <a:ea typeface="DejaVu Sans"/>
              </a:rPr>
              <a:t>Research Question:</a:t>
            </a:r>
            <a:endParaRPr lang="en-US" sz="2000" b="0" u="none" strike="noStrike">
              <a:solidFill>
                <a:srgbClr val="000000"/>
              </a:solidFill>
              <a:effectLst/>
              <a:uFillTx/>
              <a:latin typeface="Arial"/>
            </a:endParaRPr>
          </a:p>
          <a:p>
            <a:pPr>
              <a:lnSpc>
                <a:spcPct val="100000"/>
              </a:lnSpc>
            </a:pPr>
            <a:r>
              <a:rPr lang="en-US" sz="2000" b="0" u="none" strike="noStrike">
                <a:solidFill>
                  <a:srgbClr val="000000"/>
                </a:solidFill>
                <a:effectLst/>
                <a:uFillTx/>
                <a:latin typeface="Arial"/>
                <a:ea typeface="DejaVu Sans"/>
              </a:rPr>
              <a:t>How can retrieval-augmented learning leverage historical FAERS reports to predict life-threatening ADR outcomes - </a:t>
            </a:r>
            <a:r>
              <a:rPr lang="en-US" sz="2000" b="1" u="none" strike="noStrike">
                <a:solidFill>
                  <a:srgbClr val="000000"/>
                </a:solidFill>
                <a:effectLst/>
                <a:uFillTx/>
                <a:latin typeface="Arial"/>
                <a:ea typeface="DejaVu Sans"/>
              </a:rPr>
              <a:t>Death/Life-Threatening</a:t>
            </a:r>
            <a:r>
              <a:rPr lang="en-US" sz="2000" b="0" u="none" strike="noStrike">
                <a:solidFill>
                  <a:srgbClr val="000000"/>
                </a:solidFill>
                <a:effectLst/>
                <a:uFillTx/>
                <a:latin typeface="Arial"/>
                <a:ea typeface="DejaVu Sans"/>
              </a:rPr>
              <a:t> vs </a:t>
            </a:r>
            <a:r>
              <a:rPr lang="en-US" sz="2000" b="1" u="none" strike="noStrike">
                <a:solidFill>
                  <a:srgbClr val="000000"/>
                </a:solidFill>
                <a:effectLst/>
                <a:uFillTx/>
                <a:latin typeface="Arial"/>
                <a:ea typeface="DejaVu Sans"/>
              </a:rPr>
              <a:t>Non-Death/Life-Threatening</a:t>
            </a:r>
            <a:r>
              <a:rPr lang="en-US" sz="2000" b="0" u="none" strike="noStrike">
                <a:solidFill>
                  <a:srgbClr val="000000"/>
                </a:solidFill>
                <a:effectLst/>
                <a:uFillTx/>
                <a:latin typeface="Arial"/>
                <a:ea typeface="DejaVu Sans"/>
              </a:rPr>
              <a:t>?</a:t>
            </a:r>
            <a:endParaRPr lang="en-US" sz="2000" b="0" u="none" strike="noStrike">
              <a:solidFill>
                <a:srgbClr val="000000"/>
              </a:solidFill>
              <a:effectLst/>
              <a:uFillTx/>
              <a:latin typeface="Arial"/>
            </a:endParaRPr>
          </a:p>
        </p:txBody>
      </p:sp>
      <p:sp>
        <p:nvSpPr>
          <p:cNvPr id="328" name="Rectangle 327"/>
          <p:cNvSpPr/>
          <p:nvPr/>
        </p:nvSpPr>
        <p:spPr>
          <a:xfrm>
            <a:off x="5943600" y="3262320"/>
            <a:ext cx="5482800" cy="1919160"/>
          </a:xfrm>
          <a:prstGeom prst="rect">
            <a:avLst/>
          </a:prstGeom>
          <a:solidFill>
            <a:srgbClr val="CCF4C6"/>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1" u="none" strike="noStrike" dirty="0">
                <a:solidFill>
                  <a:srgbClr val="000000"/>
                </a:solidFill>
                <a:effectLst/>
                <a:uFillTx/>
                <a:latin typeface="Arial"/>
                <a:ea typeface="DejaVu Sans"/>
              </a:rPr>
              <a:t>Challenges:</a:t>
            </a:r>
            <a:endParaRPr lang="en-US" sz="2000" b="0" u="none" strike="noStrike" dirty="0">
              <a:solidFill>
                <a:srgbClr val="000000"/>
              </a:solidFill>
              <a:effectLst/>
              <a:uFillTx/>
              <a:latin typeface="Arial"/>
            </a:endParaRPr>
          </a:p>
          <a:p>
            <a:pPr>
              <a:lnSpc>
                <a:spcPct val="100000"/>
              </a:lnSpc>
            </a:pPr>
            <a:r>
              <a:rPr lang="en-US" sz="2000" b="1" u="none" strike="noStrike" dirty="0">
                <a:solidFill>
                  <a:srgbClr val="000000"/>
                </a:solidFill>
                <a:effectLst/>
                <a:uFillTx/>
                <a:latin typeface="Arial"/>
                <a:ea typeface="DejaVu Sans"/>
              </a:rPr>
              <a:t>Sparse, noisy, and heterogeneous</a:t>
            </a:r>
            <a:r>
              <a:rPr lang="en-US" sz="2000" b="0" u="none" strike="noStrike" dirty="0">
                <a:solidFill>
                  <a:srgbClr val="000000"/>
                </a:solidFill>
                <a:effectLst/>
                <a:uFillTx/>
                <a:latin typeface="Arial"/>
                <a:ea typeface="DejaVu Sans"/>
              </a:rPr>
              <a:t> ADR narratives with limited contextual information make it difficult to learn robust and discriminative representations for accurate ADR severity prediction.</a:t>
            </a:r>
            <a:endParaRPr lang="en-US" sz="2000" b="0" u="none" strike="noStrike" dirty="0">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29" name="Rectangle 1"/>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330"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2.1 Overview</a:t>
            </a:r>
            <a:endParaRPr lang="en-US" sz="2800" b="0" u="none" strike="noStrike">
              <a:solidFill>
                <a:srgbClr val="FFFFFF"/>
              </a:solidFill>
              <a:effectLst/>
              <a:uFillTx/>
              <a:latin typeface="Arial"/>
            </a:endParaRPr>
          </a:p>
        </p:txBody>
      </p:sp>
      <p:pic>
        <p:nvPicPr>
          <p:cNvPr id="331" name="Picture 330"/>
          <p:cNvPicPr/>
          <p:nvPr/>
        </p:nvPicPr>
        <p:blipFill>
          <a:blip r:embed="rId3"/>
          <a:stretch/>
        </p:blipFill>
        <p:spPr>
          <a:xfrm>
            <a:off x="660600" y="1936800"/>
            <a:ext cx="11224800" cy="2404800"/>
          </a:xfrm>
          <a:prstGeom prst="rect">
            <a:avLst/>
          </a:prstGeom>
          <a:noFill/>
          <a:ln w="0">
            <a:noFill/>
          </a:ln>
        </p:spPr>
      </p:pic>
      <p:sp>
        <p:nvSpPr>
          <p:cNvPr id="332" name="Rectangle 331"/>
          <p:cNvSpPr/>
          <p:nvPr/>
        </p:nvSpPr>
        <p:spPr>
          <a:xfrm>
            <a:off x="6480000" y="1996200"/>
            <a:ext cx="3039840" cy="1729440"/>
          </a:xfrm>
          <a:prstGeom prst="rect">
            <a:avLst/>
          </a:prstGeom>
          <a:noFill/>
          <a:ln w="73080">
            <a:solidFill>
              <a:srgbClr val="A33E03"/>
            </a:solidFill>
            <a:round/>
          </a:ln>
        </p:spPr>
        <p:style>
          <a:lnRef idx="0">
            <a:scrgbClr r="0" g="0" b="0"/>
          </a:lnRef>
          <a:fillRef idx="0">
            <a:scrgbClr r="0" g="0" b="0"/>
          </a:fillRef>
          <a:effectRef idx="0">
            <a:scrgbClr r="0" g="0" b="0"/>
          </a:effectRef>
          <a:fontRef idx="minor"/>
        </p:style>
        <p:txBody>
          <a:bodyPr lIns="117360" tIns="72360" rIns="117360" bIns="72360" anchor="ctr">
            <a:noAutofit/>
          </a:bodyPr>
          <a:lstStyle/>
          <a:p>
            <a:endParaRPr lang="en-US" sz="1800" b="0" u="none" strike="noStrike">
              <a:solidFill>
                <a:srgbClr val="FFFFFF"/>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33" name="Rectangle 1"/>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334" name="Rectangle 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5"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2.2  Solution: Data Engineering</a:t>
            </a:r>
            <a:endParaRPr lang="en-US" sz="2800" b="0" u="none" strike="noStrike">
              <a:solidFill>
                <a:srgbClr val="FFFFFF"/>
              </a:solidFill>
              <a:effectLst/>
              <a:uFillTx/>
              <a:latin typeface="Arial"/>
            </a:endParaRPr>
          </a:p>
        </p:txBody>
      </p:sp>
      <p:pic>
        <p:nvPicPr>
          <p:cNvPr id="336" name="Picture 335"/>
          <p:cNvPicPr/>
          <p:nvPr/>
        </p:nvPicPr>
        <p:blipFill>
          <a:blip r:embed="rId3"/>
          <a:stretch/>
        </p:blipFill>
        <p:spPr>
          <a:xfrm>
            <a:off x="2286000" y="2286000"/>
            <a:ext cx="4471920" cy="2970000"/>
          </a:xfrm>
          <a:prstGeom prst="rect">
            <a:avLst/>
          </a:prstGeom>
          <a:noFill/>
          <a:ln w="0">
            <a:noFill/>
          </a:ln>
        </p:spPr>
      </p:pic>
      <p:graphicFrame>
        <p:nvGraphicFramePr>
          <p:cNvPr id="337" name="Table 336"/>
          <p:cNvGraphicFramePr/>
          <p:nvPr/>
        </p:nvGraphicFramePr>
        <p:xfrm>
          <a:off x="7279200" y="2288160"/>
          <a:ext cx="2747160" cy="2926440"/>
        </p:xfrm>
        <a:graphic>
          <a:graphicData uri="http://schemas.openxmlformats.org/drawingml/2006/table">
            <a:tbl>
              <a:tblPr/>
              <a:tblGrid>
                <a:gridCol w="1061280">
                  <a:extLst>
                    <a:ext uri="{9D8B030D-6E8A-4147-A177-3AD203B41FA5}">
                      <a16:colId xmlns:a16="http://schemas.microsoft.com/office/drawing/2014/main" val="20000"/>
                    </a:ext>
                  </a:extLst>
                </a:gridCol>
                <a:gridCol w="1685880">
                  <a:extLst>
                    <a:ext uri="{9D8B030D-6E8A-4147-A177-3AD203B41FA5}">
                      <a16:colId xmlns:a16="http://schemas.microsoft.com/office/drawing/2014/main" val="20001"/>
                    </a:ext>
                  </a:extLst>
                </a:gridCol>
              </a:tblGrid>
              <a:tr h="366120">
                <a:tc>
                  <a:txBody>
                    <a:bodyPr/>
                    <a:lstStyle/>
                    <a:p>
                      <a:pPr algn="ctr">
                        <a:lnSpc>
                          <a:spcPct val="100000"/>
                        </a:lnSpc>
                      </a:pPr>
                      <a:r>
                        <a:rPr lang="en-US" sz="1800" b="0" u="none" strike="noStrike">
                          <a:solidFill>
                            <a:srgbClr val="000000"/>
                          </a:solidFill>
                          <a:effectLst/>
                          <a:uFillTx/>
                          <a:latin typeface="Arial"/>
                        </a:rPr>
                        <a:t>Uni_code</a:t>
                      </a:r>
                    </a:p>
                  </a:txBody>
                  <a:tcPr marL="36000" marR="36000">
                    <a:lnL w="32400">
                      <a:solidFill>
                        <a:srgbClr val="000000"/>
                      </a:solidFill>
                      <a:prstDash val="solid"/>
                    </a:lnL>
                    <a:lnR w="12240">
                      <a:noFill/>
                      <a:prstDash val="solid"/>
                    </a:lnR>
                    <a:lnT w="32400">
                      <a:solidFill>
                        <a:srgbClr val="000000"/>
                      </a:solidFill>
                      <a:prstDash val="solid"/>
                    </a:lnT>
                    <a:lnB w="32400">
                      <a:solidFill>
                        <a:srgbClr val="000000"/>
                      </a:solidFill>
                      <a:prstDash val="solid"/>
                    </a:lnB>
                    <a:solidFill>
                      <a:srgbClr val="CCF4C6"/>
                    </a:solidFill>
                  </a:tcPr>
                </a:tc>
                <a:tc>
                  <a:txBody>
                    <a:bodyPr/>
                    <a:lstStyle/>
                    <a:p>
                      <a:pPr algn="ctr">
                        <a:lnSpc>
                          <a:spcPct val="100000"/>
                        </a:lnSpc>
                      </a:pPr>
                      <a:r>
                        <a:rPr lang="en-US" sz="1800" b="0" u="none" strike="noStrike">
                          <a:solidFill>
                            <a:srgbClr val="000000"/>
                          </a:solidFill>
                          <a:effectLst/>
                          <a:uFillTx/>
                          <a:latin typeface="Arial"/>
                        </a:rPr>
                        <a:t>Count</a:t>
                      </a:r>
                    </a:p>
                  </a:txBody>
                  <a:tcPr marL="36000" marR="36000">
                    <a:lnL w="12240">
                      <a:noFill/>
                      <a:prstDash val="solid"/>
                    </a:lnL>
                    <a:lnR w="32400">
                      <a:solidFill>
                        <a:srgbClr val="000000"/>
                      </a:solidFill>
                      <a:prstDash val="solid"/>
                    </a:lnR>
                    <a:lnT w="32400">
                      <a:solidFill>
                        <a:srgbClr val="000000"/>
                      </a:solidFill>
                      <a:prstDash val="solid"/>
                    </a:lnT>
                    <a:lnB w="32400">
                      <a:solidFill>
                        <a:srgbClr val="000000"/>
                      </a:solidFill>
                      <a:prstDash val="solid"/>
                    </a:lnB>
                    <a:solidFill>
                      <a:srgbClr val="CCF4C6"/>
                    </a:solidFill>
                  </a:tcPr>
                </a:tc>
                <a:extLst>
                  <a:ext uri="{0D108BD9-81ED-4DB2-BD59-A6C34878D82A}">
                    <a16:rowId xmlns:a16="http://schemas.microsoft.com/office/drawing/2014/main" val="10000"/>
                  </a:ext>
                </a:extLst>
              </a:tr>
              <a:tr h="328320">
                <a:tc>
                  <a:txBody>
                    <a:bodyPr/>
                    <a:lstStyle/>
                    <a:p>
                      <a:pPr algn="ctr">
                        <a:lnSpc>
                          <a:spcPct val="100000"/>
                        </a:lnSpc>
                      </a:pPr>
                      <a:r>
                        <a:rPr lang="en-US" sz="1800" b="0" u="none" strike="noStrike">
                          <a:solidFill>
                            <a:srgbClr val="000000"/>
                          </a:solidFill>
                          <a:effectLst/>
                          <a:uFillTx/>
                          <a:latin typeface="Arial"/>
                        </a:rPr>
                        <a:t>HO</a:t>
                      </a:r>
                    </a:p>
                  </a:txBody>
                  <a:tcPr marL="36000" marR="36000">
                    <a:lnL w="21600">
                      <a:solidFill>
                        <a:srgbClr val="000000"/>
                      </a:solidFill>
                      <a:prstDash val="solid"/>
                    </a:lnL>
                    <a:lnR w="12240">
                      <a:noFill/>
                      <a:prstDash val="solid"/>
                    </a:lnR>
                    <a:lnT w="32400" cap="flat" cmpd="sng" algn="ctr">
                      <a:solidFill>
                        <a:srgbClr val="000000"/>
                      </a:solidFill>
                      <a:prstDash val="solid"/>
                      <a:round/>
                      <a:headEnd type="none" w="med" len="med"/>
                      <a:tailEnd type="none" w="med" len="me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1,230,469</a:t>
                      </a:r>
                    </a:p>
                  </a:txBody>
                  <a:tcPr marL="36000" marR="36000">
                    <a:lnL w="12240">
                      <a:noFill/>
                      <a:prstDash val="solid"/>
                    </a:lnL>
                    <a:lnR w="21600">
                      <a:solidFill>
                        <a:srgbClr val="000000"/>
                      </a:solidFill>
                      <a:prstDash val="solid"/>
                    </a:lnR>
                    <a:lnT w="32400" cap="flat" cmpd="sng" algn="ctr">
                      <a:solidFill>
                        <a:srgbClr val="000000"/>
                      </a:solidFill>
                      <a:prstDash val="solid"/>
                      <a:round/>
                      <a:headEnd type="none" w="med" len="med"/>
                      <a:tailEnd type="none" w="med" len="med"/>
                    </a:lnT>
                    <a:lnB w="21600">
                      <a:solidFill>
                        <a:srgbClr val="000000"/>
                      </a:solidFill>
                      <a:prstDash val="solid"/>
                    </a:lnB>
                    <a:solidFill>
                      <a:srgbClr val="FDE9A9"/>
                    </a:solidFill>
                  </a:tcPr>
                </a:tc>
                <a:extLst>
                  <a:ext uri="{0D108BD9-81ED-4DB2-BD59-A6C34878D82A}">
                    <a16:rowId xmlns:a16="http://schemas.microsoft.com/office/drawing/2014/main" val="10001"/>
                  </a:ext>
                </a:extLst>
              </a:tr>
              <a:tr h="328320">
                <a:tc>
                  <a:txBody>
                    <a:bodyPr/>
                    <a:lstStyle/>
                    <a:p>
                      <a:pPr algn="ctr">
                        <a:lnSpc>
                          <a:spcPct val="100000"/>
                        </a:lnSpc>
                      </a:pPr>
                      <a:r>
                        <a:rPr lang="en-US" sz="1800" b="0" u="none" strike="noStrike">
                          <a:solidFill>
                            <a:srgbClr val="000000"/>
                          </a:solidFill>
                          <a:effectLst/>
                          <a:uFillTx/>
                          <a:latin typeface="Arial"/>
                        </a:rPr>
                        <a:t>OT</a:t>
                      </a:r>
                    </a:p>
                  </a:txBody>
                  <a:tcPr marL="36000" marR="36000">
                    <a:lnL w="21600">
                      <a:solidFill>
                        <a:srgbClr val="000000"/>
                      </a:solidFill>
                      <a:prstDash val="solid"/>
                    </a:lnL>
                    <a:lnR w="12240">
                      <a:noFill/>
                      <a:prstDash val="solid"/>
                    </a:lnR>
                    <a:lnT w="21600">
                      <a:solidFill>
                        <a:srgbClr val="000000"/>
                      </a:solidFill>
                      <a:prstDash val="soli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1,066,388</a:t>
                      </a:r>
                    </a:p>
                  </a:txBody>
                  <a:tcPr marL="36000" marR="36000">
                    <a:lnL w="12240">
                      <a:noFill/>
                      <a:prstDash val="solid"/>
                    </a:lnL>
                    <a:lnR w="21600">
                      <a:solidFill>
                        <a:srgbClr val="000000"/>
                      </a:solidFill>
                      <a:prstDash val="solid"/>
                    </a:lnR>
                    <a:lnT w="21600">
                      <a:solidFill>
                        <a:srgbClr val="000000"/>
                      </a:solidFill>
                      <a:prstDash val="solid"/>
                    </a:lnT>
                    <a:lnB w="21600">
                      <a:solidFill>
                        <a:srgbClr val="000000"/>
                      </a:solidFill>
                      <a:prstDash val="solid"/>
                    </a:lnB>
                    <a:solidFill>
                      <a:srgbClr val="FDE9A9"/>
                    </a:solidFill>
                  </a:tcPr>
                </a:tc>
                <a:extLst>
                  <a:ext uri="{0D108BD9-81ED-4DB2-BD59-A6C34878D82A}">
                    <a16:rowId xmlns:a16="http://schemas.microsoft.com/office/drawing/2014/main" val="10002"/>
                  </a:ext>
                </a:extLst>
              </a:tr>
              <a:tr h="328320">
                <a:tc>
                  <a:txBody>
                    <a:bodyPr/>
                    <a:lstStyle/>
                    <a:p>
                      <a:pPr algn="ctr">
                        <a:lnSpc>
                          <a:spcPct val="100000"/>
                        </a:lnSpc>
                      </a:pPr>
                      <a:r>
                        <a:rPr lang="en-US" sz="1800" b="0" u="none" strike="noStrike">
                          <a:solidFill>
                            <a:srgbClr val="000000"/>
                          </a:solidFill>
                          <a:effectLst/>
                          <a:uFillTx/>
                          <a:latin typeface="Arial"/>
                        </a:rPr>
                        <a:t>DE</a:t>
                      </a:r>
                    </a:p>
                  </a:txBody>
                  <a:tcPr marL="36000" marR="36000">
                    <a:lnL w="21600">
                      <a:solidFill>
                        <a:srgbClr val="000000"/>
                      </a:solidFill>
                      <a:prstDash val="solid"/>
                    </a:lnL>
                    <a:lnR w="12240">
                      <a:noFill/>
                      <a:prstDash val="solid"/>
                    </a:lnR>
                    <a:lnT w="21600">
                      <a:solidFill>
                        <a:srgbClr val="000000"/>
                      </a:solidFill>
                      <a:prstDash val="soli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304,088</a:t>
                      </a:r>
                    </a:p>
                  </a:txBody>
                  <a:tcPr marL="36000" marR="36000">
                    <a:lnL w="12240">
                      <a:noFill/>
                      <a:prstDash val="solid"/>
                    </a:lnL>
                    <a:lnR w="21600">
                      <a:solidFill>
                        <a:srgbClr val="000000"/>
                      </a:solidFill>
                      <a:prstDash val="solid"/>
                    </a:lnR>
                    <a:lnT w="21600">
                      <a:solidFill>
                        <a:srgbClr val="000000"/>
                      </a:solidFill>
                      <a:prstDash val="solid"/>
                    </a:lnT>
                    <a:lnB w="21600">
                      <a:solidFill>
                        <a:srgbClr val="000000"/>
                      </a:solidFill>
                      <a:prstDash val="solid"/>
                    </a:lnB>
                    <a:solidFill>
                      <a:srgbClr val="FDE9A9"/>
                    </a:solidFill>
                  </a:tcPr>
                </a:tc>
                <a:extLst>
                  <a:ext uri="{0D108BD9-81ED-4DB2-BD59-A6C34878D82A}">
                    <a16:rowId xmlns:a16="http://schemas.microsoft.com/office/drawing/2014/main" val="10003"/>
                  </a:ext>
                </a:extLst>
              </a:tr>
              <a:tr h="328320">
                <a:tc>
                  <a:txBody>
                    <a:bodyPr/>
                    <a:lstStyle/>
                    <a:p>
                      <a:pPr algn="ctr">
                        <a:lnSpc>
                          <a:spcPct val="100000"/>
                        </a:lnSpc>
                      </a:pPr>
                      <a:r>
                        <a:rPr lang="en-US" sz="1800" b="0" u="none" strike="noStrike">
                          <a:solidFill>
                            <a:srgbClr val="000000"/>
                          </a:solidFill>
                          <a:effectLst/>
                          <a:uFillTx/>
                          <a:latin typeface="Arial"/>
                        </a:rPr>
                        <a:t>LT</a:t>
                      </a:r>
                    </a:p>
                  </a:txBody>
                  <a:tcPr marL="36000" marR="36000">
                    <a:lnL w="21600">
                      <a:solidFill>
                        <a:srgbClr val="000000"/>
                      </a:solidFill>
                      <a:prstDash val="solid"/>
                    </a:lnL>
                    <a:lnR w="12240">
                      <a:noFill/>
                      <a:prstDash val="solid"/>
                    </a:lnR>
                    <a:lnT w="21600">
                      <a:solidFill>
                        <a:srgbClr val="000000"/>
                      </a:solidFill>
                      <a:prstDash val="soli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224,943</a:t>
                      </a:r>
                    </a:p>
                  </a:txBody>
                  <a:tcPr marL="36000" marR="36000">
                    <a:lnL w="12240">
                      <a:noFill/>
                      <a:prstDash val="solid"/>
                    </a:lnL>
                    <a:lnR w="21600">
                      <a:solidFill>
                        <a:srgbClr val="000000"/>
                      </a:solidFill>
                      <a:prstDash val="solid"/>
                    </a:lnR>
                    <a:lnT w="21600">
                      <a:solidFill>
                        <a:srgbClr val="000000"/>
                      </a:solidFill>
                      <a:prstDash val="solid"/>
                    </a:lnT>
                    <a:lnB w="21600">
                      <a:solidFill>
                        <a:srgbClr val="000000"/>
                      </a:solidFill>
                      <a:prstDash val="solid"/>
                    </a:lnB>
                    <a:solidFill>
                      <a:srgbClr val="FDE9A9"/>
                    </a:solidFill>
                  </a:tcPr>
                </a:tc>
                <a:extLst>
                  <a:ext uri="{0D108BD9-81ED-4DB2-BD59-A6C34878D82A}">
                    <a16:rowId xmlns:a16="http://schemas.microsoft.com/office/drawing/2014/main" val="10004"/>
                  </a:ext>
                </a:extLst>
              </a:tr>
              <a:tr h="328320">
                <a:tc>
                  <a:txBody>
                    <a:bodyPr/>
                    <a:lstStyle/>
                    <a:p>
                      <a:pPr algn="ctr">
                        <a:lnSpc>
                          <a:spcPct val="100000"/>
                        </a:lnSpc>
                      </a:pPr>
                      <a:r>
                        <a:rPr lang="en-US" sz="1800" b="0" u="none" strike="noStrike">
                          <a:solidFill>
                            <a:srgbClr val="000000"/>
                          </a:solidFill>
                          <a:effectLst/>
                          <a:uFillTx/>
                          <a:latin typeface="Arial"/>
                        </a:rPr>
                        <a:t>DS</a:t>
                      </a:r>
                    </a:p>
                  </a:txBody>
                  <a:tcPr marL="36000" marR="36000">
                    <a:lnL w="21600">
                      <a:solidFill>
                        <a:srgbClr val="000000"/>
                      </a:solidFill>
                      <a:prstDash val="solid"/>
                    </a:lnL>
                    <a:lnR w="12240">
                      <a:noFill/>
                      <a:prstDash val="solid"/>
                    </a:lnR>
                    <a:lnT w="21600">
                      <a:solidFill>
                        <a:srgbClr val="000000"/>
                      </a:solidFill>
                      <a:prstDash val="soli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98,806</a:t>
                      </a:r>
                    </a:p>
                  </a:txBody>
                  <a:tcPr marL="36000" marR="36000">
                    <a:lnL w="12240">
                      <a:noFill/>
                      <a:prstDash val="solid"/>
                    </a:lnL>
                    <a:lnR w="21600">
                      <a:solidFill>
                        <a:srgbClr val="000000"/>
                      </a:solidFill>
                      <a:prstDash val="solid"/>
                    </a:lnR>
                    <a:lnT w="21600">
                      <a:solidFill>
                        <a:srgbClr val="000000"/>
                      </a:solidFill>
                      <a:prstDash val="solid"/>
                    </a:lnT>
                    <a:lnB w="21600">
                      <a:solidFill>
                        <a:srgbClr val="000000"/>
                      </a:solidFill>
                      <a:prstDash val="solid"/>
                    </a:lnB>
                    <a:solidFill>
                      <a:srgbClr val="FDE9A9"/>
                    </a:solidFill>
                  </a:tcPr>
                </a:tc>
                <a:extLst>
                  <a:ext uri="{0D108BD9-81ED-4DB2-BD59-A6C34878D82A}">
                    <a16:rowId xmlns:a16="http://schemas.microsoft.com/office/drawing/2014/main" val="10005"/>
                  </a:ext>
                </a:extLst>
              </a:tr>
              <a:tr h="328320">
                <a:tc>
                  <a:txBody>
                    <a:bodyPr/>
                    <a:lstStyle/>
                    <a:p>
                      <a:pPr algn="ctr">
                        <a:lnSpc>
                          <a:spcPct val="100000"/>
                        </a:lnSpc>
                      </a:pPr>
                      <a:r>
                        <a:rPr lang="en-US" sz="1800" b="0" u="none" strike="noStrike">
                          <a:solidFill>
                            <a:srgbClr val="000000"/>
                          </a:solidFill>
                          <a:effectLst/>
                          <a:uFillTx/>
                          <a:latin typeface="Arial"/>
                        </a:rPr>
                        <a:t>RI</a:t>
                      </a:r>
                    </a:p>
                  </a:txBody>
                  <a:tcPr marL="36000" marR="36000">
                    <a:lnL w="21600">
                      <a:solidFill>
                        <a:srgbClr val="000000"/>
                      </a:solidFill>
                      <a:prstDash val="solid"/>
                    </a:lnL>
                    <a:lnR w="12240">
                      <a:noFill/>
                      <a:prstDash val="solid"/>
                    </a:lnR>
                    <a:lnT w="21600">
                      <a:solidFill>
                        <a:srgbClr val="000000"/>
                      </a:solidFill>
                      <a:prstDash val="soli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22,429</a:t>
                      </a:r>
                    </a:p>
                  </a:txBody>
                  <a:tcPr marL="36000" marR="36000">
                    <a:lnL w="12240">
                      <a:noFill/>
                      <a:prstDash val="solid"/>
                    </a:lnL>
                    <a:lnR w="21600">
                      <a:solidFill>
                        <a:srgbClr val="000000"/>
                      </a:solidFill>
                      <a:prstDash val="solid"/>
                    </a:lnR>
                    <a:lnT w="21600">
                      <a:solidFill>
                        <a:srgbClr val="000000"/>
                      </a:solidFill>
                      <a:prstDash val="solid"/>
                    </a:lnT>
                    <a:lnB w="21600">
                      <a:solidFill>
                        <a:srgbClr val="000000"/>
                      </a:solidFill>
                      <a:prstDash val="solid"/>
                    </a:lnB>
                    <a:solidFill>
                      <a:srgbClr val="FDE9A9"/>
                    </a:solidFill>
                  </a:tcPr>
                </a:tc>
                <a:extLst>
                  <a:ext uri="{0D108BD9-81ED-4DB2-BD59-A6C34878D82A}">
                    <a16:rowId xmlns:a16="http://schemas.microsoft.com/office/drawing/2014/main" val="10006"/>
                  </a:ext>
                </a:extLst>
              </a:tr>
              <a:tr h="328320">
                <a:tc>
                  <a:txBody>
                    <a:bodyPr/>
                    <a:lstStyle/>
                    <a:p>
                      <a:pPr algn="ctr">
                        <a:lnSpc>
                          <a:spcPct val="100000"/>
                        </a:lnSpc>
                      </a:pPr>
                      <a:r>
                        <a:rPr lang="en-US" sz="1800" b="0" u="none" strike="noStrike">
                          <a:solidFill>
                            <a:srgbClr val="000000"/>
                          </a:solidFill>
                          <a:effectLst/>
                          <a:uFillTx/>
                          <a:latin typeface="Arial"/>
                        </a:rPr>
                        <a:t>CA</a:t>
                      </a:r>
                    </a:p>
                  </a:txBody>
                  <a:tcPr marL="36000" marR="36000">
                    <a:lnL w="21600">
                      <a:solidFill>
                        <a:srgbClr val="000000"/>
                      </a:solidFill>
                      <a:prstDash val="solid"/>
                    </a:lnL>
                    <a:lnR w="12240">
                      <a:noFill/>
                      <a:prstDash val="solid"/>
                    </a:lnR>
                    <a:lnT w="21600">
                      <a:solidFill>
                        <a:srgbClr val="000000"/>
                      </a:solidFill>
                      <a:prstDash val="solid"/>
                    </a:lnT>
                    <a:lnB w="21600">
                      <a:solidFill>
                        <a:srgbClr val="000000"/>
                      </a:solidFill>
                      <a:prstDash val="solid"/>
                    </a:lnB>
                    <a:solidFill>
                      <a:srgbClr val="FDE9A9"/>
                    </a:solidFill>
                  </a:tcPr>
                </a:tc>
                <a:tc>
                  <a:txBody>
                    <a:bodyPr/>
                    <a:lstStyle/>
                    <a:p>
                      <a:pPr algn="ctr">
                        <a:lnSpc>
                          <a:spcPct val="100000"/>
                        </a:lnSpc>
                      </a:pPr>
                      <a:r>
                        <a:rPr lang="en-US" sz="1800" b="0" u="none" strike="noStrike">
                          <a:solidFill>
                            <a:srgbClr val="000000"/>
                          </a:solidFill>
                          <a:effectLst/>
                          <a:uFillTx/>
                          <a:latin typeface="Arial"/>
                        </a:rPr>
                        <a:t>7,832</a:t>
                      </a:r>
                    </a:p>
                  </a:txBody>
                  <a:tcPr marL="36000" marR="36000">
                    <a:lnL w="12240">
                      <a:noFill/>
                      <a:prstDash val="solid"/>
                    </a:lnL>
                    <a:lnR w="21600">
                      <a:solidFill>
                        <a:srgbClr val="000000"/>
                      </a:solidFill>
                      <a:prstDash val="solid"/>
                    </a:lnR>
                    <a:lnT w="21600">
                      <a:solidFill>
                        <a:srgbClr val="000000"/>
                      </a:solidFill>
                      <a:prstDash val="solid"/>
                    </a:lnT>
                    <a:lnB w="21600">
                      <a:solidFill>
                        <a:srgbClr val="000000"/>
                      </a:solidFill>
                      <a:prstDash val="solid"/>
                    </a:lnB>
                    <a:solidFill>
                      <a:srgbClr val="FDE9A9"/>
                    </a:solidFill>
                  </a:tcPr>
                </a:tc>
                <a:extLst>
                  <a:ext uri="{0D108BD9-81ED-4DB2-BD59-A6C34878D82A}">
                    <a16:rowId xmlns:a16="http://schemas.microsoft.com/office/drawing/2014/main" val="10007"/>
                  </a:ext>
                </a:extLst>
              </a:tr>
            </a:tbl>
          </a:graphicData>
        </a:graphic>
      </p:graphicFrame>
      <p:sp>
        <p:nvSpPr>
          <p:cNvPr id="338" name="Rectangle 39"/>
          <p:cNvSpPr/>
          <p:nvPr/>
        </p:nvSpPr>
        <p:spPr>
          <a:xfrm>
            <a:off x="8859960" y="1315800"/>
            <a:ext cx="1749240" cy="496800"/>
          </a:xfrm>
          <a:prstGeom prst="rect">
            <a:avLst/>
          </a:prstGeom>
          <a:solidFill>
            <a:srgbClr val="4A9ED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9" name="Rectangle 40"/>
          <p:cNvSpPr/>
          <p:nvPr/>
        </p:nvSpPr>
        <p:spPr>
          <a:xfrm>
            <a:off x="1371600" y="1315800"/>
            <a:ext cx="1550520" cy="496800"/>
          </a:xfrm>
          <a:prstGeom prst="rect">
            <a:avLst/>
          </a:prstGeom>
          <a:solidFill>
            <a:srgbClr val="4A9ED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340" name="TextBox 36"/>
          <p:cNvSpPr/>
          <p:nvPr/>
        </p:nvSpPr>
        <p:spPr>
          <a:xfrm>
            <a:off x="1386720" y="1315800"/>
            <a:ext cx="1504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341" name="TextBox 38"/>
          <p:cNvSpPr/>
          <p:nvPr/>
        </p:nvSpPr>
        <p:spPr>
          <a:xfrm>
            <a:off x="2871000" y="140868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42" name="Rectangle 41"/>
          <p:cNvSpPr/>
          <p:nvPr/>
        </p:nvSpPr>
        <p:spPr>
          <a:xfrm>
            <a:off x="3171960" y="1330200"/>
            <a:ext cx="1776960" cy="496800"/>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3" name="TextBox 40"/>
          <p:cNvSpPr/>
          <p:nvPr/>
        </p:nvSpPr>
        <p:spPr>
          <a:xfrm>
            <a:off x="3171960" y="1330200"/>
            <a:ext cx="177732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344" name="TextBox 41"/>
          <p:cNvSpPr/>
          <p:nvPr/>
        </p:nvSpPr>
        <p:spPr>
          <a:xfrm>
            <a:off x="4903920" y="141480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45" name="Rectangle 42"/>
          <p:cNvSpPr/>
          <p:nvPr/>
        </p:nvSpPr>
        <p:spPr>
          <a:xfrm>
            <a:off x="5184000" y="1315800"/>
            <a:ext cx="1594080" cy="496800"/>
          </a:xfrm>
          <a:prstGeom prst="rect">
            <a:avLst/>
          </a:prstGeom>
          <a:solidFill>
            <a:srgbClr val="63BBEE"/>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346" name="TextBox 42"/>
          <p:cNvSpPr/>
          <p:nvPr/>
        </p:nvSpPr>
        <p:spPr>
          <a:xfrm>
            <a:off x="8546760" y="140256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47" name="Rectangle 43"/>
          <p:cNvSpPr/>
          <p:nvPr/>
        </p:nvSpPr>
        <p:spPr>
          <a:xfrm>
            <a:off x="7010280" y="1315800"/>
            <a:ext cx="1594080" cy="496800"/>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8" name="TextBox 44"/>
          <p:cNvSpPr/>
          <p:nvPr/>
        </p:nvSpPr>
        <p:spPr>
          <a:xfrm>
            <a:off x="8915040" y="1329840"/>
            <a:ext cx="17060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349" name="TextBox 45"/>
          <p:cNvSpPr/>
          <p:nvPr/>
        </p:nvSpPr>
        <p:spPr>
          <a:xfrm>
            <a:off x="6732720" y="141480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50" name="Rectangle 349"/>
          <p:cNvSpPr/>
          <p:nvPr/>
        </p:nvSpPr>
        <p:spPr>
          <a:xfrm>
            <a:off x="3299040" y="1337760"/>
            <a:ext cx="1497600" cy="48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Define Unique Outcome Code</a:t>
            </a:r>
            <a:endParaRPr lang="en-US" sz="1300" b="0" u="none" strike="noStrike">
              <a:solidFill>
                <a:srgbClr val="FFFFFF"/>
              </a:solidFill>
              <a:effectLst/>
              <a:uFillTx/>
              <a:latin typeface="Arial"/>
            </a:endParaRPr>
          </a:p>
        </p:txBody>
      </p:sp>
      <p:sp>
        <p:nvSpPr>
          <p:cNvPr id="351" name="Rectangle 350"/>
          <p:cNvSpPr/>
          <p:nvPr/>
        </p:nvSpPr>
        <p:spPr>
          <a:xfrm>
            <a:off x="5257440" y="1315800"/>
            <a:ext cx="1441440" cy="48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dirty="0">
                <a:solidFill>
                  <a:srgbClr val="000000"/>
                </a:solidFill>
                <a:effectLst/>
                <a:uFillTx/>
                <a:latin typeface="Calibri"/>
                <a:ea typeface="DejaVu Sans"/>
              </a:rPr>
              <a:t>Define Binary Target - Severity</a:t>
            </a:r>
            <a:endParaRPr lang="en-US" sz="1300" b="0" u="none" strike="noStrike" dirty="0">
              <a:solidFill>
                <a:srgbClr val="FFFFFF"/>
              </a:solidFill>
              <a:effectLst/>
              <a:uFillTx/>
              <a:latin typeface="Arial"/>
            </a:endParaRPr>
          </a:p>
        </p:txBody>
      </p:sp>
      <p:sp>
        <p:nvSpPr>
          <p:cNvPr id="352" name="Rectangle 351"/>
          <p:cNvSpPr/>
          <p:nvPr/>
        </p:nvSpPr>
        <p:spPr>
          <a:xfrm>
            <a:off x="1536120" y="1315800"/>
            <a:ext cx="1355400" cy="490988"/>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300" b="1" u="none" strike="noStrike" dirty="0">
                <a:solidFill>
                  <a:srgbClr val="000000"/>
                </a:solidFill>
                <a:effectLst/>
                <a:uFillTx/>
                <a:latin typeface="Calibri"/>
                <a:ea typeface="DejaVu Sans"/>
              </a:rPr>
              <a:t>Fetch FAERS Data</a:t>
            </a:r>
            <a:endParaRPr lang="en-US" sz="1300" b="0" u="none" strike="noStrike" dirty="0">
              <a:solidFill>
                <a:srgbClr val="FFFFFF"/>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53" name="Rectangle 1"/>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354" name="Rectangle 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5" name="TextBox 3"/>
          <p:cNvSpPr/>
          <p:nvPr/>
        </p:nvSpPr>
        <p:spPr>
          <a:xfrm>
            <a:off x="274320" y="164520"/>
            <a:ext cx="1160676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dirty="0">
                <a:solidFill>
                  <a:srgbClr val="FFFFFF"/>
                </a:solidFill>
                <a:effectLst/>
                <a:uFillTx/>
                <a:latin typeface="Calibri"/>
                <a:ea typeface="DejaVu Sans"/>
              </a:rPr>
              <a:t>2.3 Solution: Matryoshka Representation Learning for Embedding</a:t>
            </a:r>
            <a:endParaRPr lang="en-US" sz="2800" b="0" u="none" strike="noStrike" dirty="0">
              <a:solidFill>
                <a:srgbClr val="FFFFFF"/>
              </a:solidFill>
              <a:effectLst/>
              <a:uFillTx/>
              <a:latin typeface="Arial"/>
            </a:endParaRPr>
          </a:p>
        </p:txBody>
      </p:sp>
      <p:pic>
        <p:nvPicPr>
          <p:cNvPr id="356" name="Picture 355"/>
          <p:cNvPicPr/>
          <p:nvPr/>
        </p:nvPicPr>
        <p:blipFill>
          <a:blip r:embed="rId3"/>
          <a:stretch/>
        </p:blipFill>
        <p:spPr>
          <a:xfrm>
            <a:off x="7212240" y="4117680"/>
            <a:ext cx="3530160" cy="1824120"/>
          </a:xfrm>
          <a:prstGeom prst="rect">
            <a:avLst/>
          </a:prstGeom>
          <a:noFill/>
          <a:ln w="0">
            <a:noFill/>
          </a:ln>
        </p:spPr>
      </p:pic>
      <p:pic>
        <p:nvPicPr>
          <p:cNvPr id="357" name="Picture 356"/>
          <p:cNvPicPr/>
          <p:nvPr/>
        </p:nvPicPr>
        <p:blipFill>
          <a:blip r:embed="rId4"/>
          <a:stretch/>
        </p:blipFill>
        <p:spPr>
          <a:xfrm>
            <a:off x="1143000" y="1600200"/>
            <a:ext cx="5254200" cy="2861280"/>
          </a:xfrm>
          <a:prstGeom prst="rect">
            <a:avLst/>
          </a:prstGeom>
          <a:noFill/>
          <a:ln w="0">
            <a:noFill/>
          </a:ln>
        </p:spPr>
      </p:pic>
      <p:sp>
        <p:nvSpPr>
          <p:cNvPr id="358" name="Rectangle 357"/>
          <p:cNvSpPr/>
          <p:nvPr/>
        </p:nvSpPr>
        <p:spPr>
          <a:xfrm>
            <a:off x="6629400" y="6172200"/>
            <a:ext cx="5027400" cy="33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a:solidFill>
                  <a:srgbClr val="FFFFFF"/>
                </a:solidFill>
                <a:effectLst/>
                <a:uFillTx/>
                <a:latin typeface="Arial"/>
                <a:ea typeface="DejaVu Sans"/>
              </a:rPr>
              <a:t>Base Model:</a:t>
            </a:r>
            <a:r>
              <a:rPr lang="en-US" sz="1600" b="0" u="none" strike="noStrike">
                <a:solidFill>
                  <a:srgbClr val="FDE9A9"/>
                </a:solidFill>
                <a:effectLst/>
                <a:uFillTx/>
                <a:latin typeface="Arial"/>
                <a:ea typeface="DejaVu Sans"/>
              </a:rPr>
              <a:t> </a:t>
            </a:r>
            <a:r>
              <a:rPr lang="en-US" sz="1600" b="1" u="sng" strike="noStrike">
                <a:solidFill>
                  <a:srgbClr val="0000FF"/>
                </a:solidFill>
                <a:effectLst/>
                <a:uFillTx/>
                <a:latin typeface="Arial"/>
                <a:ea typeface="DejaVu Sans"/>
                <a:hlinkClick r:id="rId5"/>
              </a:rPr>
              <a:t>https://huggingface.co/BAAI/bge-m3</a:t>
            </a:r>
            <a:endParaRPr lang="en-US" sz="1600" b="0" u="none" strike="noStrike">
              <a:solidFill>
                <a:srgbClr val="FFFFFF"/>
              </a:solidFill>
              <a:effectLst/>
              <a:uFillTx/>
              <a:latin typeface="Arial"/>
            </a:endParaRPr>
          </a:p>
        </p:txBody>
      </p:sp>
      <p:pic>
        <p:nvPicPr>
          <p:cNvPr id="359" name="Picture 358"/>
          <p:cNvPicPr/>
          <p:nvPr/>
        </p:nvPicPr>
        <p:blipFill>
          <a:blip r:embed="rId6"/>
          <a:stretch/>
        </p:blipFill>
        <p:spPr>
          <a:xfrm>
            <a:off x="7772400" y="1665720"/>
            <a:ext cx="2284200" cy="2218680"/>
          </a:xfrm>
          <a:prstGeom prst="rect">
            <a:avLst/>
          </a:prstGeom>
          <a:noFill/>
          <a:ln w="0">
            <a:noFill/>
          </a:ln>
        </p:spPr>
      </p:pic>
      <p:sp>
        <p:nvSpPr>
          <p:cNvPr id="360" name="Rectangle 39"/>
          <p:cNvSpPr/>
          <p:nvPr/>
        </p:nvSpPr>
        <p:spPr>
          <a:xfrm>
            <a:off x="8850600" y="914400"/>
            <a:ext cx="1749240" cy="496800"/>
          </a:xfrm>
          <a:prstGeom prst="rect">
            <a:avLst/>
          </a:prstGeom>
          <a:solidFill>
            <a:srgbClr val="4A9ED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1" name="TextBox 42"/>
          <p:cNvSpPr/>
          <p:nvPr/>
        </p:nvSpPr>
        <p:spPr>
          <a:xfrm>
            <a:off x="8561880" y="100116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62" name="TextBox 44"/>
          <p:cNvSpPr/>
          <p:nvPr/>
        </p:nvSpPr>
        <p:spPr>
          <a:xfrm>
            <a:off x="8930160" y="928440"/>
            <a:ext cx="17060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pic>
        <p:nvPicPr>
          <p:cNvPr id="363" name="Picture 362"/>
          <p:cNvPicPr/>
          <p:nvPr/>
        </p:nvPicPr>
        <p:blipFill>
          <a:blip r:embed="rId7"/>
          <a:stretch/>
        </p:blipFill>
        <p:spPr>
          <a:xfrm>
            <a:off x="1620372" y="4598429"/>
            <a:ext cx="4137248" cy="736981"/>
          </a:xfrm>
          <a:prstGeom prst="rect">
            <a:avLst/>
          </a:prstGeom>
          <a:noFill/>
          <a:ln w="18360">
            <a:noFill/>
          </a:ln>
        </p:spPr>
      </p:pic>
      <p:sp>
        <p:nvSpPr>
          <p:cNvPr id="364" name="Rectangle 363"/>
          <p:cNvSpPr/>
          <p:nvPr/>
        </p:nvSpPr>
        <p:spPr>
          <a:xfrm>
            <a:off x="711540" y="5361839"/>
            <a:ext cx="6170400" cy="583321"/>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spcBef>
                <a:spcPts val="1191"/>
              </a:spcBef>
              <a:spcAft>
                <a:spcPts val="992"/>
              </a:spcAft>
            </a:pPr>
            <a:r>
              <a:rPr lang="en-US" sz="1600" dirty="0">
                <a:solidFill>
                  <a:schemeClr val="bg1"/>
                </a:solidFill>
              </a:rPr>
              <a:t>The Matryoshka loss is the sum of the individual losses computed at each dimension</a:t>
            </a:r>
            <a:endParaRPr lang="en-US" sz="1500" b="0" u="none" strike="noStrike" dirty="0">
              <a:solidFill>
                <a:schemeClr val="bg1"/>
              </a:solidFill>
              <a:effectLst/>
              <a:uFillTx/>
              <a:latin typeface="Arial"/>
            </a:endParaRPr>
          </a:p>
        </p:txBody>
      </p:sp>
      <p:sp>
        <p:nvSpPr>
          <p:cNvPr id="365" name="TextBox 13"/>
          <p:cNvSpPr/>
          <p:nvPr/>
        </p:nvSpPr>
        <p:spPr>
          <a:xfrm>
            <a:off x="1772640" y="4572000"/>
            <a:ext cx="1504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366" name="TextBox 16"/>
          <p:cNvSpPr/>
          <p:nvPr/>
        </p:nvSpPr>
        <p:spPr>
          <a:xfrm>
            <a:off x="3557880" y="4586400"/>
            <a:ext cx="177732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grpSp>
        <p:nvGrpSpPr>
          <p:cNvPr id="367" name="Group 366"/>
          <p:cNvGrpSpPr/>
          <p:nvPr/>
        </p:nvGrpSpPr>
        <p:grpSpPr>
          <a:xfrm>
            <a:off x="1386720" y="914400"/>
            <a:ext cx="7232760" cy="524880"/>
            <a:chOff x="1386720" y="914400"/>
            <a:chExt cx="7232760" cy="524880"/>
          </a:xfrm>
        </p:grpSpPr>
        <p:sp>
          <p:nvSpPr>
            <p:cNvPr id="368" name="Rectangle 40"/>
            <p:cNvSpPr/>
            <p:nvPr/>
          </p:nvSpPr>
          <p:spPr>
            <a:xfrm>
              <a:off x="1386720" y="914400"/>
              <a:ext cx="1550520" cy="496800"/>
            </a:xfrm>
            <a:prstGeom prst="rect">
              <a:avLst/>
            </a:prstGeom>
            <a:solidFill>
              <a:srgbClr val="4A9ED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369" name="TextBox 36"/>
            <p:cNvSpPr/>
            <p:nvPr/>
          </p:nvSpPr>
          <p:spPr>
            <a:xfrm>
              <a:off x="1401840" y="914400"/>
              <a:ext cx="1504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370" name="TextBox 38"/>
            <p:cNvSpPr/>
            <p:nvPr/>
          </p:nvSpPr>
          <p:spPr>
            <a:xfrm>
              <a:off x="2886120" y="100728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71" name="Rectangle 41"/>
            <p:cNvSpPr/>
            <p:nvPr/>
          </p:nvSpPr>
          <p:spPr>
            <a:xfrm>
              <a:off x="3187080" y="928800"/>
              <a:ext cx="1776960" cy="496800"/>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2" name="TextBox 40"/>
            <p:cNvSpPr/>
            <p:nvPr/>
          </p:nvSpPr>
          <p:spPr>
            <a:xfrm>
              <a:off x="3187080" y="928800"/>
              <a:ext cx="177732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373" name="TextBox 41"/>
            <p:cNvSpPr/>
            <p:nvPr/>
          </p:nvSpPr>
          <p:spPr>
            <a:xfrm>
              <a:off x="4919040" y="101340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74" name="Rectangle 42"/>
            <p:cNvSpPr/>
            <p:nvPr/>
          </p:nvSpPr>
          <p:spPr>
            <a:xfrm>
              <a:off x="5199120" y="914400"/>
              <a:ext cx="1594080" cy="496800"/>
            </a:xfrm>
            <a:prstGeom prst="rect">
              <a:avLst/>
            </a:prstGeom>
            <a:solidFill>
              <a:srgbClr val="63BBEE"/>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375" name="Rectangle 43"/>
            <p:cNvSpPr/>
            <p:nvPr/>
          </p:nvSpPr>
          <p:spPr>
            <a:xfrm>
              <a:off x="7025400" y="914400"/>
              <a:ext cx="1594080" cy="496800"/>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6" name="TextBox 45"/>
            <p:cNvSpPr/>
            <p:nvPr/>
          </p:nvSpPr>
          <p:spPr>
            <a:xfrm>
              <a:off x="6747840" y="101340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77" name="Rectangle 376"/>
            <p:cNvSpPr/>
            <p:nvPr/>
          </p:nvSpPr>
          <p:spPr>
            <a:xfrm>
              <a:off x="3314160" y="936360"/>
              <a:ext cx="1497600" cy="4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endParaRPr lang="en-US" sz="1800" b="0" u="none" strike="noStrike">
                <a:solidFill>
                  <a:srgbClr val="FFFFFF"/>
                </a:solidFill>
                <a:effectLst/>
                <a:uFillTx/>
                <a:latin typeface="Arial"/>
              </a:endParaRPr>
            </a:p>
          </p:txBody>
        </p:sp>
        <p:sp>
          <p:nvSpPr>
            <p:cNvPr id="378" name="Rectangle 377"/>
            <p:cNvSpPr/>
            <p:nvPr/>
          </p:nvSpPr>
          <p:spPr>
            <a:xfrm>
              <a:off x="5272560" y="914400"/>
              <a:ext cx="1441440" cy="4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endParaRPr lang="en-US" sz="1800" b="0" u="none" strike="noStrike">
                <a:solidFill>
                  <a:srgbClr val="FFFFFF"/>
                </a:solidFill>
                <a:effectLst/>
                <a:uFillTx/>
                <a:latin typeface="Arial"/>
              </a:endParaRPr>
            </a:p>
          </p:txBody>
        </p:sp>
        <p:sp>
          <p:nvSpPr>
            <p:cNvPr id="379" name="Rectangle 378"/>
            <p:cNvSpPr/>
            <p:nvPr/>
          </p:nvSpPr>
          <p:spPr>
            <a:xfrm>
              <a:off x="7036200" y="916200"/>
              <a:ext cx="158328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Fine-tune</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Embedding Model</a:t>
              </a:r>
              <a:endParaRPr lang="en-US" sz="1300" b="0" u="none" strike="noStrike">
                <a:solidFill>
                  <a:srgbClr val="FFFFFF"/>
                </a:solidFill>
                <a:effectLst/>
                <a:uFillTx/>
                <a:latin typeface="Arial"/>
              </a:endParaRPr>
            </a:p>
          </p:txBody>
        </p:sp>
        <p:sp>
          <p:nvSpPr>
            <p:cNvPr id="380" name="Rectangle 379"/>
            <p:cNvSpPr/>
            <p:nvPr/>
          </p:nvSpPr>
          <p:spPr>
            <a:xfrm>
              <a:off x="3314160" y="928800"/>
              <a:ext cx="1441440" cy="48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Define Binary Target Severity</a:t>
              </a:r>
              <a:endParaRPr lang="en-US" sz="1300" b="0" u="none" strike="noStrike">
                <a:solidFill>
                  <a:srgbClr val="FFFFFF"/>
                </a:solidFill>
                <a:effectLst/>
                <a:uFillTx/>
                <a:latin typeface="Arial"/>
              </a:endParaRPr>
            </a:p>
          </p:txBody>
        </p:sp>
        <p:sp>
          <p:nvSpPr>
            <p:cNvPr id="381" name="Rectangle 380"/>
            <p:cNvSpPr/>
            <p:nvPr/>
          </p:nvSpPr>
          <p:spPr>
            <a:xfrm>
              <a:off x="1471680" y="914400"/>
              <a:ext cx="1355400" cy="490988"/>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dirty="0">
                  <a:solidFill>
                    <a:srgbClr val="000000"/>
                  </a:solidFill>
                  <a:effectLst/>
                  <a:uFillTx/>
                  <a:latin typeface="Calibri"/>
                  <a:ea typeface="DejaVu Sans"/>
                </a:rPr>
                <a:t>Fetch FAERS Data</a:t>
              </a:r>
              <a:endParaRPr lang="en-US" sz="1300" b="0" u="none" strike="noStrike" dirty="0">
                <a:solidFill>
                  <a:srgbClr val="FFFFFF"/>
                </a:solidFill>
                <a:effectLst/>
                <a:uFillTx/>
                <a:latin typeface="Arial"/>
              </a:endParaRPr>
            </a:p>
          </p:txBody>
        </p:sp>
        <p:sp>
          <p:nvSpPr>
            <p:cNvPr id="382" name="Rectangle 381"/>
            <p:cNvSpPr/>
            <p:nvPr/>
          </p:nvSpPr>
          <p:spPr>
            <a:xfrm>
              <a:off x="5199120" y="916200"/>
              <a:ext cx="151488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Define Binary Target Severity</a:t>
              </a:r>
              <a:endParaRPr lang="en-US" sz="1300" b="0" u="none" strike="noStrike">
                <a:solidFill>
                  <a:srgbClr val="FFFFFF"/>
                </a:solidFill>
                <a:effectLst/>
                <a:uFillTx/>
                <a:latin typeface="Arial"/>
              </a:endParaRPr>
            </a:p>
          </p:txBody>
        </p:sp>
      </p:grpSp>
      <p:sp>
        <p:nvSpPr>
          <p:cNvPr id="8" name="Rectangle 7">
            <a:extLst>
              <a:ext uri="{FF2B5EF4-FFF2-40B4-BE49-F238E27FC236}">
                <a16:creationId xmlns:a16="http://schemas.microsoft.com/office/drawing/2014/main" id="{90B3CA08-0CC4-C3ED-27EC-D3945A175DDE}"/>
              </a:ext>
            </a:extLst>
          </p:cNvPr>
          <p:cNvSpPr/>
          <p:nvPr/>
        </p:nvSpPr>
        <p:spPr>
          <a:xfrm>
            <a:off x="7212240" y="4362773"/>
            <a:ext cx="3518945" cy="22362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83" name="Rectangle 58"/>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384" name="Rectangle 59"/>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5" name="TextBox 6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2.4  Evaluation: Model Performance – ML vs DL vs LLM</a:t>
            </a:r>
            <a:endParaRPr lang="en-US" sz="2800" b="0" u="none" strike="noStrike">
              <a:solidFill>
                <a:srgbClr val="FFFFFF"/>
              </a:solidFill>
              <a:effectLst/>
              <a:uFillTx/>
              <a:latin typeface="Arial"/>
            </a:endParaRPr>
          </a:p>
        </p:txBody>
      </p:sp>
      <p:pic>
        <p:nvPicPr>
          <p:cNvPr id="386" name="Picture 385"/>
          <p:cNvPicPr/>
          <p:nvPr/>
        </p:nvPicPr>
        <p:blipFill>
          <a:blip r:embed="rId3"/>
          <a:stretch/>
        </p:blipFill>
        <p:spPr>
          <a:xfrm rot="21588600">
            <a:off x="1600920" y="1784880"/>
            <a:ext cx="4333320" cy="2548080"/>
          </a:xfrm>
          <a:prstGeom prst="rect">
            <a:avLst/>
          </a:prstGeom>
          <a:noFill/>
          <a:ln w="0">
            <a:noFill/>
          </a:ln>
        </p:spPr>
      </p:pic>
      <p:pic>
        <p:nvPicPr>
          <p:cNvPr id="387" name="Picture 386"/>
          <p:cNvPicPr/>
          <p:nvPr/>
        </p:nvPicPr>
        <p:blipFill>
          <a:blip r:embed="rId4"/>
          <a:stretch/>
        </p:blipFill>
        <p:spPr>
          <a:xfrm>
            <a:off x="6859440" y="4114800"/>
            <a:ext cx="2967120" cy="2214360"/>
          </a:xfrm>
          <a:prstGeom prst="rect">
            <a:avLst/>
          </a:prstGeom>
          <a:noFill/>
          <a:ln w="0">
            <a:noFill/>
          </a:ln>
        </p:spPr>
      </p:pic>
      <p:pic>
        <p:nvPicPr>
          <p:cNvPr id="388" name="Picture 387"/>
          <p:cNvPicPr/>
          <p:nvPr/>
        </p:nvPicPr>
        <p:blipFill>
          <a:blip r:embed="rId5"/>
          <a:stretch/>
        </p:blipFill>
        <p:spPr>
          <a:xfrm>
            <a:off x="6859440" y="1828800"/>
            <a:ext cx="2967120" cy="2196720"/>
          </a:xfrm>
          <a:prstGeom prst="rect">
            <a:avLst/>
          </a:prstGeom>
          <a:noFill/>
          <a:ln w="0">
            <a:noFill/>
          </a:ln>
        </p:spPr>
      </p:pic>
      <p:pic>
        <p:nvPicPr>
          <p:cNvPr id="389" name="Picture 388"/>
          <p:cNvPicPr/>
          <p:nvPr/>
        </p:nvPicPr>
        <p:blipFill>
          <a:blip r:embed="rId6"/>
          <a:stretch/>
        </p:blipFill>
        <p:spPr>
          <a:xfrm>
            <a:off x="1600200" y="4573080"/>
            <a:ext cx="4340160" cy="1472760"/>
          </a:xfrm>
          <a:prstGeom prst="rect">
            <a:avLst/>
          </a:prstGeom>
          <a:noFill/>
          <a:ln w="0">
            <a:noFill/>
          </a:ln>
        </p:spPr>
      </p:pic>
      <p:sp>
        <p:nvSpPr>
          <p:cNvPr id="390" name="Rectangle 39"/>
          <p:cNvSpPr/>
          <p:nvPr/>
        </p:nvSpPr>
        <p:spPr>
          <a:xfrm>
            <a:off x="8993160" y="914400"/>
            <a:ext cx="1749240" cy="496800"/>
          </a:xfrm>
          <a:prstGeom prst="rect">
            <a:avLst/>
          </a:prstGeom>
          <a:solidFill>
            <a:srgbClr val="63BBEE"/>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91" name="TextBox 36"/>
          <p:cNvSpPr/>
          <p:nvPr/>
        </p:nvSpPr>
        <p:spPr>
          <a:xfrm>
            <a:off x="2072520" y="1909800"/>
            <a:ext cx="1504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392" name="TextBox 40"/>
          <p:cNvSpPr/>
          <p:nvPr/>
        </p:nvSpPr>
        <p:spPr>
          <a:xfrm>
            <a:off x="3857760" y="1924200"/>
            <a:ext cx="177732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393" name="TextBox 44"/>
          <p:cNvSpPr/>
          <p:nvPr/>
        </p:nvSpPr>
        <p:spPr>
          <a:xfrm>
            <a:off x="9600840" y="1923840"/>
            <a:ext cx="170604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000000"/>
                </a:solidFill>
                <a:effectLst/>
                <a:uFillTx/>
                <a:latin typeface="Calibri"/>
                <a:ea typeface="DejaVu Sans"/>
              </a:rPr>
              <a:t> </a:t>
            </a:r>
            <a:endParaRPr lang="en-US" sz="1300" b="0" u="none" strike="noStrike">
              <a:solidFill>
                <a:srgbClr val="FFFFFF"/>
              </a:solidFill>
              <a:effectLst/>
              <a:uFillTx/>
              <a:latin typeface="Arial"/>
            </a:endParaRPr>
          </a:p>
        </p:txBody>
      </p:sp>
      <p:sp>
        <p:nvSpPr>
          <p:cNvPr id="394" name="TextBox 45"/>
          <p:cNvSpPr/>
          <p:nvPr/>
        </p:nvSpPr>
        <p:spPr>
          <a:xfrm>
            <a:off x="8621280" y="100152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395" name="Rectangle 394"/>
          <p:cNvSpPr/>
          <p:nvPr/>
        </p:nvSpPr>
        <p:spPr>
          <a:xfrm>
            <a:off x="5943240" y="1909800"/>
            <a:ext cx="1441440" cy="4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endParaRPr lang="en-US" sz="1800" b="0" u="none" strike="noStrike">
              <a:solidFill>
                <a:srgbClr val="FFFFFF"/>
              </a:solidFill>
              <a:effectLst/>
              <a:uFillTx/>
              <a:latin typeface="Arial"/>
            </a:endParaRPr>
          </a:p>
        </p:txBody>
      </p:sp>
      <p:sp>
        <p:nvSpPr>
          <p:cNvPr id="396" name="Rectangle 395"/>
          <p:cNvSpPr/>
          <p:nvPr/>
        </p:nvSpPr>
        <p:spPr>
          <a:xfrm>
            <a:off x="9144000" y="1001520"/>
            <a:ext cx="1580760" cy="288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300" b="1" u="none" strike="noStrike">
                <a:solidFill>
                  <a:srgbClr val="000000"/>
                </a:solidFill>
                <a:effectLst/>
                <a:uFillTx/>
                <a:latin typeface="Calibri"/>
                <a:ea typeface="DejaVu Sans"/>
              </a:rPr>
              <a:t>Model Performance</a:t>
            </a:r>
            <a:endParaRPr lang="en-US" sz="1300" b="0" u="none" strike="noStrike">
              <a:solidFill>
                <a:srgbClr val="FFFFFF"/>
              </a:solidFill>
              <a:effectLst/>
              <a:uFillTx/>
              <a:latin typeface="Arial"/>
            </a:endParaRPr>
          </a:p>
        </p:txBody>
      </p:sp>
      <p:sp>
        <p:nvSpPr>
          <p:cNvPr id="397" name="Rectangle 396"/>
          <p:cNvSpPr/>
          <p:nvPr/>
        </p:nvSpPr>
        <p:spPr>
          <a:xfrm>
            <a:off x="1600200" y="2054160"/>
            <a:ext cx="4196520" cy="372960"/>
          </a:xfrm>
          <a:prstGeom prst="rect">
            <a:avLst/>
          </a:prstGeom>
          <a:solidFill>
            <a:srgbClr val="F9CFB5">
              <a:alpha val="40000"/>
            </a:srgbClr>
          </a:solidFill>
          <a:ln w="18360">
            <a:solidFill>
              <a:srgbClr val="A33E03"/>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398" name="Rectangle 397"/>
          <p:cNvSpPr/>
          <p:nvPr/>
        </p:nvSpPr>
        <p:spPr>
          <a:xfrm>
            <a:off x="1600200" y="2428920"/>
            <a:ext cx="4190400" cy="784080"/>
          </a:xfrm>
          <a:prstGeom prst="rect">
            <a:avLst/>
          </a:prstGeom>
          <a:solidFill>
            <a:srgbClr val="CCF4C6">
              <a:alpha val="30000"/>
            </a:srgbClr>
          </a:solidFill>
          <a:ln w="18360">
            <a:solidFill>
              <a:srgbClr val="43C33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399" name="Rectangle 398"/>
          <p:cNvSpPr/>
          <p:nvPr/>
        </p:nvSpPr>
        <p:spPr>
          <a:xfrm>
            <a:off x="1600560" y="3214800"/>
            <a:ext cx="4190400" cy="784080"/>
          </a:xfrm>
          <a:prstGeom prst="rect">
            <a:avLst/>
          </a:prstGeom>
          <a:solidFill>
            <a:srgbClr val="63BBEE">
              <a:alpha val="40000"/>
            </a:srgbClr>
          </a:solidFill>
          <a:ln w="18360">
            <a:solidFill>
              <a:srgbClr val="63BBE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grpSp>
        <p:nvGrpSpPr>
          <p:cNvPr id="400" name="Group 399"/>
          <p:cNvGrpSpPr/>
          <p:nvPr/>
        </p:nvGrpSpPr>
        <p:grpSpPr>
          <a:xfrm>
            <a:off x="1386720" y="914400"/>
            <a:ext cx="7232760" cy="684720"/>
            <a:chOff x="1386720" y="914400"/>
            <a:chExt cx="7232760" cy="684720"/>
          </a:xfrm>
        </p:grpSpPr>
        <p:sp>
          <p:nvSpPr>
            <p:cNvPr id="401" name="Rectangle 40"/>
            <p:cNvSpPr/>
            <p:nvPr/>
          </p:nvSpPr>
          <p:spPr>
            <a:xfrm>
              <a:off x="1386720" y="914400"/>
              <a:ext cx="1550520" cy="496800"/>
            </a:xfrm>
            <a:prstGeom prst="rect">
              <a:avLst/>
            </a:prstGeom>
            <a:solidFill>
              <a:srgbClr val="4A9ED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402" name="TextBox 36"/>
            <p:cNvSpPr/>
            <p:nvPr/>
          </p:nvSpPr>
          <p:spPr>
            <a:xfrm>
              <a:off x="1401840" y="914400"/>
              <a:ext cx="1504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500" b="1" u="none" strike="noStrike">
                  <a:solidFill>
                    <a:srgbClr val="FFFFFF"/>
                  </a:solidFill>
                  <a:effectLst/>
                  <a:uFillTx/>
                  <a:latin typeface="Calibri"/>
                  <a:ea typeface="DejaVu Sans"/>
                </a:rPr>
                <a:t> </a:t>
              </a:r>
              <a:endParaRPr lang="en-US" sz="1500" b="0" u="none" strike="noStrike">
                <a:solidFill>
                  <a:srgbClr val="FFFFFF"/>
                </a:solidFill>
                <a:effectLst/>
                <a:uFillTx/>
                <a:latin typeface="Arial"/>
              </a:endParaRPr>
            </a:p>
          </p:txBody>
        </p:sp>
        <p:sp>
          <p:nvSpPr>
            <p:cNvPr id="403" name="TextBox 38"/>
            <p:cNvSpPr/>
            <p:nvPr/>
          </p:nvSpPr>
          <p:spPr>
            <a:xfrm>
              <a:off x="2886120" y="100728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404" name="Rectangle 41"/>
            <p:cNvSpPr/>
            <p:nvPr/>
          </p:nvSpPr>
          <p:spPr>
            <a:xfrm>
              <a:off x="3187080" y="928800"/>
              <a:ext cx="1776960" cy="496800"/>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05" name="TextBox 40"/>
            <p:cNvSpPr/>
            <p:nvPr/>
          </p:nvSpPr>
          <p:spPr>
            <a:xfrm>
              <a:off x="3187080" y="928800"/>
              <a:ext cx="177732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406" name="TextBox 41"/>
            <p:cNvSpPr/>
            <p:nvPr/>
          </p:nvSpPr>
          <p:spPr>
            <a:xfrm>
              <a:off x="4919040" y="101340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407" name="Rectangle 42"/>
            <p:cNvSpPr/>
            <p:nvPr/>
          </p:nvSpPr>
          <p:spPr>
            <a:xfrm>
              <a:off x="5199120" y="914400"/>
              <a:ext cx="1594080" cy="496800"/>
            </a:xfrm>
            <a:prstGeom prst="rect">
              <a:avLst/>
            </a:prstGeom>
            <a:solidFill>
              <a:srgbClr val="63BBEE"/>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300" b="1" u="none" strike="noStrike">
                <a:solidFill>
                  <a:srgbClr val="000000"/>
                </a:solidFill>
                <a:effectLst/>
                <a:uFillTx/>
                <a:latin typeface="Calibri"/>
              </a:endParaRPr>
            </a:p>
          </p:txBody>
        </p:sp>
        <p:sp>
          <p:nvSpPr>
            <p:cNvPr id="408" name="Rectangle 43"/>
            <p:cNvSpPr/>
            <p:nvPr/>
          </p:nvSpPr>
          <p:spPr>
            <a:xfrm>
              <a:off x="7025400" y="914400"/>
              <a:ext cx="1594080" cy="496800"/>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09" name="TextBox 45"/>
            <p:cNvSpPr/>
            <p:nvPr/>
          </p:nvSpPr>
          <p:spPr>
            <a:xfrm>
              <a:off x="6747840" y="1013400"/>
              <a:ext cx="26820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400" b="0" u="none" strike="noStrike">
                  <a:solidFill>
                    <a:srgbClr val="9999AA"/>
                  </a:solidFill>
                  <a:effectLst/>
                  <a:uFillTx/>
                  <a:latin typeface="Calibri"/>
                  <a:ea typeface="DejaVu Sans"/>
                </a:rPr>
                <a:t>→</a:t>
              </a:r>
              <a:endParaRPr lang="en-US" sz="1400" b="0" u="none" strike="noStrike">
                <a:solidFill>
                  <a:srgbClr val="FFFFFF"/>
                </a:solidFill>
                <a:effectLst/>
                <a:uFillTx/>
                <a:latin typeface="Arial"/>
              </a:endParaRPr>
            </a:p>
          </p:txBody>
        </p:sp>
        <p:sp>
          <p:nvSpPr>
            <p:cNvPr id="410" name="Rectangle 409"/>
            <p:cNvSpPr/>
            <p:nvPr/>
          </p:nvSpPr>
          <p:spPr>
            <a:xfrm>
              <a:off x="3314160" y="936360"/>
              <a:ext cx="1497600" cy="4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endParaRPr lang="en-US" sz="1800" b="0" u="none" strike="noStrike">
                <a:solidFill>
                  <a:srgbClr val="FFFFFF"/>
                </a:solidFill>
                <a:effectLst/>
                <a:uFillTx/>
                <a:latin typeface="Arial"/>
              </a:endParaRPr>
            </a:p>
          </p:txBody>
        </p:sp>
        <p:sp>
          <p:nvSpPr>
            <p:cNvPr id="411" name="Rectangle 410"/>
            <p:cNvSpPr/>
            <p:nvPr/>
          </p:nvSpPr>
          <p:spPr>
            <a:xfrm>
              <a:off x="5272560" y="914400"/>
              <a:ext cx="1441440" cy="4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endParaRPr lang="en-US" sz="1800" b="0" u="none" strike="noStrike">
                <a:solidFill>
                  <a:srgbClr val="FFFFFF"/>
                </a:solidFill>
                <a:effectLst/>
                <a:uFillTx/>
                <a:latin typeface="Arial"/>
              </a:endParaRPr>
            </a:p>
          </p:txBody>
        </p:sp>
        <p:sp>
          <p:nvSpPr>
            <p:cNvPr id="412" name="Rectangle 411"/>
            <p:cNvSpPr/>
            <p:nvPr/>
          </p:nvSpPr>
          <p:spPr>
            <a:xfrm>
              <a:off x="7036200" y="916200"/>
              <a:ext cx="1583280" cy="523080"/>
            </a:xfrm>
            <a:prstGeom prst="rect">
              <a:avLst/>
            </a:prstGeom>
            <a:noFill/>
            <a:ln w="54720">
              <a:solidFill>
                <a:srgbClr val="A33E03"/>
              </a:solidFill>
              <a:round/>
            </a:ln>
          </p:spPr>
          <p:style>
            <a:lnRef idx="0">
              <a:scrgbClr r="0" g="0" b="0"/>
            </a:lnRef>
            <a:fillRef idx="0">
              <a:scrgbClr r="0" g="0" b="0"/>
            </a:fillRef>
            <a:effectRef idx="0">
              <a:scrgbClr r="0" g="0" b="0"/>
            </a:effectRef>
            <a:fontRef idx="minor"/>
          </p:style>
          <p:txBody>
            <a:bodyPr lIns="108000" tIns="63000" rIns="108000" bIns="63000" anchor="t" anchorCtr="1">
              <a:spAutoFit/>
            </a:bodyPr>
            <a:lstStyle/>
            <a:p>
              <a:pPr algn="ctr">
                <a:lnSpc>
                  <a:spcPct val="100000"/>
                </a:lnSpc>
              </a:pPr>
              <a:r>
                <a:rPr lang="en-US" sz="1300" b="1" u="none" strike="noStrike">
                  <a:solidFill>
                    <a:srgbClr val="000000"/>
                  </a:solidFill>
                  <a:effectLst/>
                  <a:uFillTx/>
                  <a:latin typeface="Calibri"/>
                  <a:ea typeface="DejaVu Sans"/>
                </a:rPr>
                <a:t>Fine-tune</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Embedding Model</a:t>
              </a:r>
              <a:endParaRPr lang="en-US" sz="1300" b="0" u="none" strike="noStrike">
                <a:solidFill>
                  <a:srgbClr val="FFFFFF"/>
                </a:solidFill>
                <a:effectLst/>
                <a:uFillTx/>
                <a:latin typeface="Arial"/>
              </a:endParaRPr>
            </a:p>
          </p:txBody>
        </p:sp>
        <p:sp>
          <p:nvSpPr>
            <p:cNvPr id="413" name="Rectangle 412"/>
            <p:cNvSpPr/>
            <p:nvPr/>
          </p:nvSpPr>
          <p:spPr>
            <a:xfrm>
              <a:off x="3314160" y="928800"/>
              <a:ext cx="1441440" cy="48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Define Binary Target Severity</a:t>
              </a:r>
              <a:endParaRPr lang="en-US" sz="1300" b="0" u="none" strike="noStrike">
                <a:solidFill>
                  <a:srgbClr val="FFFFFF"/>
                </a:solidFill>
                <a:effectLst/>
                <a:uFillTx/>
                <a:latin typeface="Arial"/>
              </a:endParaRPr>
            </a:p>
          </p:txBody>
        </p:sp>
        <p:sp>
          <p:nvSpPr>
            <p:cNvPr id="414" name="Rectangle 413"/>
            <p:cNvSpPr/>
            <p:nvPr/>
          </p:nvSpPr>
          <p:spPr>
            <a:xfrm>
              <a:off x="1471680" y="914400"/>
              <a:ext cx="1355400" cy="68472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nSpc>
                  <a:spcPct val="100000"/>
                </a:lnSpc>
              </a:pPr>
              <a:r>
                <a:rPr lang="en-US" sz="1300" b="1" u="none" strike="noStrike">
                  <a:solidFill>
                    <a:srgbClr val="000000"/>
                  </a:solidFill>
                  <a:effectLst/>
                  <a:uFillTx/>
                  <a:latin typeface="Calibri"/>
                  <a:ea typeface="DejaVu Sans"/>
                </a:rPr>
                <a:t>Fetch FAERS Data</a:t>
              </a:r>
              <a:endParaRPr lang="en-US" sz="1300" b="0" u="none" strike="noStrike">
                <a:solidFill>
                  <a:srgbClr val="FFFFFF"/>
                </a:solidFill>
                <a:effectLst/>
                <a:uFillTx/>
                <a:latin typeface="Arial"/>
              </a:endParaRPr>
            </a:p>
            <a:p>
              <a:pPr algn="ctr">
                <a:lnSpc>
                  <a:spcPct val="100000"/>
                </a:lnSpc>
              </a:pPr>
              <a:r>
                <a:rPr lang="en-US" sz="1300" b="1" u="none" strike="noStrike">
                  <a:solidFill>
                    <a:srgbClr val="000000"/>
                  </a:solidFill>
                  <a:effectLst/>
                  <a:uFillTx/>
                  <a:latin typeface="Calibri"/>
                  <a:ea typeface="DejaVu Sans"/>
                </a:rPr>
                <a:t>Up to Q3 2025</a:t>
              </a:r>
              <a:endParaRPr lang="en-US" sz="1300" b="0" u="none" strike="noStrike">
                <a:solidFill>
                  <a:srgbClr val="FFFFFF"/>
                </a:solidFill>
                <a:effectLst/>
                <a:uFillTx/>
                <a:latin typeface="Arial"/>
              </a:endParaRPr>
            </a:p>
          </p:txBody>
        </p:sp>
        <p:sp>
          <p:nvSpPr>
            <p:cNvPr id="415" name="Rectangle 414"/>
            <p:cNvSpPr/>
            <p:nvPr/>
          </p:nvSpPr>
          <p:spPr>
            <a:xfrm>
              <a:off x="5199120" y="916200"/>
              <a:ext cx="1514880" cy="48708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300" b="1" u="none" strike="noStrike">
                  <a:solidFill>
                    <a:srgbClr val="000000"/>
                  </a:solidFill>
                  <a:effectLst/>
                  <a:uFillTx/>
                  <a:latin typeface="Calibri"/>
                  <a:ea typeface="DejaVu Sans"/>
                </a:rPr>
                <a:t>Define Binary Target Severity</a:t>
              </a:r>
              <a:endParaRPr lang="en-US" sz="1300" b="0" u="none" strike="noStrike">
                <a:solidFill>
                  <a:srgbClr val="FFFFFF"/>
                </a:solidFill>
                <a:effectLst/>
                <a:uFillTx/>
                <a:latin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416" name="Rectangle 1"/>
          <p:cNvSpPr/>
          <p:nvPr/>
        </p:nvSpPr>
        <p:spPr>
          <a:xfrm>
            <a:off x="70560" y="0"/>
            <a:ext cx="3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45000" rIns="0" bIns="45000" anchor="ctr">
            <a:noAutofit/>
          </a:bodyPr>
          <a:lstStyle/>
          <a:p>
            <a:endParaRPr lang="en-US" sz="1800" b="0" u="none" strike="noStrike">
              <a:solidFill>
                <a:schemeClr val="lt1"/>
              </a:solidFill>
              <a:effectLst/>
              <a:uFillTx/>
              <a:latin typeface="Calibri"/>
            </a:endParaRPr>
          </a:p>
        </p:txBody>
      </p:sp>
      <p:sp>
        <p:nvSpPr>
          <p:cNvPr id="417" name="Rectangle 2"/>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8" name="TextBox 3"/>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2.5 Conclusion</a:t>
            </a:r>
            <a:endParaRPr lang="en-US" sz="2800" b="0" u="none" strike="noStrike">
              <a:solidFill>
                <a:srgbClr val="FFFFFF"/>
              </a:solidFill>
              <a:effectLst/>
              <a:uFillTx/>
              <a:latin typeface="Arial"/>
            </a:endParaRPr>
          </a:p>
        </p:txBody>
      </p:sp>
      <p:sp>
        <p:nvSpPr>
          <p:cNvPr id="419" name="TextBox 55"/>
          <p:cNvSpPr/>
          <p:nvPr/>
        </p:nvSpPr>
        <p:spPr>
          <a:xfrm>
            <a:off x="1956960" y="1098000"/>
            <a:ext cx="268200" cy="29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US" sz="1800" b="0" u="none" strike="noStrike">
              <a:solidFill>
                <a:srgbClr val="FFFFFF"/>
              </a:solidFill>
              <a:effectLst/>
              <a:uFillTx/>
              <a:latin typeface="Arial"/>
            </a:endParaRPr>
          </a:p>
        </p:txBody>
      </p:sp>
      <p:sp>
        <p:nvSpPr>
          <p:cNvPr id="420" name="Rectangle 54"/>
          <p:cNvSpPr/>
          <p:nvPr/>
        </p:nvSpPr>
        <p:spPr>
          <a:xfrm>
            <a:off x="505440" y="1003320"/>
            <a:ext cx="11149920" cy="1702558"/>
          </a:xfrm>
          <a:prstGeom prst="rect">
            <a:avLst/>
          </a:prstGeom>
          <a:solidFill>
            <a:srgbClr val="CCF4C6"/>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1" name="TextBox 56"/>
          <p:cNvSpPr/>
          <p:nvPr/>
        </p:nvSpPr>
        <p:spPr>
          <a:xfrm>
            <a:off x="2257920" y="1019520"/>
            <a:ext cx="1777320" cy="2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1300" b="1" u="none" strike="noStrike">
                <a:solidFill>
                  <a:srgbClr val="FFFFFF"/>
                </a:solidFill>
                <a:effectLst/>
                <a:uFillTx/>
                <a:latin typeface="Calibri"/>
                <a:ea typeface="DejaVu Sans"/>
              </a:rPr>
              <a:t> </a:t>
            </a:r>
            <a:endParaRPr lang="en-US" sz="1300" b="0" u="none" strike="noStrike">
              <a:solidFill>
                <a:srgbClr val="FFFFFF"/>
              </a:solidFill>
              <a:effectLst/>
              <a:uFillTx/>
              <a:latin typeface="Arial"/>
            </a:endParaRPr>
          </a:p>
        </p:txBody>
      </p:sp>
      <p:sp>
        <p:nvSpPr>
          <p:cNvPr id="422" name="Rectangle 421"/>
          <p:cNvSpPr/>
          <p:nvPr/>
        </p:nvSpPr>
        <p:spPr>
          <a:xfrm>
            <a:off x="687600" y="1280880"/>
            <a:ext cx="10740600" cy="132198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191"/>
              </a:spcBef>
              <a:spcAft>
                <a:spcPts val="992"/>
              </a:spcAft>
            </a:pPr>
            <a:r>
              <a:rPr lang="en-US" sz="2000" b="0" u="none" strike="noStrike" dirty="0">
                <a:solidFill>
                  <a:srgbClr val="000000"/>
                </a:solidFill>
                <a:effectLst/>
                <a:uFillTx/>
                <a:latin typeface="Arial"/>
                <a:ea typeface="DejaVu Sans"/>
              </a:rPr>
              <a:t>Attention-weighted evidence aggregation reduces the required training input from a dimension of </a:t>
            </a:r>
            <a:r>
              <a:rPr lang="en-US" sz="2000" b="1" u="none" strike="noStrike" dirty="0">
                <a:solidFill>
                  <a:srgbClr val="000000"/>
                </a:solidFill>
                <a:effectLst/>
                <a:uFillTx/>
                <a:latin typeface="Arial"/>
                <a:ea typeface="DejaVu Sans"/>
              </a:rPr>
              <a:t>10X1024 </a:t>
            </a:r>
            <a:r>
              <a:rPr lang="en-US" sz="2000" b="0" u="none" strike="noStrike" dirty="0">
                <a:solidFill>
                  <a:srgbClr val="000000"/>
                </a:solidFill>
                <a:effectLst/>
                <a:uFillTx/>
                <a:latin typeface="Arial"/>
                <a:ea typeface="DejaVu Sans"/>
              </a:rPr>
              <a:t>to </a:t>
            </a:r>
            <a:r>
              <a:rPr lang="en-US" sz="2000" b="1" u="none" strike="noStrike" dirty="0">
                <a:solidFill>
                  <a:srgbClr val="000000"/>
                </a:solidFill>
                <a:effectLst/>
                <a:uFillTx/>
                <a:latin typeface="Arial"/>
                <a:ea typeface="DejaVu Sans"/>
              </a:rPr>
              <a:t>3X1024</a:t>
            </a:r>
            <a:r>
              <a:rPr lang="en-US" sz="2000" b="0" u="none" strike="noStrike" dirty="0">
                <a:solidFill>
                  <a:srgbClr val="000000"/>
                </a:solidFill>
                <a:effectLst/>
                <a:uFillTx/>
                <a:latin typeface="Arial"/>
                <a:ea typeface="DejaVu Sans"/>
              </a:rPr>
              <a:t> while preserving informative representations, enabling a tree-based ensemble classifier to outperform deep learning baselines and fine-tuned LLMs in both F1 score and AUC metrics.</a:t>
            </a:r>
            <a:endParaRPr lang="en-US" sz="2000" b="0" u="none" strike="noStrike" dirty="0">
              <a:solidFill>
                <a:srgbClr val="FFFFFF"/>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438" name="Rectangle 437"/>
          <p:cNvSpPr/>
          <p:nvPr/>
        </p:nvSpPr>
        <p:spPr>
          <a:xfrm>
            <a:off x="4571999" y="5486400"/>
            <a:ext cx="3069771" cy="580004"/>
          </a:xfrm>
          <a:prstGeom prst="rect">
            <a:avLst/>
          </a:prstGeom>
          <a:solidFill>
            <a:srgbClr val="FFFFF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2000" b="1" u="none" strike="noStrike" dirty="0">
                <a:solidFill>
                  <a:srgbClr val="000000"/>
                </a:solidFill>
                <a:effectLst/>
                <a:uFillTx/>
                <a:latin typeface="Arial"/>
              </a:rPr>
              <a:t> Demo </a:t>
            </a:r>
          </a:p>
        </p:txBody>
      </p:sp>
      <p:sp>
        <p:nvSpPr>
          <p:cNvPr id="439" name="Rectangle 2"/>
          <p:cNvSpPr/>
          <p:nvPr/>
        </p:nvSpPr>
        <p:spPr>
          <a:xfrm>
            <a:off x="0" y="0"/>
            <a:ext cx="12182760" cy="6696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endParaRPr lang="en-US" sz="1800" b="0" u="none" strike="noStrike">
              <a:solidFill>
                <a:schemeClr val="lt1"/>
              </a:solidFill>
              <a:effectLst/>
              <a:uFillTx/>
              <a:latin typeface="Calibri"/>
            </a:endParaRPr>
          </a:p>
        </p:txBody>
      </p:sp>
      <p:sp>
        <p:nvSpPr>
          <p:cNvPr id="440" name="Rectangle 4"/>
          <p:cNvSpPr/>
          <p:nvPr/>
        </p:nvSpPr>
        <p:spPr>
          <a:xfrm>
            <a:off x="457200" y="914400"/>
            <a:ext cx="10783800" cy="3060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8280" rIns="90000" bIns="-8280" anchor="ctr">
            <a:noAutofit/>
          </a:bodyPr>
          <a:lstStyle/>
          <a:p>
            <a:endParaRPr lang="en-US" sz="1800" b="0" u="none" strike="noStrike">
              <a:solidFill>
                <a:schemeClr val="lt1"/>
              </a:solidFill>
              <a:effectLst/>
              <a:uFillTx/>
              <a:latin typeface="Calibri"/>
            </a:endParaRPr>
          </a:p>
        </p:txBody>
      </p:sp>
      <p:sp>
        <p:nvSpPr>
          <p:cNvPr id="441" name="TextBox 20"/>
          <p:cNvSpPr/>
          <p:nvPr/>
        </p:nvSpPr>
        <p:spPr>
          <a:xfrm>
            <a:off x="274320" y="164880"/>
            <a:ext cx="1160676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800" b="1" u="none" strike="noStrike" dirty="0">
                <a:solidFill>
                  <a:srgbClr val="FFFFFF"/>
                </a:solidFill>
                <a:effectLst/>
                <a:uFillTx/>
                <a:latin typeface="Calibri"/>
                <a:ea typeface="DejaVu Sans"/>
              </a:rPr>
              <a:t>3  FAERS GraphRAG for ADR Exploration and Prediction   </a:t>
            </a:r>
            <a:endParaRPr lang="en-US" sz="2800" b="0" u="none" strike="noStrike" dirty="0">
              <a:solidFill>
                <a:srgbClr val="FFFFFF"/>
              </a:solidFill>
              <a:effectLst/>
              <a:uFillTx/>
              <a:latin typeface="Arial"/>
            </a:endParaRPr>
          </a:p>
        </p:txBody>
      </p:sp>
      <p:pic>
        <p:nvPicPr>
          <p:cNvPr id="442" name="Picture 441"/>
          <p:cNvPicPr/>
          <p:nvPr/>
        </p:nvPicPr>
        <p:blipFill>
          <a:blip r:embed="rId3"/>
          <a:stretch/>
        </p:blipFill>
        <p:spPr>
          <a:xfrm>
            <a:off x="914400" y="1371600"/>
            <a:ext cx="6127200" cy="3796200"/>
          </a:xfrm>
          <a:prstGeom prst="rect">
            <a:avLst/>
          </a:prstGeom>
          <a:noFill/>
          <a:ln w="0">
            <a:noFill/>
          </a:ln>
        </p:spPr>
      </p:pic>
      <p:sp>
        <p:nvSpPr>
          <p:cNvPr id="443" name="Rectangle 442"/>
          <p:cNvSpPr/>
          <p:nvPr/>
        </p:nvSpPr>
        <p:spPr>
          <a:xfrm>
            <a:off x="5609454" y="5560920"/>
            <a:ext cx="1693506" cy="39865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2000" b="0" u="sng" strike="noStrike" dirty="0">
                <a:solidFill>
                  <a:srgbClr val="0000FF"/>
                </a:solidFill>
                <a:effectLst/>
                <a:uFillTx/>
                <a:latin typeface="Arial"/>
                <a:ea typeface="DejaVu Sans"/>
                <a:hlinkClick r:id="rId4"/>
              </a:rPr>
              <a:t>Nexusmed.ai</a:t>
            </a:r>
            <a:endParaRPr lang="en-US" sz="2000" b="0" u="none" strike="noStrike" dirty="0">
              <a:solidFill>
                <a:srgbClr val="FFFFFF"/>
              </a:solidFill>
              <a:effectLst/>
              <a:uFillTx/>
              <a:latin typeface="Arial"/>
            </a:endParaRPr>
          </a:p>
        </p:txBody>
      </p:sp>
      <p:pic>
        <p:nvPicPr>
          <p:cNvPr id="444" name="Picture 443"/>
          <p:cNvPicPr/>
          <p:nvPr/>
        </p:nvPicPr>
        <p:blipFill>
          <a:blip r:embed="rId5"/>
          <a:stretch/>
        </p:blipFill>
        <p:spPr>
          <a:xfrm>
            <a:off x="7302960" y="1371600"/>
            <a:ext cx="4353840" cy="3762720"/>
          </a:xfrm>
          <a:prstGeom prst="rect">
            <a:avLst/>
          </a:prstGeom>
          <a:noFill/>
          <a:ln w="1836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445" name="Rectangle 52"/>
          <p:cNvSpPr/>
          <p:nvPr/>
        </p:nvSpPr>
        <p:spPr>
          <a:xfrm>
            <a:off x="0" y="0"/>
            <a:ext cx="12182760" cy="6696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endParaRPr lang="en-US" sz="1800" b="0" u="none" strike="noStrike">
              <a:solidFill>
                <a:schemeClr val="lt1"/>
              </a:solidFill>
              <a:effectLst/>
              <a:uFillTx/>
              <a:latin typeface="Calibri"/>
            </a:endParaRPr>
          </a:p>
        </p:txBody>
      </p:sp>
      <p:sp>
        <p:nvSpPr>
          <p:cNvPr id="446" name="Rectangle 56"/>
          <p:cNvSpPr/>
          <p:nvPr/>
        </p:nvSpPr>
        <p:spPr>
          <a:xfrm>
            <a:off x="457200" y="914400"/>
            <a:ext cx="10783800" cy="30600"/>
          </a:xfrm>
          <a:prstGeom prst="rect">
            <a:avLst/>
          </a:prstGeom>
          <a:solidFill>
            <a:srgbClr val="D46212">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8280" rIns="90000" bIns="-8280" anchor="ctr">
            <a:noAutofit/>
          </a:bodyPr>
          <a:lstStyle/>
          <a:p>
            <a:endParaRPr lang="en-US" sz="1800" b="0" u="none" strike="noStrike">
              <a:solidFill>
                <a:schemeClr val="lt1"/>
              </a:solidFill>
              <a:effectLst/>
              <a:uFillTx/>
              <a:latin typeface="Calibri"/>
            </a:endParaRPr>
          </a:p>
        </p:txBody>
      </p:sp>
      <p:sp>
        <p:nvSpPr>
          <p:cNvPr id="447" name="TextBox 54"/>
          <p:cNvSpPr/>
          <p:nvPr/>
        </p:nvSpPr>
        <p:spPr>
          <a:xfrm>
            <a:off x="274320" y="16488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800" b="1" u="none" strike="noStrike">
                <a:solidFill>
                  <a:srgbClr val="FFFFFF"/>
                </a:solidFill>
                <a:effectLst/>
                <a:uFillTx/>
                <a:latin typeface="Calibri"/>
                <a:ea typeface="DejaVu Sans"/>
              </a:rPr>
              <a:t>Acknowledgment</a:t>
            </a:r>
            <a:endParaRPr lang="en-US" sz="2800" b="0" u="none" strike="noStrike">
              <a:solidFill>
                <a:srgbClr val="FFFFFF"/>
              </a:solidFill>
              <a:effectLst/>
              <a:uFillTx/>
              <a:latin typeface="Arial"/>
            </a:endParaRPr>
          </a:p>
        </p:txBody>
      </p:sp>
      <p:sp>
        <p:nvSpPr>
          <p:cNvPr id="448" name="Rectangle 447"/>
          <p:cNvSpPr/>
          <p:nvPr/>
        </p:nvSpPr>
        <p:spPr>
          <a:xfrm>
            <a:off x="495000" y="1482120"/>
            <a:ext cx="10018800" cy="2891646"/>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lnSpc>
                <a:spcPct val="100000"/>
              </a:lnSpc>
              <a:buFont typeface="Arial" panose="020B0604020202020204" pitchFamily="34" charset="0"/>
              <a:buChar char="•"/>
            </a:pPr>
            <a:r>
              <a:rPr lang="en-US" sz="2000" b="1" dirty="0">
                <a:solidFill>
                  <a:schemeClr val="lt1"/>
                </a:solidFill>
                <a:latin typeface="Calibri"/>
              </a:rPr>
              <a:t>Dr. Raymond Choo  (PhD Advisor)</a:t>
            </a:r>
            <a:endParaRPr lang="en-US" sz="2000" b="1" dirty="0">
              <a:solidFill>
                <a:srgbClr val="FFFFFF"/>
              </a:solidFill>
            </a:endParaRPr>
          </a:p>
          <a:p>
            <a:pPr>
              <a:lnSpc>
                <a:spcPct val="100000"/>
              </a:lnSpc>
            </a:pPr>
            <a:endParaRPr lang="en-US" sz="1800" b="1" u="none" strike="noStrike" dirty="0">
              <a:solidFill>
                <a:srgbClr val="F9CFB5"/>
              </a:solidFill>
              <a:effectLst/>
              <a:uFillTx/>
              <a:latin typeface="Arial"/>
              <a:ea typeface="Noto Sans CJK SC"/>
            </a:endParaRPr>
          </a:p>
          <a:p>
            <a:pPr marL="216000" indent="-216000">
              <a:lnSpc>
                <a:spcPct val="100000"/>
              </a:lnSpc>
              <a:buClr>
                <a:srgbClr val="FFFFFF"/>
              </a:buClr>
              <a:buSzPct val="45000"/>
              <a:buFont typeface="Wingdings" charset="2"/>
              <a:buChar char=""/>
            </a:pPr>
            <a:r>
              <a:rPr lang="en-US" sz="1800" b="1" u="none" strike="noStrike" dirty="0">
                <a:solidFill>
                  <a:srgbClr val="F9CFB5"/>
                </a:solidFill>
                <a:effectLst/>
                <a:uFillTx/>
                <a:latin typeface="Arial"/>
                <a:ea typeface="Noto Sans CJK SC"/>
              </a:rPr>
              <a:t>Texas Advanced Computing Center (TACC)</a:t>
            </a:r>
            <a:endParaRPr lang="en-US" sz="1800" b="0" u="none" strike="noStrike" dirty="0">
              <a:solidFill>
                <a:srgbClr val="FFFFFF"/>
              </a:solidFill>
              <a:effectLst/>
              <a:uFillTx/>
              <a:latin typeface="Arial"/>
            </a:endParaRPr>
          </a:p>
          <a:p>
            <a:pPr>
              <a:lnSpc>
                <a:spcPct val="100000"/>
              </a:lnSpc>
              <a:buClr>
                <a:srgbClr val="FFFFFF"/>
              </a:buClr>
              <a:buSzPct val="45000"/>
            </a:pPr>
            <a:r>
              <a:rPr lang="en-US" sz="1800" b="0" i="1" u="none" strike="noStrike" dirty="0">
                <a:solidFill>
                  <a:srgbClr val="FFFFFF"/>
                </a:solidFill>
                <a:effectLst/>
                <a:uFillTx/>
                <a:latin typeface="Arial"/>
                <a:ea typeface="Noto Sans CJK SC"/>
              </a:rPr>
              <a:t>    </a:t>
            </a:r>
            <a:r>
              <a:rPr lang="en-US" sz="1800" b="0" u="none" strike="noStrike" dirty="0">
                <a:solidFill>
                  <a:srgbClr val="FFFFFF"/>
                </a:solidFill>
                <a:effectLst/>
                <a:uFillTx/>
                <a:latin typeface="Arial"/>
                <a:ea typeface="Noto Sans CJK SC"/>
              </a:rPr>
              <a:t>Exploratory and Predictive Analytics on Adverse Drug Reactions (</a:t>
            </a:r>
            <a:r>
              <a:rPr lang="en-US" sz="1800" b="1" u="none" strike="noStrike" dirty="0">
                <a:solidFill>
                  <a:srgbClr val="FFFFFF"/>
                </a:solidFill>
                <a:effectLst/>
                <a:uFillTx/>
                <a:latin typeface="Arial"/>
                <a:ea typeface="Noto Sans CJK SC"/>
              </a:rPr>
              <a:t>MDE260011</a:t>
            </a:r>
            <a:r>
              <a:rPr lang="en-US" sz="1800" b="0" u="none" strike="noStrike" dirty="0">
                <a:solidFill>
                  <a:srgbClr val="FFFFFF"/>
                </a:solidFill>
                <a:effectLst/>
                <a:uFillTx/>
                <a:latin typeface="Arial"/>
                <a:ea typeface="Noto Sans CJK SC"/>
              </a:rPr>
              <a:t>), NSF  Advanced Cyberinfrastructure Awards, Amount: $4000</a:t>
            </a:r>
            <a:endParaRPr lang="en-US" sz="1800" b="0" u="none" strike="noStrike" dirty="0">
              <a:solidFill>
                <a:srgbClr val="FFFFFF"/>
              </a:solidFill>
              <a:effectLst/>
              <a:uFillTx/>
              <a:latin typeface="Arial"/>
            </a:endParaRPr>
          </a:p>
          <a:p>
            <a:pPr>
              <a:lnSpc>
                <a:spcPct val="100000"/>
              </a:lnSpc>
            </a:pPr>
            <a:endParaRPr lang="en-US" sz="1800" b="0" u="none" strike="noStrike" dirty="0">
              <a:solidFill>
                <a:srgbClr val="FFFFFF"/>
              </a:solidFill>
              <a:effectLst/>
              <a:uFillTx/>
              <a:latin typeface="Arial"/>
            </a:endParaRPr>
          </a:p>
          <a:p>
            <a:pPr marL="216000" indent="-216000">
              <a:lnSpc>
                <a:spcPct val="100000"/>
              </a:lnSpc>
              <a:buClr>
                <a:srgbClr val="FFFFFF"/>
              </a:buClr>
              <a:buSzPct val="45000"/>
              <a:buFont typeface="Wingdings" charset="2"/>
              <a:buChar char=""/>
            </a:pPr>
            <a:r>
              <a:rPr lang="en-US" sz="1800" b="1" u="none" strike="noStrike" dirty="0">
                <a:solidFill>
                  <a:srgbClr val="F9CFB5"/>
                </a:solidFill>
                <a:effectLst/>
                <a:uFillTx/>
                <a:latin typeface="Arial"/>
                <a:ea typeface="Noto Sans CJK SC"/>
              </a:rPr>
              <a:t>Pittsburgh Supercomputing Center (PSC)</a:t>
            </a:r>
            <a:endParaRPr lang="en-US" sz="1800" b="0" u="none" strike="noStrike" dirty="0">
              <a:solidFill>
                <a:srgbClr val="FFFFFF"/>
              </a:solidFill>
              <a:effectLst/>
              <a:uFillTx/>
              <a:latin typeface="Arial"/>
            </a:endParaRPr>
          </a:p>
          <a:p>
            <a:pPr>
              <a:lnSpc>
                <a:spcPct val="100000"/>
              </a:lnSpc>
            </a:pPr>
            <a:endParaRPr lang="en-US" sz="1800" b="0" u="none" strike="noStrike" dirty="0">
              <a:solidFill>
                <a:srgbClr val="FFFFFF"/>
              </a:solidFill>
              <a:effectLst/>
              <a:uFillTx/>
              <a:latin typeface="Arial"/>
            </a:endParaRPr>
          </a:p>
          <a:p>
            <a:pPr marL="216000" indent="-216000">
              <a:lnSpc>
                <a:spcPct val="100000"/>
              </a:lnSpc>
              <a:buClr>
                <a:srgbClr val="FFFFFF"/>
              </a:buClr>
              <a:buSzPct val="45000"/>
              <a:buFont typeface="Wingdings" charset="2"/>
              <a:buChar char=""/>
            </a:pPr>
            <a:r>
              <a:rPr lang="en-US" sz="1800" b="1" u="none" strike="noStrike" dirty="0">
                <a:solidFill>
                  <a:srgbClr val="F9CFB5"/>
                </a:solidFill>
                <a:effectLst/>
                <a:uFillTx/>
                <a:latin typeface="Arial"/>
                <a:ea typeface="Noto Sans CJK SC"/>
              </a:rPr>
              <a:t>UTSA High Performance Computing (ARC)</a:t>
            </a:r>
            <a:endParaRPr lang="en-US" sz="1800" b="0" u="none" strike="noStrike" dirty="0">
              <a:solidFill>
                <a:srgbClr val="FFFFFF"/>
              </a:solidFill>
              <a:effectLst/>
              <a:uFillTx/>
              <a:latin typeface="Arial"/>
            </a:endParaRPr>
          </a:p>
          <a:p>
            <a:pPr>
              <a:lnSpc>
                <a:spcPct val="100000"/>
              </a:lnSpc>
            </a:pPr>
            <a:endParaRPr lang="en-US" sz="1800" b="0" u="none" strike="noStrike" dirty="0">
              <a:solidFill>
                <a:srgbClr val="FFFFFF"/>
              </a:solidFill>
              <a:effectLst/>
              <a:uFillTx/>
              <a:latin typeface="Arial"/>
            </a:endParaRPr>
          </a:p>
        </p:txBody>
      </p:sp>
      <p:sp>
        <p:nvSpPr>
          <p:cNvPr id="449" name="Rectangle 448"/>
          <p:cNvSpPr/>
          <p:nvPr/>
        </p:nvSpPr>
        <p:spPr>
          <a:xfrm>
            <a:off x="592809" y="5039088"/>
            <a:ext cx="5941800" cy="639000"/>
          </a:xfrm>
          <a:prstGeom prst="rect">
            <a:avLst/>
          </a:prstGeom>
          <a:noFill/>
          <a:ln w="1836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dirty="0">
                <a:solidFill>
                  <a:srgbClr val="FFFFFF"/>
                </a:solidFill>
                <a:effectLst/>
                <a:uFillTx/>
                <a:latin typeface="Arial"/>
                <a:ea typeface="DejaVu Sans"/>
              </a:rPr>
              <a:t>Next: Claude Training for Public Health Research @  </a:t>
            </a:r>
            <a:r>
              <a:rPr lang="en-US" sz="1800" b="1" u="none" strike="noStrike" dirty="0">
                <a:solidFill>
                  <a:srgbClr val="2CEE0E"/>
                </a:solidFill>
                <a:effectLst/>
                <a:uFillTx/>
                <a:latin typeface="Arial"/>
                <a:ea typeface="DejaVu Sans"/>
              </a:rPr>
              <a:t>https://github.com/bcqguo/claude_4_public_health</a:t>
            </a:r>
            <a:endParaRPr lang="en-US" sz="1800" b="0" u="none" strike="noStrike" dirty="0">
              <a:solidFill>
                <a:srgbClr val="FFFFFF"/>
              </a:solidFill>
              <a:effectLst/>
              <a:uFillTx/>
              <a:latin typeface="Arial"/>
            </a:endParaRPr>
          </a:p>
        </p:txBody>
      </p:sp>
      <p:pic>
        <p:nvPicPr>
          <p:cNvPr id="450" name="Picture 449"/>
          <p:cNvPicPr/>
          <p:nvPr/>
        </p:nvPicPr>
        <p:blipFill>
          <a:blip r:embed="rId3"/>
          <a:stretch/>
        </p:blipFill>
        <p:spPr>
          <a:xfrm>
            <a:off x="7075080" y="2935469"/>
            <a:ext cx="3438720" cy="3438720"/>
          </a:xfrm>
          <a:prstGeom prst="rect">
            <a:avLst/>
          </a:prstGeom>
          <a:noFill/>
          <a:ln w="1836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451" name="Rectangle 53"/>
          <p:cNvSpPr/>
          <p:nvPr/>
        </p:nvSpPr>
        <p:spPr>
          <a:xfrm>
            <a:off x="0" y="0"/>
            <a:ext cx="66960" cy="6851880"/>
          </a:xfrm>
          <a:prstGeom prst="rect">
            <a:avLst/>
          </a:prstGeom>
          <a:solidFill>
            <a:srgbClr val="4A9ED6">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3480" tIns="45000" rIns="33480" bIns="45000" anchor="ctr">
            <a:noAutofit/>
          </a:bodyPr>
          <a:lstStyle/>
          <a:p>
            <a:endParaRPr lang="en-US" sz="1800" b="0" u="none" strike="noStrike">
              <a:solidFill>
                <a:schemeClr val="lt1"/>
              </a:solidFill>
              <a:effectLst/>
              <a:uFillTx/>
              <a:latin typeface="Calibri"/>
            </a:endParaRPr>
          </a:p>
        </p:txBody>
      </p:sp>
      <p:sp>
        <p:nvSpPr>
          <p:cNvPr id="452" name="Rectangle 55"/>
          <p:cNvSpPr/>
          <p:nvPr/>
        </p:nvSpPr>
        <p:spPr>
          <a:xfrm>
            <a:off x="73080" y="0"/>
            <a:ext cx="12109680" cy="999720"/>
          </a:xfrm>
          <a:prstGeom prst="rect">
            <a:avLst/>
          </a:prstGeom>
          <a:solidFill>
            <a:srgbClr val="161628">
              <a:alpha val="50000"/>
            </a:srgbClr>
          </a:solidFill>
          <a:ln w="9360">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53" name="TextBox 11"/>
          <p:cNvSpPr/>
          <p:nvPr/>
        </p:nvSpPr>
        <p:spPr>
          <a:xfrm>
            <a:off x="274320" y="164520"/>
            <a:ext cx="1160676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800" b="1" u="none" strike="noStrike">
                <a:solidFill>
                  <a:srgbClr val="FFFFFF"/>
                </a:solidFill>
                <a:effectLst/>
                <a:uFillTx/>
                <a:latin typeface="Calibri"/>
                <a:ea typeface="DejaVu Sans"/>
              </a:rPr>
              <a:t>Appendix</a:t>
            </a:r>
            <a:endParaRPr lang="en-US" sz="2800" b="0" u="none" strike="noStrike">
              <a:solidFill>
                <a:srgbClr val="FFFFFF"/>
              </a:solidFill>
              <a:effectLst/>
              <a:uFillTx/>
              <a:latin typeface="Arial"/>
            </a:endParaRPr>
          </a:p>
        </p:txBody>
      </p:sp>
      <p:pic>
        <p:nvPicPr>
          <p:cNvPr id="454" name="Picture 453"/>
          <p:cNvPicPr/>
          <p:nvPr/>
        </p:nvPicPr>
        <p:blipFill>
          <a:blip r:embed="rId3"/>
          <a:stretch/>
        </p:blipFill>
        <p:spPr>
          <a:xfrm>
            <a:off x="2514600" y="690480"/>
            <a:ext cx="5941800" cy="5936760"/>
          </a:xfrm>
          <a:prstGeom prst="rect">
            <a:avLst/>
          </a:prstGeom>
          <a:noFill/>
          <a:ln w="1836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1875</TotalTime>
  <Words>3229</Words>
  <Application>Microsoft Office PowerPoint</Application>
  <PresentationFormat>Custom</PresentationFormat>
  <Paragraphs>377</Paragraphs>
  <Slides>21</Slides>
  <Notes>21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Carlic</vt:lpstr>
      <vt:lpstr>Arial</vt:lpstr>
      <vt:lpstr>Calibri</vt:lpstr>
      <vt:lpstr>Century Gothic</vt:lpstr>
      <vt:lpstr>Symbol</vt:lpstr>
      <vt:lpstr>Times New Roman</vt:lpstr>
      <vt:lpstr>Wingdings</vt:lpstr>
      <vt:lpstr>Wingdings 3</vt:lpstr>
      <vt:lpstr>Office Theme</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Anna</dc:creator>
  <dc:description>generated using python-pptx</dc:description>
  <cp:lastModifiedBy>anna dai</cp:lastModifiedBy>
  <cp:revision>69</cp:revision>
  <cp:lastPrinted>2026-07-08T05:21:09Z</cp:lastPrinted>
  <dcterms:created xsi:type="dcterms:W3CDTF">2013-01-27T09:14:16Z</dcterms:created>
  <dcterms:modified xsi:type="dcterms:W3CDTF">2026-07-09T15:07:34Z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MSIP_Label_8d321b5f-a4ea-42e4-9273-2f91b9a1a708_Enabled">
    <vt:lpwstr>true</vt:lpwstr>
  </property>
  <property fmtid="{D5CDD505-2E9C-101B-9397-08002B2CF9AE}" pid="4" name="MSIP_Label_8d321b5f-a4ea-42e4-9273-2f91b9a1a708_SetDate">
    <vt:lpwstr>2026-07-08T04:32:13Z</vt:lpwstr>
  </property>
  <property fmtid="{D5CDD505-2E9C-101B-9397-08002B2CF9AE}" pid="5" name="MSIP_Label_8d321b5f-a4ea-42e4-9273-2f91b9a1a708_Method">
    <vt:lpwstr>Standard</vt:lpwstr>
  </property>
  <property fmtid="{D5CDD505-2E9C-101B-9397-08002B2CF9AE}" pid="6" name="MSIP_Label_8d321b5f-a4ea-42e4-9273-2f91b9a1a708_Name">
    <vt:lpwstr>Low Confidentiality - Green</vt:lpwstr>
  </property>
  <property fmtid="{D5CDD505-2E9C-101B-9397-08002B2CF9AE}" pid="7" name="MSIP_Label_8d321b5f-a4ea-42e4-9273-2f91b9a1a708_SiteId">
    <vt:lpwstr>c5b35b5a-16d5-4414-8ee1-7bde70543f1b</vt:lpwstr>
  </property>
  <property fmtid="{D5CDD505-2E9C-101B-9397-08002B2CF9AE}" pid="8" name="MSIP_Label_8d321b5f-a4ea-42e4-9273-2f91b9a1a708_ActionId">
    <vt:lpwstr>aec8bf8b-55b3-4e75-9184-99ff2b61ee6f</vt:lpwstr>
  </property>
  <property fmtid="{D5CDD505-2E9C-101B-9397-08002B2CF9AE}" pid="9" name="MSIP_Label_8d321b5f-a4ea-42e4-9273-2f91b9a1a708_ContentBits">
    <vt:lpwstr>0</vt:lpwstr>
  </property>
  <property fmtid="{D5CDD505-2E9C-101B-9397-08002B2CF9AE}" pid="10" name="MSIP_Label_8d321b5f-a4ea-42e4-9273-2f91b9a1a708_Tag">
    <vt:lpwstr>10, 3, 0, 1</vt:lpwstr>
  </property>
</Properties>
</file>