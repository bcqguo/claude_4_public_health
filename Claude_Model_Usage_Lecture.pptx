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DC6027-3FB0-41E3-9045-52E1B9E32C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AF7E8-4660-4202-9F20-8DF10B941C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73FA1C-80AE-4EBF-A290-5AEE67E24E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A8FAFEB-BB46-43F4-B191-CD2A376CBB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A1DABBE-B916-49E4-A49E-3CB86A68E7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81F9FC2-29DB-4C0B-ACA6-AA2155B68B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E87CE7A-2C78-4FB0-91B0-1A11B04735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78FB7EE-59C2-4792-8571-2F0007FF1D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8FFA12E-8CA0-4E81-8EFF-846E48C6AA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E39AFD4-44D8-40B7-9165-03028F2580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DBC48FB-6447-4BA2-8B74-B7FDAC8AFA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6BC709-7A6A-4AD9-BF9B-37C298F1DD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318AB6-1139-47AC-97CB-B7A443376F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58AB06-6CC8-4B8A-BA1E-4582C9282B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2D6DD7-D257-470C-8158-8F5551D5EB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E03FE5-5DDE-40F4-87C4-C7A5EC8DF9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B79709-C850-4E5C-8AF9-6445ACE1D7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6A7DA6-282A-4CCB-99FA-3719A1F12A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907F27-FDFF-42C6-89FC-903B309473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08B42E-F6C5-4189-9133-2FF63A6A37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D9882D-ABB6-4A5D-9304-BFEA6A595D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2BE534-20EE-4062-8B02-BA3B6080F5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0"/>
            <a:ext cx="12188160" cy="7236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Oval 4"/>
          <p:cNvSpPr/>
          <p:nvPr/>
        </p:nvSpPr>
        <p:spPr>
          <a:xfrm>
            <a:off x="8321040" y="1005840"/>
            <a:ext cx="2559600" cy="2559600"/>
          </a:xfrm>
          <a:prstGeom prst="ellipse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Oval 5"/>
          <p:cNvSpPr/>
          <p:nvPr/>
        </p:nvSpPr>
        <p:spPr>
          <a:xfrm>
            <a:off x="9692640" y="4206240"/>
            <a:ext cx="1645200" cy="1645200"/>
          </a:xfrm>
          <a:prstGeom prst="ellipse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914400" y="1371600"/>
            <a:ext cx="822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d46212"/>
                </a:solidFill>
                <a:latin typeface="Calibri"/>
              </a:rPr>
              <a:t>CLAUDE MODEL USAGE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914400" y="1920240"/>
            <a:ext cx="8686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 Practical Lecture for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Healthcare AI Researchers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ectangle 8"/>
          <p:cNvSpPr/>
          <p:nvPr/>
        </p:nvSpPr>
        <p:spPr>
          <a:xfrm>
            <a:off x="914400" y="3520440"/>
            <a:ext cx="5028480" cy="4500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914400" y="3749040"/>
            <a:ext cx="59428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9ed6"/>
                </a:solidFill>
                <a:latin typeface="Calibri"/>
              </a:rPr>
              <a:t>1   Prompting: Simple to Complex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9ed6"/>
                </a:solidFill>
                <a:latin typeface="Calibri"/>
              </a:rPr>
              <a:t>2   VS Code Extension &amp; Claude Code CLI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9ed6"/>
                </a:solidFill>
                <a:latin typeface="Calibri"/>
              </a:rPr>
              <a:t>3   Agent Orchestration - Healthcare Research Usage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14400" y="6035040"/>
            <a:ext cx="7314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Prerequisites: Python 3.9+  •  pip install anthropic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Agenda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ectangle 4"/>
          <p:cNvSpPr/>
          <p:nvPr/>
        </p:nvSpPr>
        <p:spPr>
          <a:xfrm>
            <a:off x="274320" y="1188720"/>
            <a:ext cx="3656880" cy="51199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Rectangle 5"/>
          <p:cNvSpPr/>
          <p:nvPr/>
        </p:nvSpPr>
        <p:spPr>
          <a:xfrm>
            <a:off x="274320" y="1188720"/>
            <a:ext cx="3656880" cy="450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411480" y="1371600"/>
            <a:ext cx="3382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ed6"/>
                </a:solidFill>
                <a:latin typeface="Calibri"/>
              </a:rPr>
              <a:t>PART 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411480" y="1783080"/>
            <a:ext cx="338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Prompting: Simple → Complex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411480" y="2651760"/>
            <a:ext cx="338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aa"/>
                </a:solidFill>
                <a:latin typeface="Calibri"/>
              </a:rPr>
              <a:t>API basics · System prompts · Multi-turn · Thinking · Tools · Structured output · Caching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 9"/>
          <p:cNvSpPr/>
          <p:nvPr/>
        </p:nvSpPr>
        <p:spPr>
          <a:xfrm>
            <a:off x="4233600" y="1188720"/>
            <a:ext cx="3656880" cy="51199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10"/>
          <p:cNvSpPr/>
          <p:nvPr/>
        </p:nvSpPr>
        <p:spPr>
          <a:xfrm>
            <a:off x="4233600" y="1188720"/>
            <a:ext cx="3656880" cy="4500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4370760" y="1371600"/>
            <a:ext cx="3382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ac87a"/>
                </a:solidFill>
                <a:latin typeface="Calibri"/>
              </a:rPr>
              <a:t>PART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4370760" y="1783080"/>
            <a:ext cx="3382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VS Code Extension &amp; Claude Code CLI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4370760" y="2651760"/>
            <a:ext cx="338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aa"/>
                </a:solidFill>
                <a:latin typeface="Calibri"/>
              </a:rPr>
              <a:t>Installation · Slash commands · MCP · CLAUDE.md project 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 14"/>
          <p:cNvSpPr/>
          <p:nvPr/>
        </p:nvSpPr>
        <p:spPr>
          <a:xfrm>
            <a:off x="8192880" y="1188720"/>
            <a:ext cx="3656880" cy="51199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ectangle 15"/>
          <p:cNvSpPr/>
          <p:nvPr/>
        </p:nvSpPr>
        <p:spPr>
          <a:xfrm>
            <a:off x="8192880" y="1188720"/>
            <a:ext cx="3656880" cy="4500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16"/>
          <p:cNvSpPr/>
          <p:nvPr/>
        </p:nvSpPr>
        <p:spPr>
          <a:xfrm>
            <a:off x="8330040" y="1371600"/>
            <a:ext cx="3382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d46212"/>
                </a:solidFill>
                <a:latin typeface="Calibri"/>
              </a:rPr>
              <a:t>PART 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17"/>
          <p:cNvSpPr/>
          <p:nvPr/>
        </p:nvSpPr>
        <p:spPr>
          <a:xfrm>
            <a:off x="8330040" y="1783080"/>
            <a:ext cx="3382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Agent Orchestration - Healthcare Research Usage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8"/>
          <p:cNvSpPr/>
          <p:nvPr/>
        </p:nvSpPr>
        <p:spPr>
          <a:xfrm>
            <a:off x="8330040" y="2651760"/>
            <a:ext cx="338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aa"/>
                </a:solidFill>
                <a:latin typeface="Calibri"/>
              </a:rPr>
              <a:t>FAERS batch processing · RAG + LanceDB · ADR classification · Citations · HIPAA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2743200"/>
            <a:ext cx="12188160" cy="7236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731520" y="548640"/>
            <a:ext cx="1005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ed6"/>
                </a:solidFill>
                <a:latin typeface="Calibri"/>
              </a:rPr>
              <a:t>PART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731520" y="1371600"/>
            <a:ext cx="1069776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Prompting Claude: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Simple to Complex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914400" y="3200400"/>
            <a:ext cx="10332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9999aa"/>
                </a:solidFill>
                <a:latin typeface="Calibri"/>
              </a:rPr>
              <a:t>From a one-liner to agents — building blocks every researcher needs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Claude Model Family (2026)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274320" y="1143000"/>
            <a:ext cx="155376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320040" y="1188720"/>
            <a:ext cx="1462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6"/>
          <p:cNvSpPr/>
          <p:nvPr/>
        </p:nvSpPr>
        <p:spPr>
          <a:xfrm>
            <a:off x="1828800" y="1143000"/>
            <a:ext cx="21024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1874520" y="1188720"/>
            <a:ext cx="2010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 8"/>
          <p:cNvSpPr/>
          <p:nvPr/>
        </p:nvSpPr>
        <p:spPr>
          <a:xfrm>
            <a:off x="3931920" y="1143000"/>
            <a:ext cx="100512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3977640" y="1188720"/>
            <a:ext cx="913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Context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10"/>
          <p:cNvSpPr/>
          <p:nvPr/>
        </p:nvSpPr>
        <p:spPr>
          <a:xfrm>
            <a:off x="4937760" y="1143000"/>
            <a:ext cx="100512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4983480" y="1188720"/>
            <a:ext cx="9136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Input $/1M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12"/>
          <p:cNvSpPr/>
          <p:nvPr/>
        </p:nvSpPr>
        <p:spPr>
          <a:xfrm>
            <a:off x="5943600" y="1143000"/>
            <a:ext cx="11880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5989320" y="1188720"/>
            <a:ext cx="1096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Output $/1M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 14"/>
          <p:cNvSpPr/>
          <p:nvPr/>
        </p:nvSpPr>
        <p:spPr>
          <a:xfrm>
            <a:off x="7132320" y="1143000"/>
            <a:ext cx="478152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7178040" y="1188720"/>
            <a:ext cx="4690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Best For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16"/>
          <p:cNvSpPr/>
          <p:nvPr/>
        </p:nvSpPr>
        <p:spPr>
          <a:xfrm>
            <a:off x="274320" y="1490400"/>
            <a:ext cx="155376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17"/>
          <p:cNvSpPr/>
          <p:nvPr/>
        </p:nvSpPr>
        <p:spPr>
          <a:xfrm>
            <a:off x="320040" y="1527120"/>
            <a:ext cx="146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Fable 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 18"/>
          <p:cNvSpPr/>
          <p:nvPr/>
        </p:nvSpPr>
        <p:spPr>
          <a:xfrm>
            <a:off x="1828800" y="1490400"/>
            <a:ext cx="2102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19"/>
          <p:cNvSpPr/>
          <p:nvPr/>
        </p:nvSpPr>
        <p:spPr>
          <a:xfrm>
            <a:off x="1874520" y="152712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claude-fable-5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 20"/>
          <p:cNvSpPr/>
          <p:nvPr/>
        </p:nvSpPr>
        <p:spPr>
          <a:xfrm>
            <a:off x="3931920" y="1490400"/>
            <a:ext cx="10051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1"/>
          <p:cNvSpPr/>
          <p:nvPr/>
        </p:nvSpPr>
        <p:spPr>
          <a:xfrm>
            <a:off x="3977640" y="15271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1M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 22"/>
          <p:cNvSpPr/>
          <p:nvPr/>
        </p:nvSpPr>
        <p:spPr>
          <a:xfrm>
            <a:off x="4937760" y="1490400"/>
            <a:ext cx="10051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3"/>
          <p:cNvSpPr/>
          <p:nvPr/>
        </p:nvSpPr>
        <p:spPr>
          <a:xfrm>
            <a:off x="4983480" y="15271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$10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5943600" y="1490400"/>
            <a:ext cx="11880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5"/>
          <p:cNvSpPr/>
          <p:nvPr/>
        </p:nvSpPr>
        <p:spPr>
          <a:xfrm>
            <a:off x="5989320" y="1527120"/>
            <a:ext cx="1096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$50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26"/>
          <p:cNvSpPr/>
          <p:nvPr/>
        </p:nvSpPr>
        <p:spPr>
          <a:xfrm>
            <a:off x="7132320" y="1490400"/>
            <a:ext cx="47815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7"/>
          <p:cNvSpPr/>
          <p:nvPr/>
        </p:nvSpPr>
        <p:spPr>
          <a:xfrm>
            <a:off x="7178040" y="1527120"/>
            <a:ext cx="4690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Frontier reasoning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 28"/>
          <p:cNvSpPr/>
          <p:nvPr/>
        </p:nvSpPr>
        <p:spPr>
          <a:xfrm>
            <a:off x="274320" y="1837800"/>
            <a:ext cx="155376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9"/>
          <p:cNvSpPr/>
          <p:nvPr/>
        </p:nvSpPr>
        <p:spPr>
          <a:xfrm>
            <a:off x="320040" y="1874520"/>
            <a:ext cx="146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Opus 4.8 ★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 30"/>
          <p:cNvSpPr/>
          <p:nvPr/>
        </p:nvSpPr>
        <p:spPr>
          <a:xfrm>
            <a:off x="1828800" y="1837800"/>
            <a:ext cx="2102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31"/>
          <p:cNvSpPr/>
          <p:nvPr/>
        </p:nvSpPr>
        <p:spPr>
          <a:xfrm>
            <a:off x="1874520" y="187452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claude-opus-4-8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ectangle 32"/>
          <p:cNvSpPr/>
          <p:nvPr/>
        </p:nvSpPr>
        <p:spPr>
          <a:xfrm>
            <a:off x="3931920" y="1837800"/>
            <a:ext cx="10051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33"/>
          <p:cNvSpPr/>
          <p:nvPr/>
        </p:nvSpPr>
        <p:spPr>
          <a:xfrm>
            <a:off x="3977640" y="18745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1M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 34"/>
          <p:cNvSpPr/>
          <p:nvPr/>
        </p:nvSpPr>
        <p:spPr>
          <a:xfrm>
            <a:off x="4937760" y="1837800"/>
            <a:ext cx="10051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35"/>
          <p:cNvSpPr/>
          <p:nvPr/>
        </p:nvSpPr>
        <p:spPr>
          <a:xfrm>
            <a:off x="4983480" y="18745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 36"/>
          <p:cNvSpPr/>
          <p:nvPr/>
        </p:nvSpPr>
        <p:spPr>
          <a:xfrm>
            <a:off x="5943600" y="1837800"/>
            <a:ext cx="11880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37"/>
          <p:cNvSpPr/>
          <p:nvPr/>
        </p:nvSpPr>
        <p:spPr>
          <a:xfrm>
            <a:off x="5989320" y="1874520"/>
            <a:ext cx="1096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$25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ectangle 38"/>
          <p:cNvSpPr/>
          <p:nvPr/>
        </p:nvSpPr>
        <p:spPr>
          <a:xfrm>
            <a:off x="7132320" y="1837800"/>
            <a:ext cx="47815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39"/>
          <p:cNvSpPr/>
          <p:nvPr/>
        </p:nvSpPr>
        <p:spPr>
          <a:xfrm>
            <a:off x="7178040" y="1874520"/>
            <a:ext cx="4690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Complex research (default)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 40"/>
          <p:cNvSpPr/>
          <p:nvPr/>
        </p:nvSpPr>
        <p:spPr>
          <a:xfrm>
            <a:off x="274320" y="2185560"/>
            <a:ext cx="155376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41"/>
          <p:cNvSpPr/>
          <p:nvPr/>
        </p:nvSpPr>
        <p:spPr>
          <a:xfrm>
            <a:off x="320040" y="2221920"/>
            <a:ext cx="146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Sonnet 4.6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ectangle 42"/>
          <p:cNvSpPr/>
          <p:nvPr/>
        </p:nvSpPr>
        <p:spPr>
          <a:xfrm>
            <a:off x="1828800" y="2185560"/>
            <a:ext cx="2102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43"/>
          <p:cNvSpPr/>
          <p:nvPr/>
        </p:nvSpPr>
        <p:spPr>
          <a:xfrm>
            <a:off x="1874520" y="222192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claude-sonnet-4-6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 44"/>
          <p:cNvSpPr/>
          <p:nvPr/>
        </p:nvSpPr>
        <p:spPr>
          <a:xfrm>
            <a:off x="3931920" y="2185560"/>
            <a:ext cx="10051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45"/>
          <p:cNvSpPr/>
          <p:nvPr/>
        </p:nvSpPr>
        <p:spPr>
          <a:xfrm>
            <a:off x="3977640" y="22219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1M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46"/>
          <p:cNvSpPr/>
          <p:nvPr/>
        </p:nvSpPr>
        <p:spPr>
          <a:xfrm>
            <a:off x="4937760" y="2185560"/>
            <a:ext cx="10051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47"/>
          <p:cNvSpPr/>
          <p:nvPr/>
        </p:nvSpPr>
        <p:spPr>
          <a:xfrm>
            <a:off x="4983480" y="22219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48"/>
          <p:cNvSpPr/>
          <p:nvPr/>
        </p:nvSpPr>
        <p:spPr>
          <a:xfrm>
            <a:off x="5943600" y="2185560"/>
            <a:ext cx="11880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49"/>
          <p:cNvSpPr/>
          <p:nvPr/>
        </p:nvSpPr>
        <p:spPr>
          <a:xfrm>
            <a:off x="5989320" y="2221920"/>
            <a:ext cx="1096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50"/>
          <p:cNvSpPr/>
          <p:nvPr/>
        </p:nvSpPr>
        <p:spPr>
          <a:xfrm>
            <a:off x="7132320" y="2185560"/>
            <a:ext cx="47815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51"/>
          <p:cNvSpPr/>
          <p:nvPr/>
        </p:nvSpPr>
        <p:spPr>
          <a:xfrm>
            <a:off x="7178040" y="2221920"/>
            <a:ext cx="4690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Balanced speed/quality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52"/>
          <p:cNvSpPr/>
          <p:nvPr/>
        </p:nvSpPr>
        <p:spPr>
          <a:xfrm>
            <a:off x="274320" y="2532960"/>
            <a:ext cx="155376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53"/>
          <p:cNvSpPr/>
          <p:nvPr/>
        </p:nvSpPr>
        <p:spPr>
          <a:xfrm>
            <a:off x="320040" y="2569320"/>
            <a:ext cx="1462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Haiku 4.5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 54"/>
          <p:cNvSpPr/>
          <p:nvPr/>
        </p:nvSpPr>
        <p:spPr>
          <a:xfrm>
            <a:off x="1828800" y="2532960"/>
            <a:ext cx="2102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55"/>
          <p:cNvSpPr/>
          <p:nvPr/>
        </p:nvSpPr>
        <p:spPr>
          <a:xfrm>
            <a:off x="1874520" y="256932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claude-haiku-4-5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ectangle 56"/>
          <p:cNvSpPr/>
          <p:nvPr/>
        </p:nvSpPr>
        <p:spPr>
          <a:xfrm>
            <a:off x="3931920" y="2532960"/>
            <a:ext cx="10051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57"/>
          <p:cNvSpPr/>
          <p:nvPr/>
        </p:nvSpPr>
        <p:spPr>
          <a:xfrm>
            <a:off x="3977640" y="25693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200K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 58"/>
          <p:cNvSpPr/>
          <p:nvPr/>
        </p:nvSpPr>
        <p:spPr>
          <a:xfrm>
            <a:off x="4937760" y="2532960"/>
            <a:ext cx="10051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59"/>
          <p:cNvSpPr/>
          <p:nvPr/>
        </p:nvSpPr>
        <p:spPr>
          <a:xfrm>
            <a:off x="4983480" y="2569320"/>
            <a:ext cx="91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ectangle 60"/>
          <p:cNvSpPr/>
          <p:nvPr/>
        </p:nvSpPr>
        <p:spPr>
          <a:xfrm>
            <a:off x="5943600" y="2532960"/>
            <a:ext cx="11880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61"/>
          <p:cNvSpPr/>
          <p:nvPr/>
        </p:nvSpPr>
        <p:spPr>
          <a:xfrm>
            <a:off x="5989320" y="2569320"/>
            <a:ext cx="1096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$5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 62"/>
          <p:cNvSpPr/>
          <p:nvPr/>
        </p:nvSpPr>
        <p:spPr>
          <a:xfrm>
            <a:off x="7132320" y="2532960"/>
            <a:ext cx="47815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63"/>
          <p:cNvSpPr/>
          <p:nvPr/>
        </p:nvSpPr>
        <p:spPr>
          <a:xfrm>
            <a:off x="7178040" y="2569320"/>
            <a:ext cx="4690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High-throughput classification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64"/>
          <p:cNvSpPr/>
          <p:nvPr/>
        </p:nvSpPr>
        <p:spPr>
          <a:xfrm>
            <a:off x="274320" y="4572000"/>
            <a:ext cx="11612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5ac87a"/>
                </a:solidFill>
                <a:latin typeface="Calibri"/>
              </a:rPr>
              <a:t>★  </a:t>
            </a:r>
            <a:r>
              <a:rPr b="0" i="1" lang="en-US" sz="1300" spc="-1" strike="noStrike">
                <a:solidFill>
                  <a:srgbClr val="5ac87a"/>
                </a:solidFill>
                <a:latin typeface="Calibri"/>
              </a:rPr>
              <a:t>Default model — start here. Switch to Haiku only for bulk classification (FAERS batch coding).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65"/>
          <p:cNvSpPr/>
          <p:nvPr/>
        </p:nvSpPr>
        <p:spPr>
          <a:xfrm>
            <a:off x="274320" y="5120640"/>
            <a:ext cx="11612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Cost tip: Haiku is 5× cheaper than Opus. For FAERS quarterly updates (100K+ reports), use Haiku + Batch API for 10× cost reduction.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1.1  The Simplest Request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274320" y="1097280"/>
            <a:ext cx="53028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Three required fields: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model      — which Claude model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max_tokens — output ceiling (not target)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messages   — list of {role, content} dicts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ectangle 5"/>
          <p:cNvSpPr/>
          <p:nvPr/>
        </p:nvSpPr>
        <p:spPr>
          <a:xfrm>
            <a:off x="274320" y="2286000"/>
            <a:ext cx="11612160" cy="29253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1994040" y="2395800"/>
            <a:ext cx="8172720" cy="26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import anthropic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client = anthropic.Anthropic()   # reads ANTHROPIC_API_KEY from env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response = client.messages.create(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model="claude-opus-4-8",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max_tokens=512,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messages=[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{"role": "user", "content": "What is pharmacovigilance? Give a 2-sentence definition."}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print(response.content[0].text)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print(f"Input: {response.usage.input_tokens} tokens")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print(f"Output: {response.usage.output_tokens} tokens")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7"/>
          <p:cNvSpPr/>
          <p:nvPr/>
        </p:nvSpPr>
        <p:spPr>
          <a:xfrm>
            <a:off x="274320" y="5349240"/>
            <a:ext cx="11612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ac87a"/>
                </a:solidFill>
                <a:latin typeface="Calibri"/>
              </a:rPr>
              <a:t>Output: Pharmacovigilance is the science of detecting, assessing, and preventing adverse effects of medicines. It encompasses signal detection, risk management, and regulatory reporting.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1.2  System Prompts — Setting Persona &amp; Context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274320" y="1097280"/>
            <a:ext cx="4114080" cy="14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system parameter: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Defines role and expertise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Specifies output format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Sets domain constraints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Establishes vocabulary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Persists across the entire conversation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4480560" y="1097280"/>
            <a:ext cx="7497360" cy="502848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5633280" y="1207080"/>
            <a:ext cx="519156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PHARMA_SYSTEM = """You are an expert pharmacovigilance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scientist with deep knowledge of: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FDA FAERS (Adverse Event Reporting System)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MedDRA terminology (SOC/HLGT/HLT/PT hierarchy)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Drug safety signal detection (PRR, ROR, BCPNN)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ICH E2B guidelines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Always use MedDRA Preferred Terms (PT).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Be concise. Use medical terminology."""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response = client.messages.create(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model="claude-opus-4-8",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max_tokens=512,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system=PHARMA_SYSTEM,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messages=[{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"role": "user",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"content": "What are the cardiac ADRs of azithromycin?"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1.3  Multi-Turn Conversations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274320" y="1097280"/>
            <a:ext cx="11612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Claude's API is stateless — you send the full conversation history on every request.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5"/>
          <p:cNvSpPr/>
          <p:nvPr/>
        </p:nvSpPr>
        <p:spPr>
          <a:xfrm>
            <a:off x="365760" y="1554480"/>
            <a:ext cx="3291120" cy="182808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457200" y="1600200"/>
            <a:ext cx="3108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a9ed6"/>
                </a:solidFill>
                <a:latin typeface="Calibri"/>
              </a:rPr>
              <a:t>Turn 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502920" y="201168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[user: msg1]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502920" y="239580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502920" y="277992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reply1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Rectangle 10"/>
          <p:cNvSpPr/>
          <p:nvPr/>
        </p:nvSpPr>
        <p:spPr>
          <a:xfrm>
            <a:off x="4114800" y="1554480"/>
            <a:ext cx="3291120" cy="182808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11"/>
          <p:cNvSpPr/>
          <p:nvPr/>
        </p:nvSpPr>
        <p:spPr>
          <a:xfrm>
            <a:off x="4206240" y="1600200"/>
            <a:ext cx="3108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a9ed6"/>
                </a:solidFill>
                <a:latin typeface="Calibri"/>
              </a:rPr>
              <a:t>Turn 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2"/>
          <p:cNvSpPr/>
          <p:nvPr/>
        </p:nvSpPr>
        <p:spPr>
          <a:xfrm>
            <a:off x="4251960" y="201168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[msg1, reply1,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3"/>
          <p:cNvSpPr/>
          <p:nvPr/>
        </p:nvSpPr>
        <p:spPr>
          <a:xfrm>
            <a:off x="4251960" y="239580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user: msg2]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4"/>
          <p:cNvSpPr/>
          <p:nvPr/>
        </p:nvSpPr>
        <p:spPr>
          <a:xfrm>
            <a:off x="4251960" y="277992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reply2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15"/>
          <p:cNvSpPr/>
          <p:nvPr/>
        </p:nvSpPr>
        <p:spPr>
          <a:xfrm>
            <a:off x="7863840" y="1554480"/>
            <a:ext cx="3291120" cy="182808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6"/>
          <p:cNvSpPr/>
          <p:nvPr/>
        </p:nvSpPr>
        <p:spPr>
          <a:xfrm>
            <a:off x="7955280" y="1600200"/>
            <a:ext cx="3108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a9ed6"/>
                </a:solidFill>
                <a:latin typeface="Calibri"/>
              </a:rPr>
              <a:t>Turn 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17"/>
          <p:cNvSpPr/>
          <p:nvPr/>
        </p:nvSpPr>
        <p:spPr>
          <a:xfrm>
            <a:off x="8001000" y="201168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[msg1..msg2,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18"/>
          <p:cNvSpPr/>
          <p:nvPr/>
        </p:nvSpPr>
        <p:spPr>
          <a:xfrm>
            <a:off x="8001000" y="239580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reply2, msg3]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19"/>
          <p:cNvSpPr/>
          <p:nvPr/>
        </p:nvSpPr>
        <p:spPr>
          <a:xfrm>
            <a:off x="8001000" y="2779920"/>
            <a:ext cx="3016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e8e8e8"/>
                </a:solidFill>
                <a:latin typeface="Calibri"/>
              </a:rPr>
              <a:t>reply3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ectangle 20"/>
          <p:cNvSpPr/>
          <p:nvPr/>
        </p:nvSpPr>
        <p:spPr>
          <a:xfrm>
            <a:off x="274320" y="3520440"/>
            <a:ext cx="11612160" cy="26053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21"/>
          <p:cNvSpPr/>
          <p:nvPr/>
        </p:nvSpPr>
        <p:spPr>
          <a:xfrm>
            <a:off x="2808000" y="3630240"/>
            <a:ext cx="6544800" cy="18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def chat(history, user_message, system=None, model="claude-opus-4-8"):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history = history + [{"role": "user", "content": user_message}]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response = client.messages.create(model=model, max_tokens=512,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                       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messages=history, system=system)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reply = response.content[0].text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return reply, history + [{"role": "assistant", "content": reply}]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history = []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reply, history = chat(history, "Which MedDRA SOC covers cardiovascular events?")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reply, history = chat(history, "List 5 important PT codes within that SOC.")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reply, history = chat(history, "Which are most reported for statins in FAERS?")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22"/>
          <p:cNvSpPr/>
          <p:nvPr/>
        </p:nvSpPr>
        <p:spPr>
          <a:xfrm>
            <a:off x="274320" y="6236280"/>
            <a:ext cx="11612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ac87a"/>
                </a:solidFill>
                <a:latin typeface="Calibri"/>
              </a:rPr>
              <a:t>Cost tip: Each turn re-sends the entire history. Use prompt caching on the system prompt to save up to 90%.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1.4  Adaptive Thinking — Extended Reasoning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ectangle 4"/>
          <p:cNvSpPr/>
          <p:nvPr/>
        </p:nvSpPr>
        <p:spPr>
          <a:xfrm>
            <a:off x="274320" y="1188720"/>
            <a:ext cx="127944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320040" y="1234440"/>
            <a:ext cx="1188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Effort Level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ectangle 6"/>
          <p:cNvSpPr/>
          <p:nvPr/>
        </p:nvSpPr>
        <p:spPr>
          <a:xfrm>
            <a:off x="1554480" y="1188720"/>
            <a:ext cx="365688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1600200" y="1234440"/>
            <a:ext cx="3565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Use Case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ectangle 8"/>
          <p:cNvSpPr/>
          <p:nvPr/>
        </p:nvSpPr>
        <p:spPr>
          <a:xfrm>
            <a:off x="5212080" y="1188720"/>
            <a:ext cx="146232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9"/>
          <p:cNvSpPr/>
          <p:nvPr/>
        </p:nvSpPr>
        <p:spPr>
          <a:xfrm>
            <a:off x="5257800" y="1234440"/>
            <a:ext cx="1370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 10"/>
          <p:cNvSpPr/>
          <p:nvPr/>
        </p:nvSpPr>
        <p:spPr>
          <a:xfrm>
            <a:off x="274320" y="1536120"/>
            <a:ext cx="127944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1"/>
          <p:cNvSpPr/>
          <p:nvPr/>
        </p:nvSpPr>
        <p:spPr>
          <a:xfrm>
            <a:off x="320040" y="1572840"/>
            <a:ext cx="118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ectangle 12"/>
          <p:cNvSpPr/>
          <p:nvPr/>
        </p:nvSpPr>
        <p:spPr>
          <a:xfrm>
            <a:off x="1554480" y="1536120"/>
            <a:ext cx="36568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13"/>
          <p:cNvSpPr/>
          <p:nvPr/>
        </p:nvSpPr>
        <p:spPr>
          <a:xfrm>
            <a:off x="1600200" y="157284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Fast classification, simple extraction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 14"/>
          <p:cNvSpPr/>
          <p:nvPr/>
        </p:nvSpPr>
        <p:spPr>
          <a:xfrm>
            <a:off x="5212080" y="1536120"/>
            <a:ext cx="14623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5"/>
          <p:cNvSpPr/>
          <p:nvPr/>
        </p:nvSpPr>
        <p:spPr>
          <a:xfrm>
            <a:off x="5257800" y="1572840"/>
            <a:ext cx="1370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ectangle 16"/>
          <p:cNvSpPr/>
          <p:nvPr/>
        </p:nvSpPr>
        <p:spPr>
          <a:xfrm>
            <a:off x="274320" y="1883520"/>
            <a:ext cx="127944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17"/>
          <p:cNvSpPr/>
          <p:nvPr/>
        </p:nvSpPr>
        <p:spPr>
          <a:xfrm>
            <a:off x="320040" y="1920240"/>
            <a:ext cx="118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medium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ectangle 18"/>
          <p:cNvSpPr/>
          <p:nvPr/>
        </p:nvSpPr>
        <p:spPr>
          <a:xfrm>
            <a:off x="1554480" y="1883520"/>
            <a:ext cx="36568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19"/>
          <p:cNvSpPr/>
          <p:nvPr/>
        </p:nvSpPr>
        <p:spPr>
          <a:xfrm>
            <a:off x="1600200" y="192024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General reasoning (default)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 20"/>
          <p:cNvSpPr/>
          <p:nvPr/>
        </p:nvSpPr>
        <p:spPr>
          <a:xfrm>
            <a:off x="5212080" y="1883520"/>
            <a:ext cx="14623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1"/>
          <p:cNvSpPr/>
          <p:nvPr/>
        </p:nvSpPr>
        <p:spPr>
          <a:xfrm>
            <a:off x="5257800" y="1920240"/>
            <a:ext cx="1370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~~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ectangle 22"/>
          <p:cNvSpPr/>
          <p:nvPr/>
        </p:nvSpPr>
        <p:spPr>
          <a:xfrm>
            <a:off x="274320" y="2231280"/>
            <a:ext cx="127944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3"/>
          <p:cNvSpPr/>
          <p:nvPr/>
        </p:nvSpPr>
        <p:spPr>
          <a:xfrm>
            <a:off x="320040" y="2267640"/>
            <a:ext cx="118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high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ectangle 24"/>
          <p:cNvSpPr/>
          <p:nvPr/>
        </p:nvSpPr>
        <p:spPr>
          <a:xfrm>
            <a:off x="1554480" y="2231280"/>
            <a:ext cx="36568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25"/>
          <p:cNvSpPr/>
          <p:nvPr/>
        </p:nvSpPr>
        <p:spPr>
          <a:xfrm>
            <a:off x="1600200" y="226764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Complex drug interactions, multi-hop ADR reasoning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Rectangle 26"/>
          <p:cNvSpPr/>
          <p:nvPr/>
        </p:nvSpPr>
        <p:spPr>
          <a:xfrm>
            <a:off x="5212080" y="2231280"/>
            <a:ext cx="14623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7"/>
          <p:cNvSpPr/>
          <p:nvPr/>
        </p:nvSpPr>
        <p:spPr>
          <a:xfrm>
            <a:off x="5257800" y="2267640"/>
            <a:ext cx="1370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~~~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ectangle 28"/>
          <p:cNvSpPr/>
          <p:nvPr/>
        </p:nvSpPr>
        <p:spPr>
          <a:xfrm>
            <a:off x="274320" y="2578680"/>
            <a:ext cx="127944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9"/>
          <p:cNvSpPr/>
          <p:nvPr/>
        </p:nvSpPr>
        <p:spPr>
          <a:xfrm>
            <a:off x="320040" y="2615040"/>
            <a:ext cx="118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xhigh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ectangle 30"/>
          <p:cNvSpPr/>
          <p:nvPr/>
        </p:nvSpPr>
        <p:spPr>
          <a:xfrm>
            <a:off x="1554480" y="2578680"/>
            <a:ext cx="36568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31"/>
          <p:cNvSpPr/>
          <p:nvPr/>
        </p:nvSpPr>
        <p:spPr>
          <a:xfrm>
            <a:off x="1600200" y="261504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Novel research synthesis, evidence appraisal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ectangle 32"/>
          <p:cNvSpPr/>
          <p:nvPr/>
        </p:nvSpPr>
        <p:spPr>
          <a:xfrm>
            <a:off x="5212080" y="2578680"/>
            <a:ext cx="14623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33"/>
          <p:cNvSpPr/>
          <p:nvPr/>
        </p:nvSpPr>
        <p:spPr>
          <a:xfrm>
            <a:off x="5257800" y="2615040"/>
            <a:ext cx="1370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~~~~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ectangle 34"/>
          <p:cNvSpPr/>
          <p:nvPr/>
        </p:nvSpPr>
        <p:spPr>
          <a:xfrm>
            <a:off x="274320" y="2926080"/>
            <a:ext cx="127944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35"/>
          <p:cNvSpPr/>
          <p:nvPr/>
        </p:nvSpPr>
        <p:spPr>
          <a:xfrm>
            <a:off x="320040" y="2962800"/>
            <a:ext cx="118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max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ectangle 36"/>
          <p:cNvSpPr/>
          <p:nvPr/>
        </p:nvSpPr>
        <p:spPr>
          <a:xfrm>
            <a:off x="1554480" y="2926080"/>
            <a:ext cx="36568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37"/>
          <p:cNvSpPr/>
          <p:nvPr/>
        </p:nvSpPr>
        <p:spPr>
          <a:xfrm>
            <a:off x="1600200" y="296280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Hardest questions — max reasoning depth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Rectangle 38"/>
          <p:cNvSpPr/>
          <p:nvPr/>
        </p:nvSpPr>
        <p:spPr>
          <a:xfrm>
            <a:off x="5212080" y="2926080"/>
            <a:ext cx="14623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39"/>
          <p:cNvSpPr/>
          <p:nvPr/>
        </p:nvSpPr>
        <p:spPr>
          <a:xfrm>
            <a:off x="5257800" y="2962800"/>
            <a:ext cx="1370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~~~~~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ectangle 40"/>
          <p:cNvSpPr/>
          <p:nvPr/>
        </p:nvSpPr>
        <p:spPr>
          <a:xfrm>
            <a:off x="6858000" y="1188720"/>
            <a:ext cx="5119920" cy="4388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41"/>
          <p:cNvSpPr/>
          <p:nvPr/>
        </p:nvSpPr>
        <p:spPr>
          <a:xfrm>
            <a:off x="7923960" y="1298520"/>
            <a:ext cx="2987640" cy="29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response = client.messages.create(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model="claude-opus-4-8",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max_tokens=8000,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thinking={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"type": "adaptive",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"display": "summarized"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},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output_config={"effort": "high"},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messages=[{"role": "user",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"content": question}]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for block in response.content: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if block.type == "thinking":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print("[REASONING]")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print(block.thinking)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elif block.type == "text":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print("[ANSWER]")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print(block.text)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42"/>
          <p:cNvSpPr/>
          <p:nvPr/>
        </p:nvSpPr>
        <p:spPr>
          <a:xfrm>
            <a:off x="274320" y="4663440"/>
            <a:ext cx="6308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aa"/>
                </a:solidFill>
                <a:latin typeface="Calibri"/>
              </a:rPr>
              <a:t>Healthcare use case: Multi-drug polypharmacy interaction reasoning — e.g. atorvastatin + clarithromycin + renal failure → rhabdomyolysis risk pathway.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43"/>
          <p:cNvSpPr/>
          <p:nvPr/>
        </p:nvSpPr>
        <p:spPr>
          <a:xfrm>
            <a:off x="274320" y="5715000"/>
            <a:ext cx="11612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9999aa"/>
                </a:solidFill>
                <a:latin typeface="Calibri"/>
              </a:rPr>
              <a:t>Note: Thinking blocks must be passed back unchanged in subsequent conversation turns.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1.5  Tool Use — Call Your Functions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ectangle 4"/>
          <p:cNvSpPr/>
          <p:nvPr/>
        </p:nvSpPr>
        <p:spPr>
          <a:xfrm>
            <a:off x="274320" y="1143000"/>
            <a:ext cx="2010960" cy="5022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320040" y="1197720"/>
            <a:ext cx="1919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User Query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6"/>
          <p:cNvSpPr/>
          <p:nvPr/>
        </p:nvSpPr>
        <p:spPr>
          <a:xfrm>
            <a:off x="2286000" y="1261800"/>
            <a:ext cx="273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aa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 7"/>
          <p:cNvSpPr/>
          <p:nvPr/>
        </p:nvSpPr>
        <p:spPr>
          <a:xfrm>
            <a:off x="2560320" y="1143000"/>
            <a:ext cx="2010960" cy="5022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2606040" y="1197720"/>
            <a:ext cx="1919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Claude → tool_use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4572000" y="1261800"/>
            <a:ext cx="273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aa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 10"/>
          <p:cNvSpPr/>
          <p:nvPr/>
        </p:nvSpPr>
        <p:spPr>
          <a:xfrm>
            <a:off x="4846320" y="1143000"/>
            <a:ext cx="2010960" cy="50220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4892040" y="1197720"/>
            <a:ext cx="1919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Your Code Runs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6858000" y="1261800"/>
            <a:ext cx="273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aa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ectangle 13"/>
          <p:cNvSpPr/>
          <p:nvPr/>
        </p:nvSpPr>
        <p:spPr>
          <a:xfrm>
            <a:off x="7132320" y="1143000"/>
            <a:ext cx="2010960" cy="50220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7178040" y="1197720"/>
            <a:ext cx="1919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tool_result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9144000" y="1261800"/>
            <a:ext cx="273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aa"/>
                </a:solidFill>
                <a:latin typeface="Calibri"/>
              </a:rPr>
              <a:t>→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Rectangle 16"/>
          <p:cNvSpPr/>
          <p:nvPr/>
        </p:nvSpPr>
        <p:spPr>
          <a:xfrm>
            <a:off x="9418320" y="1143000"/>
            <a:ext cx="2010960" cy="5022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17"/>
          <p:cNvSpPr/>
          <p:nvPr/>
        </p:nvSpPr>
        <p:spPr>
          <a:xfrm>
            <a:off x="9464040" y="1197720"/>
            <a:ext cx="1919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Claude Answers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 18"/>
          <p:cNvSpPr/>
          <p:nvPr/>
        </p:nvSpPr>
        <p:spPr>
          <a:xfrm>
            <a:off x="274320" y="1828800"/>
            <a:ext cx="11612160" cy="42055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2878560" y="1938600"/>
            <a:ext cx="6403320" cy="39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TOOLS = [{"name": "lookup_faers_reports",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"description": "Query FAERS for drug-event report counts.",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"input_schema":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"type": "object",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"properties":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"drug_name":     {"type": "string"},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"adverse_event": {"type": "string", "description": "MedDRA PT"}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},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"required": ["drug_name", "adverse_event"]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}}]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# Tool use loop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while True: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response = client.messages.create(model="claude-opus-4-8", max_tokens=1024,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       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tools=TOOLS, messages=messages)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messages.append({"role": "assistant", "content": response.content})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if response.stop_reason == "end_turn":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break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if response.stop_reason == "tool_use":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for block in response.content: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if block.type == "tool_use":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result = lookup_faers_reports(**block.input)   # ← your function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messages.append({"role": "user", "content": [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{"type": "tool_result", "tool_use_id": block.id,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                     </a:t>
            </a:r>
            <a:r>
              <a:rPr b="0" lang="en-US" sz="1000" spc="-1" strike="noStrike">
                <a:solidFill>
                  <a:srgbClr val="a8ffc2"/>
                </a:solidFill>
                <a:latin typeface="Courier New"/>
              </a:rPr>
              <a:t>"content": json.dumps(result)}]})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20"/>
          <p:cNvSpPr/>
          <p:nvPr/>
        </p:nvSpPr>
        <p:spPr>
          <a:xfrm>
            <a:off x="274320" y="6172200"/>
            <a:ext cx="11612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5ac87a"/>
                </a:solidFill>
                <a:latin typeface="Calibri"/>
              </a:rPr>
              <a:t>Server-side tools (no code needed): web_search · code_execution · computer_use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1.6  Structured Outputs — Validated JSON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4"/>
          <p:cNvSpPr/>
          <p:nvPr/>
        </p:nvSpPr>
        <p:spPr>
          <a:xfrm>
            <a:off x="274320" y="1097280"/>
            <a:ext cx="4845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Force Claude to return schema-conforming JSON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Extract ADR entities from clinical narratives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Build downstream data pipelines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Classification with confidence scores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No more regex hacks on JSON output!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ectangle 5"/>
          <p:cNvSpPr/>
          <p:nvPr/>
        </p:nvSpPr>
        <p:spPr>
          <a:xfrm>
            <a:off x="5212080" y="1097280"/>
            <a:ext cx="6765840" cy="5302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6"/>
          <p:cNvSpPr/>
          <p:nvPr/>
        </p:nvSpPr>
        <p:spPr>
          <a:xfrm>
            <a:off x="5760000" y="1207080"/>
            <a:ext cx="5670000" cy="54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ADR_SCHEMA =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"type": "object",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"properties":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"suspect_drugs":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"type": "array",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"items": {"type": "object",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"properties":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"name": {"type": "string"},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"dose": {"type": ["string","null"]}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"adverse_events":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"type": "array",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"items": {"type": "object",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"properties":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"meddra_pt":  {"type": "string"},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"meddra_soc": {"type": "string"},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"severity":   {"type": "string",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"enum": ["mild","moderate","severe","life-threatening"]}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"causal_assessment":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"type": "string",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"enum": ["certain","probable","possible","unlikely"]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response = client.messages.create(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model="claude-opus-4-8", max_tokens=1024,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messages=[{"role": "user", "content": clinical_text}],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output_config={"format":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"type": "json_schema",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"json_schema": {"name": "adr_report", "schema": ADR_SCHEMA}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}}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a8ffc2"/>
                </a:solidFill>
                <a:latin typeface="Courier New"/>
              </a:rPr>
              <a:t>data = json.loads(response.content[0].text)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7"/>
          <p:cNvSpPr/>
          <p:nvPr/>
        </p:nvSpPr>
        <p:spPr>
          <a:xfrm>
            <a:off x="274320" y="3200400"/>
            <a:ext cx="475416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Example output: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"suspect_drugs": [{"name": "atorvastatin"}],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"adverse_events": [{"meddra_pt": "Rhabdomyolysis",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   </a:t>
            </a: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"severity": "life-threatening"}],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"causal_assessment": "probable"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a8ffc2"/>
                </a:solidFill>
                <a:latin typeface="Calibri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1.7  Prompt Caching — 90% Cost Savings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Rectangle 4"/>
          <p:cNvSpPr/>
          <p:nvPr/>
        </p:nvSpPr>
        <p:spPr>
          <a:xfrm>
            <a:off x="274320" y="1188720"/>
            <a:ext cx="319968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320040" y="1234440"/>
            <a:ext cx="31082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Request Type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Rectangle 6"/>
          <p:cNvSpPr/>
          <p:nvPr/>
        </p:nvSpPr>
        <p:spPr>
          <a:xfrm>
            <a:off x="3474720" y="1188720"/>
            <a:ext cx="274248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3520440" y="1234440"/>
            <a:ext cx="2651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Cost Multiplier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Rectangle 8"/>
          <p:cNvSpPr/>
          <p:nvPr/>
        </p:nvSpPr>
        <p:spPr>
          <a:xfrm>
            <a:off x="274320" y="1536120"/>
            <a:ext cx="31996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9"/>
          <p:cNvSpPr/>
          <p:nvPr/>
        </p:nvSpPr>
        <p:spPr>
          <a:xfrm>
            <a:off x="320040" y="1572840"/>
            <a:ext cx="3108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Cache write (first use)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ectangle 10"/>
          <p:cNvSpPr/>
          <p:nvPr/>
        </p:nvSpPr>
        <p:spPr>
          <a:xfrm>
            <a:off x="3474720" y="1536120"/>
            <a:ext cx="27424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11"/>
          <p:cNvSpPr/>
          <p:nvPr/>
        </p:nvSpPr>
        <p:spPr>
          <a:xfrm>
            <a:off x="3520440" y="1572840"/>
            <a:ext cx="2651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1.25× normal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 12"/>
          <p:cNvSpPr/>
          <p:nvPr/>
        </p:nvSpPr>
        <p:spPr>
          <a:xfrm>
            <a:off x="274320" y="1883520"/>
            <a:ext cx="31996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13"/>
          <p:cNvSpPr/>
          <p:nvPr/>
        </p:nvSpPr>
        <p:spPr>
          <a:xfrm>
            <a:off x="320040" y="1920240"/>
            <a:ext cx="3108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Cache read (all subsequent)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ectangle 14"/>
          <p:cNvSpPr/>
          <p:nvPr/>
        </p:nvSpPr>
        <p:spPr>
          <a:xfrm>
            <a:off x="3474720" y="1883520"/>
            <a:ext cx="27424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15"/>
          <p:cNvSpPr/>
          <p:nvPr/>
        </p:nvSpPr>
        <p:spPr>
          <a:xfrm>
            <a:off x="3520440" y="1920240"/>
            <a:ext cx="2651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0.10× normal  ← 90% off!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16"/>
          <p:cNvSpPr/>
          <p:nvPr/>
        </p:nvSpPr>
        <p:spPr>
          <a:xfrm>
            <a:off x="274320" y="2560320"/>
            <a:ext cx="576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ac87a"/>
                </a:solidFill>
                <a:latin typeface="Calibri"/>
              </a:rPr>
              <a:t>Example: 10,000-token drug knowledge base, queried 1,000 times: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ac87a"/>
                </a:solidFill>
                <a:latin typeface="Calibri"/>
              </a:rPr>
              <a:t>Without caching: 10M tokens × $5/1M = $50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ac87a"/>
                </a:solidFill>
                <a:latin typeface="Calibri"/>
              </a:rPr>
              <a:t>With caching:    1 write + 999 reads ≈ $5.50  (89% savings!)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ectangle 17"/>
          <p:cNvSpPr/>
          <p:nvPr/>
        </p:nvSpPr>
        <p:spPr>
          <a:xfrm>
            <a:off x="6126480" y="1188720"/>
            <a:ext cx="5942880" cy="47541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18"/>
          <p:cNvSpPr/>
          <p:nvPr/>
        </p:nvSpPr>
        <p:spPr>
          <a:xfrm>
            <a:off x="6501960" y="1298520"/>
            <a:ext cx="5191560" cy="26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response = client.messages.create(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model="claude-opus-4-8",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max_tokens=512,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system=[{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"type": "text",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"text": DRUG_KNOWLEDGE_BASE,  # large static context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"cache_control": {"type": "ephemeral"}  # ← cache this!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}],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messages=[{"role": "user",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"content": user_question}]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Inspect cache usage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print(response.usage.cache_creation_input_tokens)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print(response.usage.cache_read_input_tokens)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cache_read_input_tokens &gt; 0 means you saved 90%!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19"/>
          <p:cNvSpPr/>
          <p:nvPr/>
        </p:nvSpPr>
        <p:spPr>
          <a:xfrm>
            <a:off x="274320" y="3611880"/>
            <a:ext cx="5668560" cy="10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When to cache: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MedDRA hierarchy reference (100K tokens)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Drug interaction database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Few-shot coding examples (repeated across batches)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e8e8e8"/>
                </a:solidFill>
                <a:latin typeface="Calibri"/>
              </a:rPr>
              <a:t>System prompt for multi-user chatbot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Rectangle 2"/>
          <p:cNvSpPr/>
          <p:nvPr/>
        </p:nvSpPr>
        <p:spPr>
          <a:xfrm>
            <a:off x="0" y="2743200"/>
            <a:ext cx="12188160" cy="7236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731520" y="548640"/>
            <a:ext cx="1005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ac87a"/>
                </a:solidFill>
                <a:latin typeface="Calibri"/>
              </a:rPr>
              <a:t>PART 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731520" y="1371600"/>
            <a:ext cx="1069776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VS Code Extension &amp;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Claude Code CLI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Box 5"/>
          <p:cNvSpPr/>
          <p:nvPr/>
        </p:nvSpPr>
        <p:spPr>
          <a:xfrm>
            <a:off x="914400" y="3200400"/>
            <a:ext cx="10332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9999aa"/>
                </a:solidFill>
                <a:latin typeface="Calibri"/>
              </a:rPr>
              <a:t>Your AI pair-programmer that reads the entire codebase and acts on it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What is Claude Code?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274320" y="1097280"/>
            <a:ext cx="5302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An agentic AI coding assistant that: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Reads your entire codebase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Runs shell commands &amp; tests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Writes and edits files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5ac87a"/>
                </a:solidFill>
                <a:latin typeface="Calibri"/>
              </a:rPr>
              <a:t>Iterates until the task is done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Available as CLI, VS Code extension,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JetBrains plugin, and web app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ectangle 5"/>
          <p:cNvSpPr/>
          <p:nvPr/>
        </p:nvSpPr>
        <p:spPr>
          <a:xfrm>
            <a:off x="5577840" y="1097280"/>
            <a:ext cx="6400080" cy="20109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6"/>
          <p:cNvSpPr/>
          <p:nvPr/>
        </p:nvSpPr>
        <p:spPr>
          <a:xfrm>
            <a:off x="7004880" y="1207080"/>
            <a:ext cx="35456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# Install once globally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npm install -g @anthropic-ai/claude-code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# Authenticate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claude auth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# Launch in your project directory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cd ~/Barn/GQ/ADR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8ffc2"/>
                </a:solidFill>
                <a:latin typeface="Courier New"/>
              </a:rPr>
              <a:t>claude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ectangle 7"/>
          <p:cNvSpPr/>
          <p:nvPr/>
        </p:nvSpPr>
        <p:spPr>
          <a:xfrm>
            <a:off x="274320" y="3840480"/>
            <a:ext cx="228528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320040" y="3886200"/>
            <a:ext cx="2193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ectangle 9"/>
          <p:cNvSpPr/>
          <p:nvPr/>
        </p:nvSpPr>
        <p:spPr>
          <a:xfrm>
            <a:off x="2560320" y="3840480"/>
            <a:ext cx="365688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10"/>
          <p:cNvSpPr/>
          <p:nvPr/>
        </p:nvSpPr>
        <p:spPr>
          <a:xfrm>
            <a:off x="2606040" y="3886200"/>
            <a:ext cx="3565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GitHub Copilot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ectangle 11"/>
          <p:cNvSpPr/>
          <p:nvPr/>
        </p:nvSpPr>
        <p:spPr>
          <a:xfrm>
            <a:off x="6217920" y="3840480"/>
            <a:ext cx="569592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2"/>
          <p:cNvSpPr/>
          <p:nvPr/>
        </p:nvSpPr>
        <p:spPr>
          <a:xfrm>
            <a:off x="6263640" y="3886200"/>
            <a:ext cx="5604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Claude Code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13"/>
          <p:cNvSpPr/>
          <p:nvPr/>
        </p:nvSpPr>
        <p:spPr>
          <a:xfrm>
            <a:off x="274320" y="4187880"/>
            <a:ext cx="22852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4"/>
          <p:cNvSpPr/>
          <p:nvPr/>
        </p:nvSpPr>
        <p:spPr>
          <a:xfrm>
            <a:off x="320040" y="4224600"/>
            <a:ext cx="2193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Scope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Rectangle 15"/>
          <p:cNvSpPr/>
          <p:nvPr/>
        </p:nvSpPr>
        <p:spPr>
          <a:xfrm>
            <a:off x="2560320" y="4187880"/>
            <a:ext cx="36568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16"/>
          <p:cNvSpPr/>
          <p:nvPr/>
        </p:nvSpPr>
        <p:spPr>
          <a:xfrm>
            <a:off x="2606040" y="422460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Current file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Rectangle 17"/>
          <p:cNvSpPr/>
          <p:nvPr/>
        </p:nvSpPr>
        <p:spPr>
          <a:xfrm>
            <a:off x="6217920" y="4187880"/>
            <a:ext cx="56959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8"/>
          <p:cNvSpPr/>
          <p:nvPr/>
        </p:nvSpPr>
        <p:spPr>
          <a:xfrm>
            <a:off x="6263640" y="4224600"/>
            <a:ext cx="5604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Entire repository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Rectangle 19"/>
          <p:cNvSpPr/>
          <p:nvPr/>
        </p:nvSpPr>
        <p:spPr>
          <a:xfrm>
            <a:off x="274320" y="4535280"/>
            <a:ext cx="22852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20"/>
          <p:cNvSpPr/>
          <p:nvPr/>
        </p:nvSpPr>
        <p:spPr>
          <a:xfrm>
            <a:off x="320040" y="4572000"/>
            <a:ext cx="2193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Tool use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Rectangle 21"/>
          <p:cNvSpPr/>
          <p:nvPr/>
        </p:nvSpPr>
        <p:spPr>
          <a:xfrm>
            <a:off x="2560320" y="4535280"/>
            <a:ext cx="36568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22"/>
          <p:cNvSpPr/>
          <p:nvPr/>
        </p:nvSpPr>
        <p:spPr>
          <a:xfrm>
            <a:off x="2606040" y="457200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Code completion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Rectangle 23"/>
          <p:cNvSpPr/>
          <p:nvPr/>
        </p:nvSpPr>
        <p:spPr>
          <a:xfrm>
            <a:off x="6217920" y="4535280"/>
            <a:ext cx="56959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TextBox 24"/>
          <p:cNvSpPr/>
          <p:nvPr/>
        </p:nvSpPr>
        <p:spPr>
          <a:xfrm>
            <a:off x="6263640" y="4572000"/>
            <a:ext cx="5604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Reads · writes · runs terminal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Rectangle 25"/>
          <p:cNvSpPr/>
          <p:nvPr/>
        </p:nvSpPr>
        <p:spPr>
          <a:xfrm>
            <a:off x="274320" y="4883040"/>
            <a:ext cx="22852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26"/>
          <p:cNvSpPr/>
          <p:nvPr/>
        </p:nvSpPr>
        <p:spPr>
          <a:xfrm>
            <a:off x="320040" y="4919400"/>
            <a:ext cx="2193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Context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Rectangle 27"/>
          <p:cNvSpPr/>
          <p:nvPr/>
        </p:nvSpPr>
        <p:spPr>
          <a:xfrm>
            <a:off x="2560320" y="4883040"/>
            <a:ext cx="36568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28"/>
          <p:cNvSpPr/>
          <p:nvPr/>
        </p:nvSpPr>
        <p:spPr>
          <a:xfrm>
            <a:off x="2606040" y="491940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Line-level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Rectangle 29"/>
          <p:cNvSpPr/>
          <p:nvPr/>
        </p:nvSpPr>
        <p:spPr>
          <a:xfrm>
            <a:off x="6217920" y="4883040"/>
            <a:ext cx="569592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30"/>
          <p:cNvSpPr/>
          <p:nvPr/>
        </p:nvSpPr>
        <p:spPr>
          <a:xfrm>
            <a:off x="6263640" y="4919400"/>
            <a:ext cx="5604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Project-level + CLAUDE.md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Rectangle 31"/>
          <p:cNvSpPr/>
          <p:nvPr/>
        </p:nvSpPr>
        <p:spPr>
          <a:xfrm>
            <a:off x="274320" y="5230440"/>
            <a:ext cx="22852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TextBox 32"/>
          <p:cNvSpPr/>
          <p:nvPr/>
        </p:nvSpPr>
        <p:spPr>
          <a:xfrm>
            <a:off x="320040" y="5266800"/>
            <a:ext cx="2193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Interaction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Rectangle 33"/>
          <p:cNvSpPr/>
          <p:nvPr/>
        </p:nvSpPr>
        <p:spPr>
          <a:xfrm>
            <a:off x="2560320" y="5230440"/>
            <a:ext cx="36568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34"/>
          <p:cNvSpPr/>
          <p:nvPr/>
        </p:nvSpPr>
        <p:spPr>
          <a:xfrm>
            <a:off x="2606040" y="5266800"/>
            <a:ext cx="3565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Inline completions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ectangle 35"/>
          <p:cNvSpPr/>
          <p:nvPr/>
        </p:nvSpPr>
        <p:spPr>
          <a:xfrm>
            <a:off x="6217920" y="5230440"/>
            <a:ext cx="569592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36"/>
          <p:cNvSpPr/>
          <p:nvPr/>
        </p:nvSpPr>
        <p:spPr>
          <a:xfrm>
            <a:off x="6263640" y="5266800"/>
            <a:ext cx="5604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Conversational agent with memory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Claude Code — Usage Patterns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Rectangle 4"/>
          <p:cNvSpPr/>
          <p:nvPr/>
        </p:nvSpPr>
        <p:spPr>
          <a:xfrm>
            <a:off x="274320" y="1097280"/>
            <a:ext cx="5668560" cy="502848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5"/>
          <p:cNvSpPr/>
          <p:nvPr/>
        </p:nvSpPr>
        <p:spPr>
          <a:xfrm>
            <a:off x="1267920" y="1207080"/>
            <a:ext cx="368136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── Interactive Mode (default) ──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cd ~/Barn/GQ/ADR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claude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then type naturally in the conversation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── One-shot commands ──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claude "Explain what FAERS_Prep.ipynb does"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── With specific file context ──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claude "Find potential performance issues" \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--file ADR_inference.ipynb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── Piping ──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git diff | claude "Write a commit message"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cat adr_detection.py | claude "Find bugs"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── Print mode (no interactive) ──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claude -p "Summarize the ADR pipeline"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6"/>
          <p:cNvSpPr/>
          <p:nvPr/>
        </p:nvSpPr>
        <p:spPr>
          <a:xfrm>
            <a:off x="6126480" y="1097280"/>
            <a:ext cx="5851440" cy="32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Common research workflows: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ac87a"/>
                </a:solidFill>
                <a:latin typeface="Calibri"/>
              </a:rPr>
              <a:t>1  Explain legacy code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"What does this embedding pipeline do?"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ac87a"/>
                </a:solidFill>
                <a:latin typeface="Calibri"/>
              </a:rPr>
              <a:t>2  Debug failing cells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"Why does this LanceDB query return empty?"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ac87a"/>
                </a:solidFill>
                <a:latin typeface="Calibri"/>
              </a:rPr>
              <a:t>3  Refactor for new APIs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"Update FAERS_Prep to use pandas 2.0"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ac87a"/>
                </a:solidFill>
                <a:latin typeface="Calibri"/>
              </a:rPr>
              <a:t>4  Generate tests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"Write pytest tests for the RAG pipeline"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ac87a"/>
                </a:solidFill>
                <a:latin typeface="Calibri"/>
              </a:rPr>
              <a:t>5  Write documentation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"Document the BGE-M3 fine-tuning script"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Slash Commands Reference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ectangle 4"/>
          <p:cNvSpPr/>
          <p:nvPr/>
        </p:nvSpPr>
        <p:spPr>
          <a:xfrm>
            <a:off x="274320" y="1143000"/>
            <a:ext cx="16452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320040" y="1188720"/>
            <a:ext cx="1553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Command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ectangle 6"/>
          <p:cNvSpPr/>
          <p:nvPr/>
        </p:nvSpPr>
        <p:spPr>
          <a:xfrm>
            <a:off x="1920240" y="1143000"/>
            <a:ext cx="502848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1965960" y="1188720"/>
            <a:ext cx="4937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What it does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Rectangle 8"/>
          <p:cNvSpPr/>
          <p:nvPr/>
        </p:nvSpPr>
        <p:spPr>
          <a:xfrm>
            <a:off x="6949440" y="1143000"/>
            <a:ext cx="49644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9"/>
          <p:cNvSpPr/>
          <p:nvPr/>
        </p:nvSpPr>
        <p:spPr>
          <a:xfrm>
            <a:off x="6995160" y="1188720"/>
            <a:ext cx="4872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When to 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Rectangle 10"/>
          <p:cNvSpPr/>
          <p:nvPr/>
        </p:nvSpPr>
        <p:spPr>
          <a:xfrm>
            <a:off x="274320" y="149040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11"/>
          <p:cNvSpPr/>
          <p:nvPr/>
        </p:nvSpPr>
        <p:spPr>
          <a:xfrm>
            <a:off x="320040" y="152712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/help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Rectangle 12"/>
          <p:cNvSpPr/>
          <p:nvPr/>
        </p:nvSpPr>
        <p:spPr>
          <a:xfrm>
            <a:off x="1920240" y="1490400"/>
            <a:ext cx="50284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TextBox 13"/>
          <p:cNvSpPr/>
          <p:nvPr/>
        </p:nvSpPr>
        <p:spPr>
          <a:xfrm>
            <a:off x="1965960" y="152712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Show all available commands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Rectangle 14"/>
          <p:cNvSpPr/>
          <p:nvPr/>
        </p:nvSpPr>
        <p:spPr>
          <a:xfrm>
            <a:off x="6949440" y="1490400"/>
            <a:ext cx="4964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15"/>
          <p:cNvSpPr/>
          <p:nvPr/>
        </p:nvSpPr>
        <p:spPr>
          <a:xfrm>
            <a:off x="6995160" y="152712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First session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Rectangle 16"/>
          <p:cNvSpPr/>
          <p:nvPr/>
        </p:nvSpPr>
        <p:spPr>
          <a:xfrm>
            <a:off x="274320" y="183780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17"/>
          <p:cNvSpPr/>
          <p:nvPr/>
        </p:nvSpPr>
        <p:spPr>
          <a:xfrm>
            <a:off x="320040" y="187452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/clear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Rectangle 18"/>
          <p:cNvSpPr/>
          <p:nvPr/>
        </p:nvSpPr>
        <p:spPr>
          <a:xfrm>
            <a:off x="1920240" y="1837800"/>
            <a:ext cx="50284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19"/>
          <p:cNvSpPr/>
          <p:nvPr/>
        </p:nvSpPr>
        <p:spPr>
          <a:xfrm>
            <a:off x="1965960" y="187452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Reset conversation context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Rectangle 20"/>
          <p:cNvSpPr/>
          <p:nvPr/>
        </p:nvSpPr>
        <p:spPr>
          <a:xfrm>
            <a:off x="6949440" y="1837800"/>
            <a:ext cx="4964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21"/>
          <p:cNvSpPr/>
          <p:nvPr/>
        </p:nvSpPr>
        <p:spPr>
          <a:xfrm>
            <a:off x="6995160" y="187452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Start a new task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Rectangle 22"/>
          <p:cNvSpPr/>
          <p:nvPr/>
        </p:nvSpPr>
        <p:spPr>
          <a:xfrm>
            <a:off x="274320" y="218556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23"/>
          <p:cNvSpPr/>
          <p:nvPr/>
        </p:nvSpPr>
        <p:spPr>
          <a:xfrm>
            <a:off x="320040" y="222192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/compact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Rectangle 24"/>
          <p:cNvSpPr/>
          <p:nvPr/>
        </p:nvSpPr>
        <p:spPr>
          <a:xfrm>
            <a:off x="1920240" y="2185560"/>
            <a:ext cx="50284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TextBox 25"/>
          <p:cNvSpPr/>
          <p:nvPr/>
        </p:nvSpPr>
        <p:spPr>
          <a:xfrm>
            <a:off x="1965960" y="222192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Summarize &amp; compress conversation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Rectangle 26"/>
          <p:cNvSpPr/>
          <p:nvPr/>
        </p:nvSpPr>
        <p:spPr>
          <a:xfrm>
            <a:off x="6949440" y="2185560"/>
            <a:ext cx="4964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27"/>
          <p:cNvSpPr/>
          <p:nvPr/>
        </p:nvSpPr>
        <p:spPr>
          <a:xfrm>
            <a:off x="6995160" y="222192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Long research sessions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Rectangle 28"/>
          <p:cNvSpPr/>
          <p:nvPr/>
        </p:nvSpPr>
        <p:spPr>
          <a:xfrm>
            <a:off x="274320" y="253296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29"/>
          <p:cNvSpPr/>
          <p:nvPr/>
        </p:nvSpPr>
        <p:spPr>
          <a:xfrm>
            <a:off x="320040" y="256932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/cost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Rectangle 30"/>
          <p:cNvSpPr/>
          <p:nvPr/>
        </p:nvSpPr>
        <p:spPr>
          <a:xfrm>
            <a:off x="1920240" y="2532960"/>
            <a:ext cx="50284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31"/>
          <p:cNvSpPr/>
          <p:nvPr/>
        </p:nvSpPr>
        <p:spPr>
          <a:xfrm>
            <a:off x="1965960" y="256932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Show token usage and cost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Rectangle 32"/>
          <p:cNvSpPr/>
          <p:nvPr/>
        </p:nvSpPr>
        <p:spPr>
          <a:xfrm>
            <a:off x="6949440" y="2532960"/>
            <a:ext cx="4964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33"/>
          <p:cNvSpPr/>
          <p:nvPr/>
        </p:nvSpPr>
        <p:spPr>
          <a:xfrm>
            <a:off x="6995160" y="256932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Monitor spending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Rectangle 34"/>
          <p:cNvSpPr/>
          <p:nvPr/>
        </p:nvSpPr>
        <p:spPr>
          <a:xfrm>
            <a:off x="274320" y="288036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35"/>
          <p:cNvSpPr/>
          <p:nvPr/>
        </p:nvSpPr>
        <p:spPr>
          <a:xfrm>
            <a:off x="320040" y="291708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/model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Rectangle 36"/>
          <p:cNvSpPr/>
          <p:nvPr/>
        </p:nvSpPr>
        <p:spPr>
          <a:xfrm>
            <a:off x="1920240" y="2880360"/>
            <a:ext cx="50284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37"/>
          <p:cNvSpPr/>
          <p:nvPr/>
        </p:nvSpPr>
        <p:spPr>
          <a:xfrm>
            <a:off x="1965960" y="291708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Switch models mid-session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Rectangle 38"/>
          <p:cNvSpPr/>
          <p:nvPr/>
        </p:nvSpPr>
        <p:spPr>
          <a:xfrm>
            <a:off x="6949440" y="2880360"/>
            <a:ext cx="4964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39"/>
          <p:cNvSpPr/>
          <p:nvPr/>
        </p:nvSpPr>
        <p:spPr>
          <a:xfrm>
            <a:off x="6995160" y="291708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Switch to Haiku for bulk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Rectangle 40"/>
          <p:cNvSpPr/>
          <p:nvPr/>
        </p:nvSpPr>
        <p:spPr>
          <a:xfrm>
            <a:off x="274320" y="322776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41"/>
          <p:cNvSpPr/>
          <p:nvPr/>
        </p:nvSpPr>
        <p:spPr>
          <a:xfrm>
            <a:off x="320040" y="326448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/fast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Rectangle 42"/>
          <p:cNvSpPr/>
          <p:nvPr/>
        </p:nvSpPr>
        <p:spPr>
          <a:xfrm>
            <a:off x="1920240" y="3227760"/>
            <a:ext cx="50284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TextBox 43"/>
          <p:cNvSpPr/>
          <p:nvPr/>
        </p:nvSpPr>
        <p:spPr>
          <a:xfrm>
            <a:off x="1965960" y="326448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Toggle Fast mode (Opus, faster output)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Rectangle 44"/>
          <p:cNvSpPr/>
          <p:nvPr/>
        </p:nvSpPr>
        <p:spPr>
          <a:xfrm>
            <a:off x="6949440" y="3227760"/>
            <a:ext cx="4964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TextBox 45"/>
          <p:cNvSpPr/>
          <p:nvPr/>
        </p:nvSpPr>
        <p:spPr>
          <a:xfrm>
            <a:off x="6995160" y="326448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Time-sensitive tasks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Rectangle 46"/>
          <p:cNvSpPr/>
          <p:nvPr/>
        </p:nvSpPr>
        <p:spPr>
          <a:xfrm>
            <a:off x="274320" y="357516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47"/>
          <p:cNvSpPr/>
          <p:nvPr/>
        </p:nvSpPr>
        <p:spPr>
          <a:xfrm>
            <a:off x="320040" y="361188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/plan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Rectangle 48"/>
          <p:cNvSpPr/>
          <p:nvPr/>
        </p:nvSpPr>
        <p:spPr>
          <a:xfrm>
            <a:off x="1920240" y="3575160"/>
            <a:ext cx="50284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49"/>
          <p:cNvSpPr/>
          <p:nvPr/>
        </p:nvSpPr>
        <p:spPr>
          <a:xfrm>
            <a:off x="1965960" y="361188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Enter planning mode — see plan first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Rectangle 50"/>
          <p:cNvSpPr/>
          <p:nvPr/>
        </p:nvSpPr>
        <p:spPr>
          <a:xfrm>
            <a:off x="6949440" y="3575160"/>
            <a:ext cx="4964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51"/>
          <p:cNvSpPr/>
          <p:nvPr/>
        </p:nvSpPr>
        <p:spPr>
          <a:xfrm>
            <a:off x="6995160" y="361188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Before touching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Rectangle 52"/>
          <p:cNvSpPr/>
          <p:nvPr/>
        </p:nvSpPr>
        <p:spPr>
          <a:xfrm>
            <a:off x="274320" y="392292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TextBox 53"/>
          <p:cNvSpPr/>
          <p:nvPr/>
        </p:nvSpPr>
        <p:spPr>
          <a:xfrm>
            <a:off x="320040" y="395928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/mcp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Rectangle 54"/>
          <p:cNvSpPr/>
          <p:nvPr/>
        </p:nvSpPr>
        <p:spPr>
          <a:xfrm>
            <a:off x="1920240" y="3922920"/>
            <a:ext cx="502848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55"/>
          <p:cNvSpPr/>
          <p:nvPr/>
        </p:nvSpPr>
        <p:spPr>
          <a:xfrm>
            <a:off x="1965960" y="395928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Manage MCP server connections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Rectangle 56"/>
          <p:cNvSpPr/>
          <p:nvPr/>
        </p:nvSpPr>
        <p:spPr>
          <a:xfrm>
            <a:off x="6949440" y="3922920"/>
            <a:ext cx="4964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57"/>
          <p:cNvSpPr/>
          <p:nvPr/>
        </p:nvSpPr>
        <p:spPr>
          <a:xfrm>
            <a:off x="6995160" y="395928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Connect to LanceDB / FAERS DB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Rectangle 58"/>
          <p:cNvSpPr/>
          <p:nvPr/>
        </p:nvSpPr>
        <p:spPr>
          <a:xfrm>
            <a:off x="274320" y="427032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59"/>
          <p:cNvSpPr/>
          <p:nvPr/>
        </p:nvSpPr>
        <p:spPr>
          <a:xfrm>
            <a:off x="320040" y="430668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/add-dir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Rectangle 60"/>
          <p:cNvSpPr/>
          <p:nvPr/>
        </p:nvSpPr>
        <p:spPr>
          <a:xfrm>
            <a:off x="1920240" y="4270320"/>
            <a:ext cx="502848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61"/>
          <p:cNvSpPr/>
          <p:nvPr/>
        </p:nvSpPr>
        <p:spPr>
          <a:xfrm>
            <a:off x="1965960" y="4306680"/>
            <a:ext cx="4937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Add a directory to context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Rectangle 62"/>
          <p:cNvSpPr/>
          <p:nvPr/>
        </p:nvSpPr>
        <p:spPr>
          <a:xfrm>
            <a:off x="6949440" y="4270320"/>
            <a:ext cx="4964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63"/>
          <p:cNvSpPr/>
          <p:nvPr/>
        </p:nvSpPr>
        <p:spPr>
          <a:xfrm>
            <a:off x="6995160" y="4306680"/>
            <a:ext cx="48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Multi-repo projects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Box 64"/>
          <p:cNvSpPr/>
          <p:nvPr/>
        </p:nvSpPr>
        <p:spPr>
          <a:xfrm>
            <a:off x="274320" y="5833800"/>
            <a:ext cx="11612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5ac87a"/>
                </a:solidFill>
                <a:latin typeface="Calibri"/>
              </a:rPr>
              <a:t>Tip: Use /plan before any significant code change — Claude presents its approach and waits for approval.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MCP — Connect Claude to Your Data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4"/>
          <p:cNvSpPr/>
          <p:nvPr/>
        </p:nvSpPr>
        <p:spPr>
          <a:xfrm>
            <a:off x="274320" y="1097280"/>
            <a:ext cx="11612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Model Context Protocol: standard interface for Claude to query external databases and tools directly.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Rectangle 5"/>
          <p:cNvSpPr/>
          <p:nvPr/>
        </p:nvSpPr>
        <p:spPr>
          <a:xfrm>
            <a:off x="274320" y="1600200"/>
            <a:ext cx="5760000" cy="411408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6"/>
          <p:cNvSpPr/>
          <p:nvPr/>
        </p:nvSpPr>
        <p:spPr>
          <a:xfrm>
            <a:off x="876960" y="1710000"/>
            <a:ext cx="455436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.claude/settings.json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"mcpServers":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"lancedb-adr":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"command": "python",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"args": ["-m", "mcp_lancedb_server"],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"env":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"DB_PATH": "/home/dada/Barn/GQ/ADR/trn_lancedb"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"faers-sql":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"command": "python",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"args": ["-m", "mcp_faers_server"],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"env":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"DB_URL": "sqlite:///faers.db"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  </a:t>
            </a: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Box 7"/>
          <p:cNvSpPr/>
          <p:nvPr/>
        </p:nvSpPr>
        <p:spPr>
          <a:xfrm>
            <a:off x="6217920" y="1600200"/>
            <a:ext cx="5760000" cy="26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Once connected, you can ask: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"Search the ADR vector DB for reports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similar to rhabdomyolysis"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"How many FAERS reports exist for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atorvastatin + myopathy?"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"Plot the top 10 drugs by report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count in our database"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Claude calls the MCP tool directly —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99aa"/>
                </a:solidFill>
                <a:latin typeface="Calibri"/>
              </a:rPr>
              <a:t>no copy-paste needed!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5ac8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CLAUDE.md — Project Memory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Box 4"/>
          <p:cNvSpPr/>
          <p:nvPr/>
        </p:nvSpPr>
        <p:spPr>
          <a:xfrm>
            <a:off x="274320" y="1097280"/>
            <a:ext cx="11612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e8e8"/>
                </a:solidFill>
                <a:latin typeface="Calibri"/>
              </a:rPr>
              <a:t>Create CLAUDE.md at project root — Claude reads it at the start of every session.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Rectangle 5"/>
          <p:cNvSpPr/>
          <p:nvPr/>
        </p:nvSpPr>
        <p:spPr>
          <a:xfrm>
            <a:off x="274320" y="1600200"/>
            <a:ext cx="7131600" cy="4845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6"/>
          <p:cNvSpPr/>
          <p:nvPr/>
        </p:nvSpPr>
        <p:spPr>
          <a:xfrm>
            <a:off x="1482840" y="1710000"/>
            <a:ext cx="4714560" cy="34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 ADR Research Project — Claude Context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## Pipeline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1. FAERS_Prep.ipynb → raw FAERS CSVs → cleaned dataframes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2. finetune_BGE_base.ipynb → fine-tuned BGE-M3 model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3. ADR_LanceDB.ipynb → LanceDB vector DB at trn_lancedb/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## Key Data Files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adr_all_new_up2_26q1.pkl  ← latest FAERS dataset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trn_lancedb/              ← BGE-M3 vector database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mdhier_pt_soc.pkl         ← MedDRA hierarchy mappings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## Conventions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MedDRA PT codes: lowercase strings ('myopathy')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Drug names: generic names (FDA UNII preferred)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Models checkpoint to bge_adr_base*/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## Do Not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Modify files in faers/, faers_all/ (raw archives)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Use pandas &lt; 2.0 API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a8ffc2"/>
                </a:solidFill>
                <a:latin typeface="Courier New"/>
              </a:rPr>
              <a:t>- Commit .pkl or .pt checkpoint files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7"/>
          <p:cNvSpPr/>
          <p:nvPr/>
        </p:nvSpPr>
        <p:spPr>
          <a:xfrm>
            <a:off x="7589520" y="1600200"/>
            <a:ext cx="4388400" cy="26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Benefits: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No re-explaining your project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every session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Claude knows your file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naming conventions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Prevents dangerous actions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(Do Not rules)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Team-shared project context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(commit to git)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Rectangle 1"/>
          <p:cNvSpPr/>
          <p:nvPr/>
        </p:nvSpPr>
        <p:spPr>
          <a:xfrm>
            <a:off x="0" y="228600"/>
            <a:ext cx="12188160" cy="68572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Rectangle 2"/>
          <p:cNvSpPr/>
          <p:nvPr/>
        </p:nvSpPr>
        <p:spPr>
          <a:xfrm>
            <a:off x="0" y="2743200"/>
            <a:ext cx="12188160" cy="7236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TextBox 3"/>
          <p:cNvSpPr/>
          <p:nvPr/>
        </p:nvSpPr>
        <p:spPr>
          <a:xfrm>
            <a:off x="731520" y="548640"/>
            <a:ext cx="1005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d46212"/>
                </a:solidFill>
                <a:latin typeface="Calibri"/>
              </a:rPr>
              <a:t>PART 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4"/>
          <p:cNvSpPr/>
          <p:nvPr/>
        </p:nvSpPr>
        <p:spPr>
          <a:xfrm>
            <a:off x="1600200" y="1371600"/>
            <a:ext cx="70866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Agent Orchestration - Healthcare </a:t>
            </a: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Research Usage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5"/>
          <p:cNvSpPr/>
          <p:nvPr/>
        </p:nvSpPr>
        <p:spPr>
          <a:xfrm>
            <a:off x="914400" y="3200400"/>
            <a:ext cx="10332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9999aa"/>
                </a:solidFill>
                <a:latin typeface="Calibri"/>
              </a:rPr>
              <a:t>FAERS Data · MedDRA Drug Name Normalization · Batch Processing 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Claude for ADR Research Pipeline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Rectangle 4"/>
          <p:cNvSpPr/>
          <p:nvPr/>
        </p:nvSpPr>
        <p:spPr>
          <a:xfrm>
            <a:off x="274320" y="1188720"/>
            <a:ext cx="3656880" cy="155376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Rectangle 5"/>
          <p:cNvSpPr/>
          <p:nvPr/>
        </p:nvSpPr>
        <p:spPr>
          <a:xfrm>
            <a:off x="274320" y="1188720"/>
            <a:ext cx="3656880" cy="540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411480" y="1298520"/>
            <a:ext cx="338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4a9ed6"/>
                </a:solidFill>
                <a:latin typeface="Calibri"/>
              </a:rPr>
              <a:t>Web Search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Box 7"/>
          <p:cNvSpPr/>
          <p:nvPr/>
        </p:nvSpPr>
        <p:spPr>
          <a:xfrm>
            <a:off x="411480" y="1783080"/>
            <a:ext cx="338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aa"/>
                </a:solidFill>
                <a:latin typeface="Calibri"/>
              </a:rPr>
              <a:t>Get FEARS quarterly CSV files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Rectangle 8"/>
          <p:cNvSpPr/>
          <p:nvPr/>
        </p:nvSpPr>
        <p:spPr>
          <a:xfrm>
            <a:off x="4206240" y="1188720"/>
            <a:ext cx="3656880" cy="155376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Rectangle 9"/>
          <p:cNvSpPr/>
          <p:nvPr/>
        </p:nvSpPr>
        <p:spPr>
          <a:xfrm>
            <a:off x="4206240" y="1188720"/>
            <a:ext cx="3656880" cy="540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4343400" y="1298520"/>
            <a:ext cx="338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4a9ed6"/>
                </a:solidFill>
                <a:latin typeface="Calibri"/>
              </a:rPr>
              <a:t>FAERS_Prep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4343400" y="1783080"/>
            <a:ext cx="338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aa"/>
                </a:solidFill>
                <a:latin typeface="Calibri"/>
              </a:rPr>
              <a:t>Cleaning &amp; normalization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13" name=""/>
          <p:cNvGrpSpPr/>
          <p:nvPr/>
        </p:nvGrpSpPr>
        <p:grpSpPr>
          <a:xfrm>
            <a:off x="685800" y="3018240"/>
            <a:ext cx="3656880" cy="1553760"/>
            <a:chOff x="685800" y="3018240"/>
            <a:chExt cx="3656880" cy="1553760"/>
          </a:xfrm>
        </p:grpSpPr>
        <p:sp>
          <p:nvSpPr>
            <p:cNvPr id="414" name="Rectangle 12"/>
            <p:cNvSpPr/>
            <p:nvPr/>
          </p:nvSpPr>
          <p:spPr>
            <a:xfrm>
              <a:off x="685800" y="3018240"/>
              <a:ext cx="3656880" cy="1553760"/>
            </a:xfrm>
            <a:prstGeom prst="rect">
              <a:avLst/>
            </a:prstGeom>
            <a:solidFill>
              <a:srgbClr val="16162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15" name="Rectangle 13"/>
            <p:cNvSpPr/>
            <p:nvPr/>
          </p:nvSpPr>
          <p:spPr>
            <a:xfrm>
              <a:off x="685800" y="3018240"/>
              <a:ext cx="3656880" cy="54000"/>
            </a:xfrm>
            <a:prstGeom prst="rect">
              <a:avLst/>
            </a:prstGeom>
            <a:solidFill>
              <a:srgbClr val="4a9ed6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9720" bIns="972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16" name="TextBox 14"/>
            <p:cNvSpPr/>
            <p:nvPr/>
          </p:nvSpPr>
          <p:spPr>
            <a:xfrm>
              <a:off x="732240" y="3200400"/>
              <a:ext cx="3382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a9ed6"/>
                  </a:solidFill>
                  <a:latin typeface="Calibri"/>
                </a:rPr>
                <a:t>Merge Data</a:t>
              </a: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7" name="TextBox 15"/>
            <p:cNvSpPr/>
            <p:nvPr/>
          </p:nvSpPr>
          <p:spPr>
            <a:xfrm>
              <a:off x="732240" y="3657600"/>
              <a:ext cx="33825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9999aa"/>
                  </a:solidFill>
                  <a:latin typeface="Calibri"/>
                </a:rPr>
                <a:t>Merge FAERS quarterly data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18" name=""/>
          <p:cNvGrpSpPr/>
          <p:nvPr/>
        </p:nvGrpSpPr>
        <p:grpSpPr>
          <a:xfrm>
            <a:off x="4801320" y="3018240"/>
            <a:ext cx="3656880" cy="1553760"/>
            <a:chOff x="4801320" y="3018240"/>
            <a:chExt cx="3656880" cy="1553760"/>
          </a:xfrm>
        </p:grpSpPr>
        <p:sp>
          <p:nvSpPr>
            <p:cNvPr id="419" name="Rectangle 24"/>
            <p:cNvSpPr/>
            <p:nvPr/>
          </p:nvSpPr>
          <p:spPr>
            <a:xfrm>
              <a:off x="4801320" y="3018240"/>
              <a:ext cx="3656880" cy="1553760"/>
            </a:xfrm>
            <a:prstGeom prst="rect">
              <a:avLst/>
            </a:prstGeom>
            <a:solidFill>
              <a:srgbClr val="16162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20" name="TextBox 26"/>
            <p:cNvSpPr/>
            <p:nvPr/>
          </p:nvSpPr>
          <p:spPr>
            <a:xfrm>
              <a:off x="4938480" y="3128040"/>
              <a:ext cx="3382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a9ed6"/>
                  </a:solidFill>
                  <a:latin typeface="Calibri"/>
                </a:rPr>
                <a:t>Output Data</a:t>
              </a: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1" name="TextBox 27"/>
            <p:cNvSpPr/>
            <p:nvPr/>
          </p:nvSpPr>
          <p:spPr>
            <a:xfrm>
              <a:off x="4938480" y="3612600"/>
              <a:ext cx="338256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9999aa"/>
                  </a:solidFill>
                  <a:latin typeface="Calibri"/>
                </a:rPr>
                <a:t>Pickle data and output to a single file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22" name="TextBox 28"/>
          <p:cNvSpPr/>
          <p:nvPr/>
        </p:nvSpPr>
        <p:spPr>
          <a:xfrm>
            <a:off x="274320" y="5303520"/>
            <a:ext cx="116121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What Claude adds to your pipeline: 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  <a:ea typeface="Noto Sans CJK SC"/>
              </a:rPr>
              <a:t>Identify File to Download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  ·  Structured Extraction from ASCII file   ·  Normalize Drug and ATC Class ·  Merge 5 Subsets to Single Data Frame  ·  Output to a Pickle.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Rectangle 25"/>
          <p:cNvSpPr/>
          <p:nvPr/>
        </p:nvSpPr>
        <p:spPr>
          <a:xfrm>
            <a:off x="4801320" y="3018240"/>
            <a:ext cx="3656880" cy="540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Rectangle 2"/>
          <p:cNvSpPr/>
          <p:nvPr/>
        </p:nvSpPr>
        <p:spPr>
          <a:xfrm>
            <a:off x="73080" y="0"/>
            <a:ext cx="12115080" cy="1005120"/>
          </a:xfrm>
          <a:prstGeom prst="rect">
            <a:avLst/>
          </a:prstGeom>
          <a:solidFill>
            <a:srgbClr val="161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274320" y="164520"/>
            <a:ext cx="11612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Model &amp; Cost Selection Guide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Rectangle 4"/>
          <p:cNvSpPr/>
          <p:nvPr/>
        </p:nvSpPr>
        <p:spPr>
          <a:xfrm>
            <a:off x="274320" y="1188720"/>
            <a:ext cx="39312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5"/>
          <p:cNvSpPr/>
          <p:nvPr/>
        </p:nvSpPr>
        <p:spPr>
          <a:xfrm>
            <a:off x="320040" y="1234440"/>
            <a:ext cx="3839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Task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Rectangle 6"/>
          <p:cNvSpPr/>
          <p:nvPr/>
        </p:nvSpPr>
        <p:spPr>
          <a:xfrm>
            <a:off x="4206240" y="1188720"/>
            <a:ext cx="21024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7"/>
          <p:cNvSpPr/>
          <p:nvPr/>
        </p:nvSpPr>
        <p:spPr>
          <a:xfrm>
            <a:off x="4251960" y="1234440"/>
            <a:ext cx="2010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Rectangle 8"/>
          <p:cNvSpPr/>
          <p:nvPr/>
        </p:nvSpPr>
        <p:spPr>
          <a:xfrm>
            <a:off x="6309360" y="1188720"/>
            <a:ext cx="164520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6355080" y="1234440"/>
            <a:ext cx="1553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API Mode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Rectangle 10"/>
          <p:cNvSpPr/>
          <p:nvPr/>
        </p:nvSpPr>
        <p:spPr>
          <a:xfrm>
            <a:off x="7955280" y="1188720"/>
            <a:ext cx="3958560" cy="34668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4" name="TextBox 11"/>
          <p:cNvSpPr/>
          <p:nvPr/>
        </p:nvSpPr>
        <p:spPr>
          <a:xfrm>
            <a:off x="8001000" y="1234440"/>
            <a:ext cx="3867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Approx. Cost per 1K items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Rectangle 12"/>
          <p:cNvSpPr/>
          <p:nvPr/>
        </p:nvSpPr>
        <p:spPr>
          <a:xfrm>
            <a:off x="274320" y="1536120"/>
            <a:ext cx="3931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320040" y="1572840"/>
            <a:ext cx="3839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Complex ADR reasoning / drug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Rectangle 14"/>
          <p:cNvSpPr/>
          <p:nvPr/>
        </p:nvSpPr>
        <p:spPr>
          <a:xfrm>
            <a:off x="4206240" y="1536120"/>
            <a:ext cx="2102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TextBox 15"/>
          <p:cNvSpPr/>
          <p:nvPr/>
        </p:nvSpPr>
        <p:spPr>
          <a:xfrm>
            <a:off x="4251960" y="157284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Opus 4.8 + effort:high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Rectangle 16"/>
          <p:cNvSpPr/>
          <p:nvPr/>
        </p:nvSpPr>
        <p:spPr>
          <a:xfrm>
            <a:off x="6309360" y="153612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17"/>
          <p:cNvSpPr/>
          <p:nvPr/>
        </p:nvSpPr>
        <p:spPr>
          <a:xfrm>
            <a:off x="6355080" y="157284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Real-time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ectangle 18"/>
          <p:cNvSpPr/>
          <p:nvPr/>
        </p:nvSpPr>
        <p:spPr>
          <a:xfrm>
            <a:off x="7955280" y="1536120"/>
            <a:ext cx="395856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TextBox 19"/>
          <p:cNvSpPr/>
          <p:nvPr/>
        </p:nvSpPr>
        <p:spPr>
          <a:xfrm>
            <a:off x="8001000" y="1572840"/>
            <a:ext cx="38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~$5–15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ectangle 20"/>
          <p:cNvSpPr/>
          <p:nvPr/>
        </p:nvSpPr>
        <p:spPr>
          <a:xfrm>
            <a:off x="274320" y="1883520"/>
            <a:ext cx="3931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21"/>
          <p:cNvSpPr/>
          <p:nvPr/>
        </p:nvSpPr>
        <p:spPr>
          <a:xfrm>
            <a:off x="320040" y="1920240"/>
            <a:ext cx="3839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Literature summarization (long PDFs)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ectangle 22"/>
          <p:cNvSpPr/>
          <p:nvPr/>
        </p:nvSpPr>
        <p:spPr>
          <a:xfrm>
            <a:off x="4206240" y="1883520"/>
            <a:ext cx="2102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23"/>
          <p:cNvSpPr/>
          <p:nvPr/>
        </p:nvSpPr>
        <p:spPr>
          <a:xfrm>
            <a:off x="4251960" y="192024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Opus 4.8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ectangle 24"/>
          <p:cNvSpPr/>
          <p:nvPr/>
        </p:nvSpPr>
        <p:spPr>
          <a:xfrm>
            <a:off x="6309360" y="188352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25"/>
          <p:cNvSpPr/>
          <p:nvPr/>
        </p:nvSpPr>
        <p:spPr>
          <a:xfrm>
            <a:off x="6355080" y="192024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Files API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Rectangle 26"/>
          <p:cNvSpPr/>
          <p:nvPr/>
        </p:nvSpPr>
        <p:spPr>
          <a:xfrm>
            <a:off x="7955280" y="1883520"/>
            <a:ext cx="395856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TextBox 27"/>
          <p:cNvSpPr/>
          <p:nvPr/>
        </p:nvSpPr>
        <p:spPr>
          <a:xfrm>
            <a:off x="8001000" y="1920240"/>
            <a:ext cx="38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~$5–10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ectangle 28"/>
          <p:cNvSpPr/>
          <p:nvPr/>
        </p:nvSpPr>
        <p:spPr>
          <a:xfrm>
            <a:off x="274320" y="2231280"/>
            <a:ext cx="3931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29"/>
          <p:cNvSpPr/>
          <p:nvPr/>
        </p:nvSpPr>
        <p:spPr>
          <a:xfrm>
            <a:off x="320040" y="2267640"/>
            <a:ext cx="3839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MedDRA PT coding (bulk)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Rectangle 30"/>
          <p:cNvSpPr/>
          <p:nvPr/>
        </p:nvSpPr>
        <p:spPr>
          <a:xfrm>
            <a:off x="4206240" y="2231280"/>
            <a:ext cx="2102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TextBox 31"/>
          <p:cNvSpPr/>
          <p:nvPr/>
        </p:nvSpPr>
        <p:spPr>
          <a:xfrm>
            <a:off x="4251960" y="226764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Haiku 4.5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Rectangle 32"/>
          <p:cNvSpPr/>
          <p:nvPr/>
        </p:nvSpPr>
        <p:spPr>
          <a:xfrm>
            <a:off x="6309360" y="223128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TextBox 33"/>
          <p:cNvSpPr/>
          <p:nvPr/>
        </p:nvSpPr>
        <p:spPr>
          <a:xfrm>
            <a:off x="6355080" y="226764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Batch API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Rectangle 34"/>
          <p:cNvSpPr/>
          <p:nvPr/>
        </p:nvSpPr>
        <p:spPr>
          <a:xfrm>
            <a:off x="7955280" y="2231280"/>
            <a:ext cx="395856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35"/>
          <p:cNvSpPr/>
          <p:nvPr/>
        </p:nvSpPr>
        <p:spPr>
          <a:xfrm>
            <a:off x="8001000" y="2267640"/>
            <a:ext cx="38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~$0.25–0.5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Rectangle 36"/>
          <p:cNvSpPr/>
          <p:nvPr/>
        </p:nvSpPr>
        <p:spPr>
          <a:xfrm>
            <a:off x="274320" y="2578680"/>
            <a:ext cx="3931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37"/>
          <p:cNvSpPr/>
          <p:nvPr/>
        </p:nvSpPr>
        <p:spPr>
          <a:xfrm>
            <a:off x="320040" y="2615040"/>
            <a:ext cx="3839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Clinical narrative extraction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Rectangle 38"/>
          <p:cNvSpPr/>
          <p:nvPr/>
        </p:nvSpPr>
        <p:spPr>
          <a:xfrm>
            <a:off x="4206240" y="2578680"/>
            <a:ext cx="2102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39"/>
          <p:cNvSpPr/>
          <p:nvPr/>
        </p:nvSpPr>
        <p:spPr>
          <a:xfrm>
            <a:off x="4251960" y="261504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Sonnet 4.6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Rectangle 40"/>
          <p:cNvSpPr/>
          <p:nvPr/>
        </p:nvSpPr>
        <p:spPr>
          <a:xfrm>
            <a:off x="6309360" y="257868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TextBox 41"/>
          <p:cNvSpPr/>
          <p:nvPr/>
        </p:nvSpPr>
        <p:spPr>
          <a:xfrm>
            <a:off x="6355080" y="261504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Real-time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Rectangle 42"/>
          <p:cNvSpPr/>
          <p:nvPr/>
        </p:nvSpPr>
        <p:spPr>
          <a:xfrm>
            <a:off x="7955280" y="2578680"/>
            <a:ext cx="395856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TextBox 43"/>
          <p:cNvSpPr/>
          <p:nvPr/>
        </p:nvSpPr>
        <p:spPr>
          <a:xfrm>
            <a:off x="8001000" y="2615040"/>
            <a:ext cx="38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~$1.5–3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Rectangle 44"/>
          <p:cNvSpPr/>
          <p:nvPr/>
        </p:nvSpPr>
        <p:spPr>
          <a:xfrm>
            <a:off x="274320" y="2926080"/>
            <a:ext cx="3931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8" name="TextBox 45"/>
          <p:cNvSpPr/>
          <p:nvPr/>
        </p:nvSpPr>
        <p:spPr>
          <a:xfrm>
            <a:off x="320040" y="2962800"/>
            <a:ext cx="3839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FAERS quarterly update (100K reports)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Rectangle 46"/>
          <p:cNvSpPr/>
          <p:nvPr/>
        </p:nvSpPr>
        <p:spPr>
          <a:xfrm>
            <a:off x="4206240" y="2926080"/>
            <a:ext cx="21024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TextBox 47"/>
          <p:cNvSpPr/>
          <p:nvPr/>
        </p:nvSpPr>
        <p:spPr>
          <a:xfrm>
            <a:off x="4251960" y="296280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Haiku 4.5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Rectangle 48"/>
          <p:cNvSpPr/>
          <p:nvPr/>
        </p:nvSpPr>
        <p:spPr>
          <a:xfrm>
            <a:off x="6309360" y="2926080"/>
            <a:ext cx="164520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2" name="TextBox 49"/>
          <p:cNvSpPr/>
          <p:nvPr/>
        </p:nvSpPr>
        <p:spPr>
          <a:xfrm>
            <a:off x="6355080" y="296280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Batch API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Rectangle 50"/>
          <p:cNvSpPr/>
          <p:nvPr/>
        </p:nvSpPr>
        <p:spPr>
          <a:xfrm>
            <a:off x="7955280" y="2926080"/>
            <a:ext cx="3958560" cy="346680"/>
          </a:xfrm>
          <a:prstGeom prst="rect">
            <a:avLst/>
          </a:prstGeom>
          <a:solidFill>
            <a:srgbClr val="2222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TextBox 51"/>
          <p:cNvSpPr/>
          <p:nvPr/>
        </p:nvSpPr>
        <p:spPr>
          <a:xfrm>
            <a:off x="8001000" y="2962800"/>
            <a:ext cx="38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~$0.5 total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Rectangle 52"/>
          <p:cNvSpPr/>
          <p:nvPr/>
        </p:nvSpPr>
        <p:spPr>
          <a:xfrm>
            <a:off x="274320" y="3273480"/>
            <a:ext cx="3931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6" name="TextBox 53"/>
          <p:cNvSpPr/>
          <p:nvPr/>
        </p:nvSpPr>
        <p:spPr>
          <a:xfrm>
            <a:off x="320040" y="3310200"/>
            <a:ext cx="3839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c87a"/>
                </a:solidFill>
                <a:latin typeface="Calibri"/>
              </a:rPr>
              <a:t>Research agent (multi-step with tools)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Rectangle 54"/>
          <p:cNvSpPr/>
          <p:nvPr/>
        </p:nvSpPr>
        <p:spPr>
          <a:xfrm>
            <a:off x="4206240" y="3273480"/>
            <a:ext cx="21024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55"/>
          <p:cNvSpPr/>
          <p:nvPr/>
        </p:nvSpPr>
        <p:spPr>
          <a:xfrm>
            <a:off x="4251960" y="3310200"/>
            <a:ext cx="201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Opus 4.8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Rectangle 56"/>
          <p:cNvSpPr/>
          <p:nvPr/>
        </p:nvSpPr>
        <p:spPr>
          <a:xfrm>
            <a:off x="6309360" y="3273480"/>
            <a:ext cx="164520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TextBox 57"/>
          <p:cNvSpPr/>
          <p:nvPr/>
        </p:nvSpPr>
        <p:spPr>
          <a:xfrm>
            <a:off x="6355080" y="3310200"/>
            <a:ext cx="1553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Tool loop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Rectangle 58"/>
          <p:cNvSpPr/>
          <p:nvPr/>
        </p:nvSpPr>
        <p:spPr>
          <a:xfrm>
            <a:off x="7955280" y="3273480"/>
            <a:ext cx="3958560" cy="3466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59"/>
          <p:cNvSpPr/>
          <p:nvPr/>
        </p:nvSpPr>
        <p:spPr>
          <a:xfrm>
            <a:off x="8001000" y="3310200"/>
            <a:ext cx="38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8e8e8"/>
                </a:solidFill>
                <a:latin typeface="Calibri"/>
              </a:rPr>
              <a:t>~$10–30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Box 60"/>
          <p:cNvSpPr/>
          <p:nvPr/>
        </p:nvSpPr>
        <p:spPr>
          <a:xfrm>
            <a:off x="274320" y="4800600"/>
            <a:ext cx="1161216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Cost optimization checklist: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☑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Haiku for bulk classification (10× cheaper than Opus)   ·   ☑  Batch API for async processing (50% off)   ·   ☑  Prompt caching for repeated drug knowledge bases (90% off)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☑  </a:t>
            </a:r>
            <a:r>
              <a:rPr b="0" lang="en-US" sz="1300" spc="-1" strike="noStrike">
                <a:solidFill>
                  <a:srgbClr val="5ac87a"/>
                </a:solidFill>
                <a:latin typeface="Calibri"/>
              </a:rPr>
              <a:t>Files API to avoid re-uploading large PDFs   ·   ☑  Set max_tokens conservatively — charged for actual output, not the limit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Rectangle 2"/>
          <p:cNvSpPr/>
          <p:nvPr/>
        </p:nvSpPr>
        <p:spPr>
          <a:xfrm>
            <a:off x="0" y="0"/>
            <a:ext cx="12188160" cy="7236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3"/>
          <p:cNvSpPr/>
          <p:nvPr/>
        </p:nvSpPr>
        <p:spPr>
          <a:xfrm>
            <a:off x="457200" y="274320"/>
            <a:ext cx="1124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Summary &amp; Next Steps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Rectangle 4"/>
          <p:cNvSpPr/>
          <p:nvPr/>
        </p:nvSpPr>
        <p:spPr>
          <a:xfrm>
            <a:off x="457200" y="1005840"/>
            <a:ext cx="10789200" cy="36000"/>
          </a:xfrm>
          <a:prstGeom prst="rect">
            <a:avLst/>
          </a:prstGeom>
          <a:solidFill>
            <a:srgbClr val="d462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Rectangle 6"/>
          <p:cNvSpPr/>
          <p:nvPr/>
        </p:nvSpPr>
        <p:spPr>
          <a:xfrm>
            <a:off x="1600920" y="1143000"/>
            <a:ext cx="3656880" cy="54000"/>
          </a:xfrm>
          <a:prstGeom prst="rect">
            <a:avLst/>
          </a:prstGeom>
          <a:solidFill>
            <a:srgbClr val="4a9e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489" name=""/>
          <p:cNvGrpSpPr/>
          <p:nvPr/>
        </p:nvGrpSpPr>
        <p:grpSpPr>
          <a:xfrm>
            <a:off x="1600200" y="1197000"/>
            <a:ext cx="3656880" cy="4114080"/>
            <a:chOff x="1600200" y="1197000"/>
            <a:chExt cx="3656880" cy="4114080"/>
          </a:xfrm>
        </p:grpSpPr>
        <p:sp>
          <p:nvSpPr>
            <p:cNvPr id="490" name="Rectangle 5"/>
            <p:cNvSpPr/>
            <p:nvPr/>
          </p:nvSpPr>
          <p:spPr>
            <a:xfrm>
              <a:off x="1600200" y="1197000"/>
              <a:ext cx="3656880" cy="4114080"/>
            </a:xfrm>
            <a:prstGeom prst="rect">
              <a:avLst/>
            </a:prstGeom>
            <a:solidFill>
              <a:srgbClr val="16162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91" name="TextBox 7"/>
            <p:cNvSpPr/>
            <p:nvPr/>
          </p:nvSpPr>
          <p:spPr>
            <a:xfrm>
              <a:off x="1710000" y="1288440"/>
              <a:ext cx="34740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a9ed6"/>
                  </a:solidFill>
                  <a:latin typeface="Calibri"/>
                </a:rPr>
                <a:t>Part 1: Prompting Ladder</a:t>
              </a: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2" name="TextBox 8"/>
            <p:cNvSpPr/>
            <p:nvPr/>
          </p:nvSpPr>
          <p:spPr>
            <a:xfrm>
              <a:off x="1710000" y="192852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Simple call → System prompt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3" name="TextBox 9"/>
            <p:cNvSpPr/>
            <p:nvPr/>
          </p:nvSpPr>
          <p:spPr>
            <a:xfrm>
              <a:off x="1710000" y="270576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→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Multi-turn → Thinking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4" name="TextBox 10"/>
            <p:cNvSpPr/>
            <p:nvPr/>
          </p:nvSpPr>
          <p:spPr>
            <a:xfrm>
              <a:off x="1710000" y="348300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→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Tools → Structured output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5" name="TextBox 11"/>
            <p:cNvSpPr/>
            <p:nvPr/>
          </p:nvSpPr>
          <p:spPr>
            <a:xfrm>
              <a:off x="1710000" y="426024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→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Prompt caching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6" name=""/>
          <p:cNvGrpSpPr/>
          <p:nvPr/>
        </p:nvGrpSpPr>
        <p:grpSpPr>
          <a:xfrm>
            <a:off x="6401520" y="1143000"/>
            <a:ext cx="3656880" cy="4114080"/>
            <a:chOff x="6401520" y="1143000"/>
            <a:chExt cx="3656880" cy="4114080"/>
          </a:xfrm>
        </p:grpSpPr>
        <p:sp>
          <p:nvSpPr>
            <p:cNvPr id="497" name="Rectangle 12"/>
            <p:cNvSpPr/>
            <p:nvPr/>
          </p:nvSpPr>
          <p:spPr>
            <a:xfrm>
              <a:off x="6401520" y="1143000"/>
              <a:ext cx="3656880" cy="4114080"/>
            </a:xfrm>
            <a:prstGeom prst="rect">
              <a:avLst/>
            </a:prstGeom>
            <a:solidFill>
              <a:srgbClr val="161628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98" name="Rectangle 13"/>
            <p:cNvSpPr/>
            <p:nvPr/>
          </p:nvSpPr>
          <p:spPr>
            <a:xfrm>
              <a:off x="6401520" y="1143000"/>
              <a:ext cx="3656880" cy="54000"/>
            </a:xfrm>
            <a:prstGeom prst="rect">
              <a:avLst/>
            </a:prstGeom>
            <a:solidFill>
              <a:srgbClr val="5ac87a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9720" bIns="972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99" name="TextBox 14"/>
            <p:cNvSpPr/>
            <p:nvPr/>
          </p:nvSpPr>
          <p:spPr>
            <a:xfrm>
              <a:off x="6511320" y="1234440"/>
              <a:ext cx="34740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5ac87a"/>
                  </a:solidFill>
                  <a:latin typeface="Calibri"/>
                </a:rPr>
                <a:t>Part 2: VS Code / CLI</a:t>
              </a: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TextBox 15"/>
            <p:cNvSpPr/>
            <p:nvPr/>
          </p:nvSpPr>
          <p:spPr>
            <a:xfrm>
              <a:off x="6511320" y="1874520"/>
              <a:ext cx="343728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/model model selection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1" name="TextBox 16"/>
            <p:cNvSpPr/>
            <p:nvPr/>
          </p:nvSpPr>
          <p:spPr>
            <a:xfrm>
              <a:off x="6511320" y="265176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/plan before code changes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2" name="TextBox 17"/>
            <p:cNvSpPr/>
            <p:nvPr/>
          </p:nvSpPr>
          <p:spPr>
            <a:xfrm>
              <a:off x="6511320" y="342900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/mcp connects to Claude chat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3" name="TextBox 18"/>
            <p:cNvSpPr/>
            <p:nvPr/>
          </p:nvSpPr>
          <p:spPr>
            <a:xfrm>
              <a:off x="6511320" y="4206240"/>
              <a:ext cx="3437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•  </a:t>
              </a:r>
              <a:r>
                <a:rPr b="0" lang="en-US" sz="1200" spc="-1" strike="noStrike">
                  <a:solidFill>
                    <a:srgbClr val="e8e8e8"/>
                  </a:solidFill>
                  <a:latin typeface="Calibri"/>
                </a:rPr>
                <a:t>/cost to monitor spending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2026-06-30T13:49:25Z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