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C615663-D47E-4557-B3D0-5CD1035DE0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932042C-DB41-4AAC-B1F1-4044F8A6575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6F0F0A8-FFC7-437D-8268-E177FC46D77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6FF3982-E2BE-4605-8B9F-C3B067086D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CD51DBDE-EA66-4C8F-877A-FD1471FD5EA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D8687A0E-05C2-46A5-B319-BB710FEB290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AAE63BE7-0A3B-4153-82AD-8EA2E3D1669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DA6350C2-CD9E-42E4-973F-CE6728FC394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A60D2BD6-DA6B-4BC1-8C41-69D605B74D1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38C646DE-5A7F-43BF-B0EE-F821EAAE54B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05AC2A0F-6590-4B49-AAA6-058866CEBE4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6A47B41-C9DD-4F05-BDBB-F039578D33A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666DD4B-3CEE-401E-8392-D182B45711D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B00CAC9-39E9-41F3-8356-95C3672A159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C0C72A9-81B2-4F87-8581-91E138EAADF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7A3C038-A62D-4ED8-9B0F-1EDC16B5351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D5B9EAF-F931-4EF1-971B-246BAE411E1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3A18A0-BB2C-4D62-A8F1-F03A3CF4622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A1DE35E-4057-4EA7-A3ED-EAF57482348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E030DF6-A822-4041-90DD-9499B694FCF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9F4750-5525-4C11-A65E-887FFE0EB3B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FB74D19-6884-400E-AF18-C6C3BDFA70C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12188520" cy="727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0" y="6784920"/>
            <a:ext cx="12188520" cy="727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Oval 4"/>
          <p:cNvSpPr/>
          <p:nvPr/>
        </p:nvSpPr>
        <p:spPr>
          <a:xfrm>
            <a:off x="8321040" y="1005840"/>
            <a:ext cx="2559960" cy="2559960"/>
          </a:xfrm>
          <a:prstGeom prst="ellipse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" name="Oval 5"/>
          <p:cNvSpPr/>
          <p:nvPr/>
        </p:nvSpPr>
        <p:spPr>
          <a:xfrm>
            <a:off x="9692640" y="4206240"/>
            <a:ext cx="1645560" cy="1645560"/>
          </a:xfrm>
          <a:prstGeom prst="ellipse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914400" y="1371600"/>
            <a:ext cx="8229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d46212"/>
                </a:solidFill>
                <a:latin typeface="Calibri"/>
              </a:rPr>
              <a:t>CLAUDE MODEL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914400" y="1920240"/>
            <a:ext cx="8686440" cy="13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A Practical Lecture for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Healthcare AI Researchers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Rectangle 8"/>
          <p:cNvSpPr/>
          <p:nvPr/>
        </p:nvSpPr>
        <p:spPr>
          <a:xfrm>
            <a:off x="914400" y="3520440"/>
            <a:ext cx="5028840" cy="453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914400" y="3749040"/>
            <a:ext cx="5943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4a9ed6"/>
                </a:solidFill>
                <a:latin typeface="Calibri"/>
              </a:rPr>
              <a:t>1   Prompting: Simple to Complex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4a9ed6"/>
                </a:solidFill>
                <a:latin typeface="Calibri"/>
              </a:rPr>
              <a:t>2   VS Code Extension &amp; Claude Code CLI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4a9ed6"/>
                </a:solidFill>
                <a:latin typeface="Calibri"/>
              </a:rPr>
              <a:t>3   Advanced Healthcare Research Usage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914400" y="6035040"/>
            <a:ext cx="7314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Prerequisites: Python 3.9+  •  pip install anthropic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Agenda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Rectangle 4"/>
          <p:cNvSpPr/>
          <p:nvPr/>
        </p:nvSpPr>
        <p:spPr>
          <a:xfrm>
            <a:off x="274320" y="1188720"/>
            <a:ext cx="3657240" cy="51202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Rectangle 5"/>
          <p:cNvSpPr/>
          <p:nvPr/>
        </p:nvSpPr>
        <p:spPr>
          <a:xfrm>
            <a:off x="274320" y="1188720"/>
            <a:ext cx="3657240" cy="453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6"/>
          <p:cNvSpPr/>
          <p:nvPr/>
        </p:nvSpPr>
        <p:spPr>
          <a:xfrm>
            <a:off x="411480" y="1371600"/>
            <a:ext cx="3382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4a9ed6"/>
                </a:solidFill>
                <a:latin typeface="Calibri"/>
              </a:rPr>
              <a:t>PART 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Box 7"/>
          <p:cNvSpPr/>
          <p:nvPr/>
        </p:nvSpPr>
        <p:spPr>
          <a:xfrm>
            <a:off x="411480" y="1783080"/>
            <a:ext cx="3382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Prompting: Simple → Complex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8"/>
          <p:cNvSpPr/>
          <p:nvPr/>
        </p:nvSpPr>
        <p:spPr>
          <a:xfrm>
            <a:off x="411480" y="2651760"/>
            <a:ext cx="3382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API basics · System prompts · Multi-turn · Thinking · Tools · Structured output · Caching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Rectangle 9"/>
          <p:cNvSpPr/>
          <p:nvPr/>
        </p:nvSpPr>
        <p:spPr>
          <a:xfrm>
            <a:off x="4233600" y="1188720"/>
            <a:ext cx="3657240" cy="51202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Rectangle 10"/>
          <p:cNvSpPr/>
          <p:nvPr/>
        </p:nvSpPr>
        <p:spPr>
          <a:xfrm>
            <a:off x="4233600" y="1188720"/>
            <a:ext cx="3657240" cy="4536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TextBox 11"/>
          <p:cNvSpPr/>
          <p:nvPr/>
        </p:nvSpPr>
        <p:spPr>
          <a:xfrm>
            <a:off x="4370760" y="1371600"/>
            <a:ext cx="3382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5ac87a"/>
                </a:solidFill>
                <a:latin typeface="Calibri"/>
              </a:rPr>
              <a:t>PART 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Box 12"/>
          <p:cNvSpPr/>
          <p:nvPr/>
        </p:nvSpPr>
        <p:spPr>
          <a:xfrm>
            <a:off x="4370760" y="1783080"/>
            <a:ext cx="3382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VS Code Extension &amp; Claude Code CLI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Box 13"/>
          <p:cNvSpPr/>
          <p:nvPr/>
        </p:nvSpPr>
        <p:spPr>
          <a:xfrm>
            <a:off x="4370760" y="2651760"/>
            <a:ext cx="3382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Installation · Slash commands · MCP · CLAUDE.md project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ectangle 14"/>
          <p:cNvSpPr/>
          <p:nvPr/>
        </p:nvSpPr>
        <p:spPr>
          <a:xfrm>
            <a:off x="8192880" y="1188720"/>
            <a:ext cx="3657240" cy="51202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Rectangle 15"/>
          <p:cNvSpPr/>
          <p:nvPr/>
        </p:nvSpPr>
        <p:spPr>
          <a:xfrm>
            <a:off x="8192880" y="1188720"/>
            <a:ext cx="3657240" cy="453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TextBox 16"/>
          <p:cNvSpPr/>
          <p:nvPr/>
        </p:nvSpPr>
        <p:spPr>
          <a:xfrm>
            <a:off x="8330040" y="1371600"/>
            <a:ext cx="3382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46212"/>
                </a:solidFill>
                <a:latin typeface="Calibri"/>
              </a:rPr>
              <a:t>PART 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17"/>
          <p:cNvSpPr/>
          <p:nvPr/>
        </p:nvSpPr>
        <p:spPr>
          <a:xfrm>
            <a:off x="8330040" y="1783080"/>
            <a:ext cx="3382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Advanced Healthcare Research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Box 18"/>
          <p:cNvSpPr/>
          <p:nvPr/>
        </p:nvSpPr>
        <p:spPr>
          <a:xfrm>
            <a:off x="8330040" y="2651760"/>
            <a:ext cx="3382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FAERS batch processing · RAG + LanceDB · ADR classification · Citations · HIPAA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" name="Rectangle 2"/>
          <p:cNvSpPr/>
          <p:nvPr/>
        </p:nvSpPr>
        <p:spPr>
          <a:xfrm>
            <a:off x="0" y="2743200"/>
            <a:ext cx="12188520" cy="7272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731520" y="548640"/>
            <a:ext cx="1005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4a9ed6"/>
                </a:solidFill>
                <a:latin typeface="Calibri"/>
              </a:rPr>
              <a:t>PART 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Box 4"/>
          <p:cNvSpPr/>
          <p:nvPr/>
        </p:nvSpPr>
        <p:spPr>
          <a:xfrm>
            <a:off x="731520" y="1371600"/>
            <a:ext cx="10698120" cy="14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Prompting Claude: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Simple to Complex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5"/>
          <p:cNvSpPr/>
          <p:nvPr/>
        </p:nvSpPr>
        <p:spPr>
          <a:xfrm>
            <a:off x="914400" y="3200400"/>
            <a:ext cx="103323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9999aa"/>
                </a:solidFill>
                <a:latin typeface="Calibri"/>
              </a:rPr>
              <a:t>From a one-liner to agents — building blocks every researcher needs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Claude Model Family (2026)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ectangle 4"/>
          <p:cNvSpPr/>
          <p:nvPr/>
        </p:nvSpPr>
        <p:spPr>
          <a:xfrm>
            <a:off x="274320" y="1143000"/>
            <a:ext cx="155412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TextBox 5"/>
          <p:cNvSpPr/>
          <p:nvPr/>
        </p:nvSpPr>
        <p:spPr>
          <a:xfrm>
            <a:off x="320040" y="1188720"/>
            <a:ext cx="1462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Model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ectangle 6"/>
          <p:cNvSpPr/>
          <p:nvPr/>
        </p:nvSpPr>
        <p:spPr>
          <a:xfrm>
            <a:off x="1828800" y="1143000"/>
            <a:ext cx="210276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TextBox 7"/>
          <p:cNvSpPr/>
          <p:nvPr/>
        </p:nvSpPr>
        <p:spPr>
          <a:xfrm>
            <a:off x="1874520" y="118872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ID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Rectangle 8"/>
          <p:cNvSpPr/>
          <p:nvPr/>
        </p:nvSpPr>
        <p:spPr>
          <a:xfrm>
            <a:off x="3931920" y="1143000"/>
            <a:ext cx="100548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" name="TextBox 9"/>
          <p:cNvSpPr/>
          <p:nvPr/>
        </p:nvSpPr>
        <p:spPr>
          <a:xfrm>
            <a:off x="3977640" y="1188720"/>
            <a:ext cx="914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Context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Rectangle 10"/>
          <p:cNvSpPr/>
          <p:nvPr/>
        </p:nvSpPr>
        <p:spPr>
          <a:xfrm>
            <a:off x="4937760" y="1143000"/>
            <a:ext cx="100548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TextBox 11"/>
          <p:cNvSpPr/>
          <p:nvPr/>
        </p:nvSpPr>
        <p:spPr>
          <a:xfrm>
            <a:off x="4983480" y="1188720"/>
            <a:ext cx="914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Input $/1M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Rectangle 12"/>
          <p:cNvSpPr/>
          <p:nvPr/>
        </p:nvSpPr>
        <p:spPr>
          <a:xfrm>
            <a:off x="5943600" y="1143000"/>
            <a:ext cx="118836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" name="TextBox 13"/>
          <p:cNvSpPr/>
          <p:nvPr/>
        </p:nvSpPr>
        <p:spPr>
          <a:xfrm>
            <a:off x="5989320" y="1188720"/>
            <a:ext cx="1096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Output $/1M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Rectangle 14"/>
          <p:cNvSpPr/>
          <p:nvPr/>
        </p:nvSpPr>
        <p:spPr>
          <a:xfrm>
            <a:off x="7132320" y="1143000"/>
            <a:ext cx="478188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TextBox 15"/>
          <p:cNvSpPr/>
          <p:nvPr/>
        </p:nvSpPr>
        <p:spPr>
          <a:xfrm>
            <a:off x="7178040" y="1188720"/>
            <a:ext cx="4690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Best For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Rectangle 16"/>
          <p:cNvSpPr/>
          <p:nvPr/>
        </p:nvSpPr>
        <p:spPr>
          <a:xfrm>
            <a:off x="274320" y="1490400"/>
            <a:ext cx="155412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" name="TextBox 17"/>
          <p:cNvSpPr/>
          <p:nvPr/>
        </p:nvSpPr>
        <p:spPr>
          <a:xfrm>
            <a:off x="320040" y="1527120"/>
            <a:ext cx="1462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Fable 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Rectangle 18"/>
          <p:cNvSpPr/>
          <p:nvPr/>
        </p:nvSpPr>
        <p:spPr>
          <a:xfrm>
            <a:off x="1828800" y="1490400"/>
            <a:ext cx="21027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TextBox 19"/>
          <p:cNvSpPr/>
          <p:nvPr/>
        </p:nvSpPr>
        <p:spPr>
          <a:xfrm>
            <a:off x="1874520" y="1527120"/>
            <a:ext cx="2011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claude-fable-5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Rectangle 20"/>
          <p:cNvSpPr/>
          <p:nvPr/>
        </p:nvSpPr>
        <p:spPr>
          <a:xfrm>
            <a:off x="3931920" y="1490400"/>
            <a:ext cx="100548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21"/>
          <p:cNvSpPr/>
          <p:nvPr/>
        </p:nvSpPr>
        <p:spPr>
          <a:xfrm>
            <a:off x="3977640" y="1527120"/>
            <a:ext cx="914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1M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Rectangle 22"/>
          <p:cNvSpPr/>
          <p:nvPr/>
        </p:nvSpPr>
        <p:spPr>
          <a:xfrm>
            <a:off x="4937760" y="1490400"/>
            <a:ext cx="100548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" name="TextBox 23"/>
          <p:cNvSpPr/>
          <p:nvPr/>
        </p:nvSpPr>
        <p:spPr>
          <a:xfrm>
            <a:off x="4983480" y="1527120"/>
            <a:ext cx="914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$10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Rectangle 24"/>
          <p:cNvSpPr/>
          <p:nvPr/>
        </p:nvSpPr>
        <p:spPr>
          <a:xfrm>
            <a:off x="5943600" y="1490400"/>
            <a:ext cx="11883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TextBox 25"/>
          <p:cNvSpPr/>
          <p:nvPr/>
        </p:nvSpPr>
        <p:spPr>
          <a:xfrm>
            <a:off x="5989320" y="1527120"/>
            <a:ext cx="1096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Rectangle 26"/>
          <p:cNvSpPr/>
          <p:nvPr/>
        </p:nvSpPr>
        <p:spPr>
          <a:xfrm>
            <a:off x="7132320" y="1490400"/>
            <a:ext cx="478188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TextBox 27"/>
          <p:cNvSpPr/>
          <p:nvPr/>
        </p:nvSpPr>
        <p:spPr>
          <a:xfrm>
            <a:off x="7178040" y="1527120"/>
            <a:ext cx="4690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Frontier reasoning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Rectangle 28"/>
          <p:cNvSpPr/>
          <p:nvPr/>
        </p:nvSpPr>
        <p:spPr>
          <a:xfrm>
            <a:off x="274320" y="1837800"/>
            <a:ext cx="155412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TextBox 29"/>
          <p:cNvSpPr/>
          <p:nvPr/>
        </p:nvSpPr>
        <p:spPr>
          <a:xfrm>
            <a:off x="320040" y="1874520"/>
            <a:ext cx="1462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Opus 4.8 ★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ectangle 30"/>
          <p:cNvSpPr/>
          <p:nvPr/>
        </p:nvSpPr>
        <p:spPr>
          <a:xfrm>
            <a:off x="1828800" y="1837800"/>
            <a:ext cx="21027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TextBox 31"/>
          <p:cNvSpPr/>
          <p:nvPr/>
        </p:nvSpPr>
        <p:spPr>
          <a:xfrm>
            <a:off x="1874520" y="1874520"/>
            <a:ext cx="2011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claude-opus-4-8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ectangle 32"/>
          <p:cNvSpPr/>
          <p:nvPr/>
        </p:nvSpPr>
        <p:spPr>
          <a:xfrm>
            <a:off x="3931920" y="1837800"/>
            <a:ext cx="100548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" name="TextBox 33"/>
          <p:cNvSpPr/>
          <p:nvPr/>
        </p:nvSpPr>
        <p:spPr>
          <a:xfrm>
            <a:off x="3977640" y="1874520"/>
            <a:ext cx="914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1M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Rectangle 34"/>
          <p:cNvSpPr/>
          <p:nvPr/>
        </p:nvSpPr>
        <p:spPr>
          <a:xfrm>
            <a:off x="4937760" y="1837800"/>
            <a:ext cx="100548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35"/>
          <p:cNvSpPr/>
          <p:nvPr/>
        </p:nvSpPr>
        <p:spPr>
          <a:xfrm>
            <a:off x="4983480" y="1874520"/>
            <a:ext cx="914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Rectangle 36"/>
          <p:cNvSpPr/>
          <p:nvPr/>
        </p:nvSpPr>
        <p:spPr>
          <a:xfrm>
            <a:off x="5943600" y="1837800"/>
            <a:ext cx="11883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" name="TextBox 37"/>
          <p:cNvSpPr/>
          <p:nvPr/>
        </p:nvSpPr>
        <p:spPr>
          <a:xfrm>
            <a:off x="5989320" y="1874520"/>
            <a:ext cx="1096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$25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Rectangle 38"/>
          <p:cNvSpPr/>
          <p:nvPr/>
        </p:nvSpPr>
        <p:spPr>
          <a:xfrm>
            <a:off x="7132320" y="1837800"/>
            <a:ext cx="478188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39"/>
          <p:cNvSpPr/>
          <p:nvPr/>
        </p:nvSpPr>
        <p:spPr>
          <a:xfrm>
            <a:off x="7178040" y="1874520"/>
            <a:ext cx="4690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Complex research (default)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Rectangle 40"/>
          <p:cNvSpPr/>
          <p:nvPr/>
        </p:nvSpPr>
        <p:spPr>
          <a:xfrm>
            <a:off x="274320" y="2185560"/>
            <a:ext cx="155412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" name="TextBox 41"/>
          <p:cNvSpPr/>
          <p:nvPr/>
        </p:nvSpPr>
        <p:spPr>
          <a:xfrm>
            <a:off x="320040" y="2221920"/>
            <a:ext cx="1462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Sonnet 4.6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Rectangle 42"/>
          <p:cNvSpPr/>
          <p:nvPr/>
        </p:nvSpPr>
        <p:spPr>
          <a:xfrm>
            <a:off x="1828800" y="2185560"/>
            <a:ext cx="21027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43"/>
          <p:cNvSpPr/>
          <p:nvPr/>
        </p:nvSpPr>
        <p:spPr>
          <a:xfrm>
            <a:off x="1874520" y="2221920"/>
            <a:ext cx="2011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claude-sonnet-4-6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Rectangle 44"/>
          <p:cNvSpPr/>
          <p:nvPr/>
        </p:nvSpPr>
        <p:spPr>
          <a:xfrm>
            <a:off x="3931920" y="2185560"/>
            <a:ext cx="100548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TextBox 45"/>
          <p:cNvSpPr/>
          <p:nvPr/>
        </p:nvSpPr>
        <p:spPr>
          <a:xfrm>
            <a:off x="3977640" y="2221920"/>
            <a:ext cx="914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1M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Rectangle 46"/>
          <p:cNvSpPr/>
          <p:nvPr/>
        </p:nvSpPr>
        <p:spPr>
          <a:xfrm>
            <a:off x="4937760" y="2185560"/>
            <a:ext cx="100548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47"/>
          <p:cNvSpPr/>
          <p:nvPr/>
        </p:nvSpPr>
        <p:spPr>
          <a:xfrm>
            <a:off x="4983480" y="2221920"/>
            <a:ext cx="914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Rectangle 48"/>
          <p:cNvSpPr/>
          <p:nvPr/>
        </p:nvSpPr>
        <p:spPr>
          <a:xfrm>
            <a:off x="5943600" y="2185560"/>
            <a:ext cx="11883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TextBox 49"/>
          <p:cNvSpPr/>
          <p:nvPr/>
        </p:nvSpPr>
        <p:spPr>
          <a:xfrm>
            <a:off x="5989320" y="2221920"/>
            <a:ext cx="1096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$15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Rectangle 50"/>
          <p:cNvSpPr/>
          <p:nvPr/>
        </p:nvSpPr>
        <p:spPr>
          <a:xfrm>
            <a:off x="7132320" y="2185560"/>
            <a:ext cx="478188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" name="TextBox 51"/>
          <p:cNvSpPr/>
          <p:nvPr/>
        </p:nvSpPr>
        <p:spPr>
          <a:xfrm>
            <a:off x="7178040" y="2221920"/>
            <a:ext cx="4690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Balanced speed/quality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Rectangle 52"/>
          <p:cNvSpPr/>
          <p:nvPr/>
        </p:nvSpPr>
        <p:spPr>
          <a:xfrm>
            <a:off x="274320" y="2532960"/>
            <a:ext cx="155412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TextBox 53"/>
          <p:cNvSpPr/>
          <p:nvPr/>
        </p:nvSpPr>
        <p:spPr>
          <a:xfrm>
            <a:off x="320040" y="2569320"/>
            <a:ext cx="1462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Haiku 4.5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Rectangle 54"/>
          <p:cNvSpPr/>
          <p:nvPr/>
        </p:nvSpPr>
        <p:spPr>
          <a:xfrm>
            <a:off x="1828800" y="2532960"/>
            <a:ext cx="21027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TextBox 55"/>
          <p:cNvSpPr/>
          <p:nvPr/>
        </p:nvSpPr>
        <p:spPr>
          <a:xfrm>
            <a:off x="1874520" y="2569320"/>
            <a:ext cx="2011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claude-haiku-4-5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ectangle 56"/>
          <p:cNvSpPr/>
          <p:nvPr/>
        </p:nvSpPr>
        <p:spPr>
          <a:xfrm>
            <a:off x="3931920" y="2532960"/>
            <a:ext cx="100548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TextBox 57"/>
          <p:cNvSpPr/>
          <p:nvPr/>
        </p:nvSpPr>
        <p:spPr>
          <a:xfrm>
            <a:off x="3977640" y="2569320"/>
            <a:ext cx="914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200K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ectangle 58"/>
          <p:cNvSpPr/>
          <p:nvPr/>
        </p:nvSpPr>
        <p:spPr>
          <a:xfrm>
            <a:off x="4937760" y="2532960"/>
            <a:ext cx="100548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" name="TextBox 59"/>
          <p:cNvSpPr/>
          <p:nvPr/>
        </p:nvSpPr>
        <p:spPr>
          <a:xfrm>
            <a:off x="4983480" y="2569320"/>
            <a:ext cx="914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Rectangle 60"/>
          <p:cNvSpPr/>
          <p:nvPr/>
        </p:nvSpPr>
        <p:spPr>
          <a:xfrm>
            <a:off x="5943600" y="2532960"/>
            <a:ext cx="11883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TextBox 61"/>
          <p:cNvSpPr/>
          <p:nvPr/>
        </p:nvSpPr>
        <p:spPr>
          <a:xfrm>
            <a:off x="5989320" y="2569320"/>
            <a:ext cx="1096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Rectangle 62"/>
          <p:cNvSpPr/>
          <p:nvPr/>
        </p:nvSpPr>
        <p:spPr>
          <a:xfrm>
            <a:off x="7132320" y="2532960"/>
            <a:ext cx="478188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TextBox 63"/>
          <p:cNvSpPr/>
          <p:nvPr/>
        </p:nvSpPr>
        <p:spPr>
          <a:xfrm>
            <a:off x="7178040" y="2569320"/>
            <a:ext cx="4690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High-throughput classification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Box 64"/>
          <p:cNvSpPr/>
          <p:nvPr/>
        </p:nvSpPr>
        <p:spPr>
          <a:xfrm>
            <a:off x="274320" y="4572000"/>
            <a:ext cx="11612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5ac87a"/>
                </a:solidFill>
                <a:latin typeface="Calibri"/>
              </a:rPr>
              <a:t>★  </a:t>
            </a:r>
            <a:r>
              <a:rPr b="0" i="1" lang="en-US" sz="1300" spc="-1" strike="noStrike">
                <a:solidFill>
                  <a:srgbClr val="5ac87a"/>
                </a:solidFill>
                <a:latin typeface="Calibri"/>
              </a:rPr>
              <a:t>Default model — start here. Switch to Haiku only for bulk classification (FAERS batch coding).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Box 65"/>
          <p:cNvSpPr/>
          <p:nvPr/>
        </p:nvSpPr>
        <p:spPr>
          <a:xfrm>
            <a:off x="274320" y="5120640"/>
            <a:ext cx="11612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Cost tip: Haiku is 5× cheaper than Opus. For FAERS quarterly updates (100K+ reports), use Haiku + Batch API for 10× cost reduction.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1.1  The Simplest Request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Box 4"/>
          <p:cNvSpPr/>
          <p:nvPr/>
        </p:nvSpPr>
        <p:spPr>
          <a:xfrm>
            <a:off x="274320" y="1097280"/>
            <a:ext cx="530316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Three required fields: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model      — which Claude model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max_tokens — output ceiling (not target)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messages   — list of {role, content} dicts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Rectangle 5"/>
          <p:cNvSpPr/>
          <p:nvPr/>
        </p:nvSpPr>
        <p:spPr>
          <a:xfrm>
            <a:off x="274320" y="2286000"/>
            <a:ext cx="11612520" cy="292572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" name="TextBox 6"/>
          <p:cNvSpPr/>
          <p:nvPr/>
        </p:nvSpPr>
        <p:spPr>
          <a:xfrm>
            <a:off x="1994040" y="2395800"/>
            <a:ext cx="8173080" cy="260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import anthropic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client = anthropic.Anthropic()   # reads ANTHROPIC_API_KEY from env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response = client.messages.create(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model="claude-opus-4-8",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max_tokens=512,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messages=[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{"role": "user", "content": "What is pharmacovigilance? Give a 2-sentence definition."}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print(response.content[0].text)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print(f"Input: {response.usage.input_tokens} tokens")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print(f"Output: {response.usage.output_tokens} tokens")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Box 7"/>
          <p:cNvSpPr/>
          <p:nvPr/>
        </p:nvSpPr>
        <p:spPr>
          <a:xfrm>
            <a:off x="274320" y="5349240"/>
            <a:ext cx="116125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5ac87a"/>
                </a:solidFill>
                <a:latin typeface="Calibri"/>
              </a:rPr>
              <a:t>Output: Pharmacovigilance is the science of detecting, assessing, and preventing adverse effects of medicines. It encompasses signal detection, risk management, and regulatory reporting.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1.2  System Prompts — Setting Persona &amp; Context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Box 4"/>
          <p:cNvSpPr/>
          <p:nvPr/>
        </p:nvSpPr>
        <p:spPr>
          <a:xfrm>
            <a:off x="274320" y="1097280"/>
            <a:ext cx="4114440" cy="14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The system parameter: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Defines role and expertise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Specifies output format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Sets domain constraints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Establishes vocabulary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Persists across the entire conversation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Rectangle 5"/>
          <p:cNvSpPr/>
          <p:nvPr/>
        </p:nvSpPr>
        <p:spPr>
          <a:xfrm>
            <a:off x="4480560" y="1097280"/>
            <a:ext cx="7497720" cy="502884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TextBox 6"/>
          <p:cNvSpPr/>
          <p:nvPr/>
        </p:nvSpPr>
        <p:spPr>
          <a:xfrm>
            <a:off x="5633280" y="1207080"/>
            <a:ext cx="5191920" cy="31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PHARMA_SYSTEM = """You are an expert pharmacovigilance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scientist with deep knowledge of: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FDA FAERS (Adverse Event Reporting System)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MedDRA terminology (SOC/HLGT/HLT/PT hierarchy)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Drug safety signal detection (PRR, ROR, BCPNN)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ICH E2B guidelines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Always use MedDRA Preferred Terms (PT).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Be concise. Use medical terminology."""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response = client.messages.create(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model="claude-opus-4-8",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max_tokens=512,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system=PHARMA_SYSTEM,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messages=[{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"role": "user",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"content": "What are the cardiac ADRs of azithromycin?"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1.3  Multi-Turn Conversations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Box 4"/>
          <p:cNvSpPr/>
          <p:nvPr/>
        </p:nvSpPr>
        <p:spPr>
          <a:xfrm>
            <a:off x="274320" y="1097280"/>
            <a:ext cx="11612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Claude's API is stateless — you send the full conversation history on every request.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Rectangle 5"/>
          <p:cNvSpPr/>
          <p:nvPr/>
        </p:nvSpPr>
        <p:spPr>
          <a:xfrm>
            <a:off x="365760" y="1554480"/>
            <a:ext cx="3291480" cy="182844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TextBox 6"/>
          <p:cNvSpPr/>
          <p:nvPr/>
        </p:nvSpPr>
        <p:spPr>
          <a:xfrm>
            <a:off x="457200" y="1600200"/>
            <a:ext cx="3108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4a9ed6"/>
                </a:solidFill>
                <a:latin typeface="Calibri"/>
              </a:rPr>
              <a:t>Turn 1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Box 7"/>
          <p:cNvSpPr/>
          <p:nvPr/>
        </p:nvSpPr>
        <p:spPr>
          <a:xfrm>
            <a:off x="502920" y="2011680"/>
            <a:ext cx="3017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[user: msg1]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8"/>
          <p:cNvSpPr/>
          <p:nvPr/>
        </p:nvSpPr>
        <p:spPr>
          <a:xfrm>
            <a:off x="502920" y="2395800"/>
            <a:ext cx="3017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→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Box 9"/>
          <p:cNvSpPr/>
          <p:nvPr/>
        </p:nvSpPr>
        <p:spPr>
          <a:xfrm>
            <a:off x="502920" y="2779920"/>
            <a:ext cx="3017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reply1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Rectangle 10"/>
          <p:cNvSpPr/>
          <p:nvPr/>
        </p:nvSpPr>
        <p:spPr>
          <a:xfrm>
            <a:off x="4114800" y="1554480"/>
            <a:ext cx="3291480" cy="182844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" name="TextBox 11"/>
          <p:cNvSpPr/>
          <p:nvPr/>
        </p:nvSpPr>
        <p:spPr>
          <a:xfrm>
            <a:off x="4206240" y="1600200"/>
            <a:ext cx="3108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4a9ed6"/>
                </a:solidFill>
                <a:latin typeface="Calibri"/>
              </a:rPr>
              <a:t>Turn 2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Box 12"/>
          <p:cNvSpPr/>
          <p:nvPr/>
        </p:nvSpPr>
        <p:spPr>
          <a:xfrm>
            <a:off x="4251960" y="2011680"/>
            <a:ext cx="3017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[msg1, reply1,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Box 13"/>
          <p:cNvSpPr/>
          <p:nvPr/>
        </p:nvSpPr>
        <p:spPr>
          <a:xfrm>
            <a:off x="4251960" y="2395800"/>
            <a:ext cx="3017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user: msg2]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Box 14"/>
          <p:cNvSpPr/>
          <p:nvPr/>
        </p:nvSpPr>
        <p:spPr>
          <a:xfrm>
            <a:off x="4251960" y="2779920"/>
            <a:ext cx="3017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→ </a:t>
            </a: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reply2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ectangle 15"/>
          <p:cNvSpPr/>
          <p:nvPr/>
        </p:nvSpPr>
        <p:spPr>
          <a:xfrm>
            <a:off x="7863840" y="1554480"/>
            <a:ext cx="3291480" cy="182844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TextBox 16"/>
          <p:cNvSpPr/>
          <p:nvPr/>
        </p:nvSpPr>
        <p:spPr>
          <a:xfrm>
            <a:off x="7955280" y="1600200"/>
            <a:ext cx="3108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4a9ed6"/>
                </a:solidFill>
                <a:latin typeface="Calibri"/>
              </a:rPr>
              <a:t>Turn 3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Box 17"/>
          <p:cNvSpPr/>
          <p:nvPr/>
        </p:nvSpPr>
        <p:spPr>
          <a:xfrm>
            <a:off x="8001000" y="2011680"/>
            <a:ext cx="3017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[msg1..msg2,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18"/>
          <p:cNvSpPr/>
          <p:nvPr/>
        </p:nvSpPr>
        <p:spPr>
          <a:xfrm>
            <a:off x="8001000" y="2395800"/>
            <a:ext cx="3017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reply2, msg3]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19"/>
          <p:cNvSpPr/>
          <p:nvPr/>
        </p:nvSpPr>
        <p:spPr>
          <a:xfrm>
            <a:off x="8001000" y="2779920"/>
            <a:ext cx="3017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→ </a:t>
            </a: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reply3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Rectangle 20"/>
          <p:cNvSpPr/>
          <p:nvPr/>
        </p:nvSpPr>
        <p:spPr>
          <a:xfrm>
            <a:off x="274320" y="3520440"/>
            <a:ext cx="11612520" cy="260568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TextBox 21"/>
          <p:cNvSpPr/>
          <p:nvPr/>
        </p:nvSpPr>
        <p:spPr>
          <a:xfrm>
            <a:off x="2808000" y="3630240"/>
            <a:ext cx="6545160" cy="184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def chat(history, user_message, system=None, model="claude-opus-4-8"):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history = history + [{"role": "user", "content": user_message}]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response = client.messages.create(model=model, max_tokens=512,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                     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messages=history, system=system)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reply = response.content[0].text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return reply, history + [{"role": "assistant", "content": reply}]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history = []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reply, history = chat(history, "Which MedDRA SOC covers cardiovascular events?")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reply, history = chat(history, "List 5 important PT codes within that SOC.")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reply, history = chat(history, "Which are most reported for statins in FAERS?")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Box 22"/>
          <p:cNvSpPr/>
          <p:nvPr/>
        </p:nvSpPr>
        <p:spPr>
          <a:xfrm>
            <a:off x="274320" y="6236280"/>
            <a:ext cx="11612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5ac87a"/>
                </a:solidFill>
                <a:latin typeface="Calibri"/>
              </a:rPr>
              <a:t>Cost tip: Each turn re-sends the entire history. Use prompt caching on the system prompt to save up to 90%.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1.4  Adaptive Thinking — Extended Reasoning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Rectangle 4"/>
          <p:cNvSpPr/>
          <p:nvPr/>
        </p:nvSpPr>
        <p:spPr>
          <a:xfrm>
            <a:off x="274320" y="1188720"/>
            <a:ext cx="127980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TextBox 5"/>
          <p:cNvSpPr/>
          <p:nvPr/>
        </p:nvSpPr>
        <p:spPr>
          <a:xfrm>
            <a:off x="320040" y="1234440"/>
            <a:ext cx="1188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Effort Level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Rectangle 6"/>
          <p:cNvSpPr/>
          <p:nvPr/>
        </p:nvSpPr>
        <p:spPr>
          <a:xfrm>
            <a:off x="1554480" y="1188720"/>
            <a:ext cx="365724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TextBox 7"/>
          <p:cNvSpPr/>
          <p:nvPr/>
        </p:nvSpPr>
        <p:spPr>
          <a:xfrm>
            <a:off x="1600200" y="123444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Use Case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ectangle 8"/>
          <p:cNvSpPr/>
          <p:nvPr/>
        </p:nvSpPr>
        <p:spPr>
          <a:xfrm>
            <a:off x="5212080" y="1188720"/>
            <a:ext cx="146268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" name="TextBox 9"/>
          <p:cNvSpPr/>
          <p:nvPr/>
        </p:nvSpPr>
        <p:spPr>
          <a:xfrm>
            <a:off x="5257800" y="1234440"/>
            <a:ext cx="13712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Cost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ectangle 10"/>
          <p:cNvSpPr/>
          <p:nvPr/>
        </p:nvSpPr>
        <p:spPr>
          <a:xfrm>
            <a:off x="274320" y="1536120"/>
            <a:ext cx="127980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TextBox 11"/>
          <p:cNvSpPr/>
          <p:nvPr/>
        </p:nvSpPr>
        <p:spPr>
          <a:xfrm>
            <a:off x="320040" y="1572840"/>
            <a:ext cx="1188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Rectangle 12"/>
          <p:cNvSpPr/>
          <p:nvPr/>
        </p:nvSpPr>
        <p:spPr>
          <a:xfrm>
            <a:off x="1554480" y="1536120"/>
            <a:ext cx="36572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TextBox 13"/>
          <p:cNvSpPr/>
          <p:nvPr/>
        </p:nvSpPr>
        <p:spPr>
          <a:xfrm>
            <a:off x="1600200" y="1572840"/>
            <a:ext cx="3565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Fast classification, simple extraction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Rectangle 14"/>
          <p:cNvSpPr/>
          <p:nvPr/>
        </p:nvSpPr>
        <p:spPr>
          <a:xfrm>
            <a:off x="5212080" y="1536120"/>
            <a:ext cx="146268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" name="TextBox 15"/>
          <p:cNvSpPr/>
          <p:nvPr/>
        </p:nvSpPr>
        <p:spPr>
          <a:xfrm>
            <a:off x="5257800" y="1572840"/>
            <a:ext cx="1371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Rectangle 16"/>
          <p:cNvSpPr/>
          <p:nvPr/>
        </p:nvSpPr>
        <p:spPr>
          <a:xfrm>
            <a:off x="274320" y="1883520"/>
            <a:ext cx="127980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TextBox 17"/>
          <p:cNvSpPr/>
          <p:nvPr/>
        </p:nvSpPr>
        <p:spPr>
          <a:xfrm>
            <a:off x="320040" y="1920240"/>
            <a:ext cx="1188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medium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Rectangle 18"/>
          <p:cNvSpPr/>
          <p:nvPr/>
        </p:nvSpPr>
        <p:spPr>
          <a:xfrm>
            <a:off x="1554480" y="1883520"/>
            <a:ext cx="36572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TextBox 19"/>
          <p:cNvSpPr/>
          <p:nvPr/>
        </p:nvSpPr>
        <p:spPr>
          <a:xfrm>
            <a:off x="1600200" y="1920240"/>
            <a:ext cx="3565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General reasoning (default)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Rectangle 20"/>
          <p:cNvSpPr/>
          <p:nvPr/>
        </p:nvSpPr>
        <p:spPr>
          <a:xfrm>
            <a:off x="5212080" y="1883520"/>
            <a:ext cx="146268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TextBox 21"/>
          <p:cNvSpPr/>
          <p:nvPr/>
        </p:nvSpPr>
        <p:spPr>
          <a:xfrm>
            <a:off x="5257800" y="1920240"/>
            <a:ext cx="1371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~~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Rectangle 22"/>
          <p:cNvSpPr/>
          <p:nvPr/>
        </p:nvSpPr>
        <p:spPr>
          <a:xfrm>
            <a:off x="274320" y="2231280"/>
            <a:ext cx="127980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320040" y="2267640"/>
            <a:ext cx="1188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high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Rectangle 24"/>
          <p:cNvSpPr/>
          <p:nvPr/>
        </p:nvSpPr>
        <p:spPr>
          <a:xfrm>
            <a:off x="1554480" y="2231280"/>
            <a:ext cx="36572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TextBox 25"/>
          <p:cNvSpPr/>
          <p:nvPr/>
        </p:nvSpPr>
        <p:spPr>
          <a:xfrm>
            <a:off x="1600200" y="2267640"/>
            <a:ext cx="3565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Complex drug interactions, multi-hop ADR reasoning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Rectangle 26"/>
          <p:cNvSpPr/>
          <p:nvPr/>
        </p:nvSpPr>
        <p:spPr>
          <a:xfrm>
            <a:off x="5212080" y="2231280"/>
            <a:ext cx="146268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TextBox 27"/>
          <p:cNvSpPr/>
          <p:nvPr/>
        </p:nvSpPr>
        <p:spPr>
          <a:xfrm>
            <a:off x="5257800" y="2267640"/>
            <a:ext cx="1371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~~~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Rectangle 28"/>
          <p:cNvSpPr/>
          <p:nvPr/>
        </p:nvSpPr>
        <p:spPr>
          <a:xfrm>
            <a:off x="274320" y="2578680"/>
            <a:ext cx="127980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" name="TextBox 29"/>
          <p:cNvSpPr/>
          <p:nvPr/>
        </p:nvSpPr>
        <p:spPr>
          <a:xfrm>
            <a:off x="320040" y="2615040"/>
            <a:ext cx="1188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xhigh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Rectangle 30"/>
          <p:cNvSpPr/>
          <p:nvPr/>
        </p:nvSpPr>
        <p:spPr>
          <a:xfrm>
            <a:off x="1554480" y="2578680"/>
            <a:ext cx="36572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" name="TextBox 31"/>
          <p:cNvSpPr/>
          <p:nvPr/>
        </p:nvSpPr>
        <p:spPr>
          <a:xfrm>
            <a:off x="1600200" y="2615040"/>
            <a:ext cx="3565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Novel research synthesis, evidence appraisal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Rectangle 32"/>
          <p:cNvSpPr/>
          <p:nvPr/>
        </p:nvSpPr>
        <p:spPr>
          <a:xfrm>
            <a:off x="5212080" y="2578680"/>
            <a:ext cx="146268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" name="TextBox 33"/>
          <p:cNvSpPr/>
          <p:nvPr/>
        </p:nvSpPr>
        <p:spPr>
          <a:xfrm>
            <a:off x="5257800" y="2615040"/>
            <a:ext cx="1371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~~~~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ectangle 34"/>
          <p:cNvSpPr/>
          <p:nvPr/>
        </p:nvSpPr>
        <p:spPr>
          <a:xfrm>
            <a:off x="274320" y="2926080"/>
            <a:ext cx="127980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TextBox 35"/>
          <p:cNvSpPr/>
          <p:nvPr/>
        </p:nvSpPr>
        <p:spPr>
          <a:xfrm>
            <a:off x="320040" y="2962800"/>
            <a:ext cx="1188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max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Rectangle 36"/>
          <p:cNvSpPr/>
          <p:nvPr/>
        </p:nvSpPr>
        <p:spPr>
          <a:xfrm>
            <a:off x="1554480" y="2926080"/>
            <a:ext cx="36572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" name="TextBox 37"/>
          <p:cNvSpPr/>
          <p:nvPr/>
        </p:nvSpPr>
        <p:spPr>
          <a:xfrm>
            <a:off x="1600200" y="2962800"/>
            <a:ext cx="3565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Hardest questions — max reasoning depth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Rectangle 38"/>
          <p:cNvSpPr/>
          <p:nvPr/>
        </p:nvSpPr>
        <p:spPr>
          <a:xfrm>
            <a:off x="5212080" y="2926080"/>
            <a:ext cx="146268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TextBox 39"/>
          <p:cNvSpPr/>
          <p:nvPr/>
        </p:nvSpPr>
        <p:spPr>
          <a:xfrm>
            <a:off x="5257800" y="2962800"/>
            <a:ext cx="1371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~~~~~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Rectangle 40"/>
          <p:cNvSpPr/>
          <p:nvPr/>
        </p:nvSpPr>
        <p:spPr>
          <a:xfrm>
            <a:off x="6858000" y="1188720"/>
            <a:ext cx="5120280" cy="438876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" name="TextBox 41"/>
          <p:cNvSpPr/>
          <p:nvPr/>
        </p:nvSpPr>
        <p:spPr>
          <a:xfrm>
            <a:off x="7923960" y="1298520"/>
            <a:ext cx="2988000" cy="29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response = client.messages.create(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model="claude-opus-4-8",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max_tokens=8000,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thinking={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"type": "adaptive",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"display": "summarized"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},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output_config={"effort": "high"},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messages=[{"role": "user",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"content": question}]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for block in response.content: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if block.type == "thinking":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print("[REASONING]")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print(block.thinking)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elif block.type == "text":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print("[ANSWER]")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print(block.text)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Box 42"/>
          <p:cNvSpPr/>
          <p:nvPr/>
        </p:nvSpPr>
        <p:spPr>
          <a:xfrm>
            <a:off x="274320" y="4663440"/>
            <a:ext cx="6309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Healthcare use case: Multi-drug polypharmacy interaction reasoning — e.g. atorvastatin + clarithromycin + renal failure → rhabdomyolysis risk pathway.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Box 43"/>
          <p:cNvSpPr/>
          <p:nvPr/>
        </p:nvSpPr>
        <p:spPr>
          <a:xfrm>
            <a:off x="274320" y="5715000"/>
            <a:ext cx="116125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9999aa"/>
                </a:solidFill>
                <a:latin typeface="Calibri"/>
              </a:rPr>
              <a:t>Note: Thinking blocks must be passed back unchanged in subsequent conversation turns.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1.5  Tool Use — Call Your Functions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ectangle 4"/>
          <p:cNvSpPr/>
          <p:nvPr/>
        </p:nvSpPr>
        <p:spPr>
          <a:xfrm>
            <a:off x="274320" y="1143000"/>
            <a:ext cx="2011320" cy="5025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TextBox 5"/>
          <p:cNvSpPr/>
          <p:nvPr/>
        </p:nvSpPr>
        <p:spPr>
          <a:xfrm>
            <a:off x="320040" y="1197720"/>
            <a:ext cx="1919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User Query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6"/>
          <p:cNvSpPr/>
          <p:nvPr/>
        </p:nvSpPr>
        <p:spPr>
          <a:xfrm>
            <a:off x="2286000" y="1261800"/>
            <a:ext cx="273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999aa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Rectangle 7"/>
          <p:cNvSpPr/>
          <p:nvPr/>
        </p:nvSpPr>
        <p:spPr>
          <a:xfrm>
            <a:off x="2560320" y="1143000"/>
            <a:ext cx="2011320" cy="5025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0" name="TextBox 8"/>
          <p:cNvSpPr/>
          <p:nvPr/>
        </p:nvSpPr>
        <p:spPr>
          <a:xfrm>
            <a:off x="2606040" y="1197720"/>
            <a:ext cx="1919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Claude → tool_use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Box 9"/>
          <p:cNvSpPr/>
          <p:nvPr/>
        </p:nvSpPr>
        <p:spPr>
          <a:xfrm>
            <a:off x="4572000" y="1261800"/>
            <a:ext cx="273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999aa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Rectangle 10"/>
          <p:cNvSpPr/>
          <p:nvPr/>
        </p:nvSpPr>
        <p:spPr>
          <a:xfrm>
            <a:off x="4846320" y="1143000"/>
            <a:ext cx="2011320" cy="50256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" name="TextBox 11"/>
          <p:cNvSpPr/>
          <p:nvPr/>
        </p:nvSpPr>
        <p:spPr>
          <a:xfrm>
            <a:off x="4892040" y="1197720"/>
            <a:ext cx="1919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Your Code Runs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Box 12"/>
          <p:cNvSpPr/>
          <p:nvPr/>
        </p:nvSpPr>
        <p:spPr>
          <a:xfrm>
            <a:off x="6858000" y="1261800"/>
            <a:ext cx="273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999aa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Rectangle 13"/>
          <p:cNvSpPr/>
          <p:nvPr/>
        </p:nvSpPr>
        <p:spPr>
          <a:xfrm>
            <a:off x="7132320" y="1143000"/>
            <a:ext cx="2011320" cy="50256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" name="TextBox 14"/>
          <p:cNvSpPr/>
          <p:nvPr/>
        </p:nvSpPr>
        <p:spPr>
          <a:xfrm>
            <a:off x="7178040" y="1197720"/>
            <a:ext cx="1919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tool_result →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Box 15"/>
          <p:cNvSpPr/>
          <p:nvPr/>
        </p:nvSpPr>
        <p:spPr>
          <a:xfrm>
            <a:off x="9144000" y="1261800"/>
            <a:ext cx="273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999aa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Rectangle 16"/>
          <p:cNvSpPr/>
          <p:nvPr/>
        </p:nvSpPr>
        <p:spPr>
          <a:xfrm>
            <a:off x="9418320" y="1143000"/>
            <a:ext cx="2011320" cy="5025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" name="TextBox 17"/>
          <p:cNvSpPr/>
          <p:nvPr/>
        </p:nvSpPr>
        <p:spPr>
          <a:xfrm>
            <a:off x="9464040" y="1197720"/>
            <a:ext cx="1919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Claude Answers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Rectangle 18"/>
          <p:cNvSpPr/>
          <p:nvPr/>
        </p:nvSpPr>
        <p:spPr>
          <a:xfrm>
            <a:off x="274320" y="1828800"/>
            <a:ext cx="11612520" cy="420588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1" name="TextBox 19"/>
          <p:cNvSpPr/>
          <p:nvPr/>
        </p:nvSpPr>
        <p:spPr>
          <a:xfrm>
            <a:off x="2878560" y="1938600"/>
            <a:ext cx="6403680" cy="39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TOOLS = [{"name": "lookup_faers_reports",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"description": "Query FAERS for drug-event report counts.",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"input_schema":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"type": "object",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"properties":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"drug_name":     {"type": "string"},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"adverse_event": {"type": "string", "description": "MedDRA PT"}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},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"required": ["drug_name", "adverse_event"]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}}]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# Tool use loop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while True: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response = client.messages.create(model="claude-opus-4-8", max_tokens=1024,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         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tools=TOOLS, messages=messages)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messages.append({"role": "assistant", "content": response.content})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if response.stop_reason == "end_turn":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break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if response.stop_reason == "tool_use":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for block in response.content: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if block.type == "tool_use":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result = lookup_faers_reports(**block.input)   # ← your function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messages.append({"role": "user", "content": [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{"type": "tool_result", "tool_use_id": block.id,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"content": json.dumps(result)}]})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Box 20"/>
          <p:cNvSpPr/>
          <p:nvPr/>
        </p:nvSpPr>
        <p:spPr>
          <a:xfrm>
            <a:off x="274320" y="6172200"/>
            <a:ext cx="11612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5ac87a"/>
                </a:solidFill>
                <a:latin typeface="Calibri"/>
              </a:rPr>
              <a:t>Server-side tools (no code needed): web_search · code_execution · computer_use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5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1.6  Structured Outputs — Validated JSON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4"/>
          <p:cNvSpPr/>
          <p:nvPr/>
        </p:nvSpPr>
        <p:spPr>
          <a:xfrm>
            <a:off x="274320" y="1097280"/>
            <a:ext cx="48459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Force Claude to return schema-conforming JSON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Extract ADR entities from clinical narratives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Build downstream data pipelines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Classification with confidence scores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No more regex hacks on JSON output!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Rectangle 5"/>
          <p:cNvSpPr/>
          <p:nvPr/>
        </p:nvSpPr>
        <p:spPr>
          <a:xfrm>
            <a:off x="5212080" y="1097280"/>
            <a:ext cx="6766200" cy="530316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" name="TextBox 6"/>
          <p:cNvSpPr/>
          <p:nvPr/>
        </p:nvSpPr>
        <p:spPr>
          <a:xfrm>
            <a:off x="5760000" y="1207080"/>
            <a:ext cx="5670360" cy="544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ADR_SCHEMA =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"type": "object",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"properties":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"suspect_drugs":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"type": "array",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"items": {"type": "object",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"properties":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"name": {"type": "string"},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"dose": {"type": ["string","null"]}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}}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},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"adverse_events":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"type": "array",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"items": {"type": "object",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"properties":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"meddra_pt":  {"type": "string"},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"meddra_soc": {"type": "string"},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"severity":   {"type": "string",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"enum": ["mild","moderate","severe","life-threatening"]}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}}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},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"causal_assessment":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"type": "string",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"enum": ["certain","probable","possible","unlikely"]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response = client.messages.create(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model="claude-opus-4-8", max_tokens=1024,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messages=[{"role": "user", "content": clinical_text}],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output_config={"format":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"type": "json_schema",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"json_schema": {"name": "adr_report", "schema": ADR_SCHEMA}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}}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data = json.loads(response.content[0].text)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Box 7"/>
          <p:cNvSpPr/>
          <p:nvPr/>
        </p:nvSpPr>
        <p:spPr>
          <a:xfrm>
            <a:off x="274320" y="3200400"/>
            <a:ext cx="4754520" cy="11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Example output: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  </a:t>
            </a: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"suspect_drugs": [{"name": "atorvastatin"}],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  </a:t>
            </a: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"adverse_events": [{"meddra_pt": "Rhabdomyolysis",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   </a:t>
            </a: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"severity": "life-threatening"}],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  </a:t>
            </a: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"causal_assessment": "probable"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1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2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1.7  Prompt Caching — 90% Cost Savings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Rectangle 4"/>
          <p:cNvSpPr/>
          <p:nvPr/>
        </p:nvSpPr>
        <p:spPr>
          <a:xfrm>
            <a:off x="274320" y="1188720"/>
            <a:ext cx="320004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" name="TextBox 5"/>
          <p:cNvSpPr/>
          <p:nvPr/>
        </p:nvSpPr>
        <p:spPr>
          <a:xfrm>
            <a:off x="320040" y="1234440"/>
            <a:ext cx="3108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Request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Rectangle 6"/>
          <p:cNvSpPr/>
          <p:nvPr/>
        </p:nvSpPr>
        <p:spPr>
          <a:xfrm>
            <a:off x="3474720" y="1188720"/>
            <a:ext cx="274284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" name="TextBox 7"/>
          <p:cNvSpPr/>
          <p:nvPr/>
        </p:nvSpPr>
        <p:spPr>
          <a:xfrm>
            <a:off x="3520440" y="1234440"/>
            <a:ext cx="26514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Cost Multiplier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Rectangle 8"/>
          <p:cNvSpPr/>
          <p:nvPr/>
        </p:nvSpPr>
        <p:spPr>
          <a:xfrm>
            <a:off x="274320" y="1536120"/>
            <a:ext cx="32000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8" name="TextBox 9"/>
          <p:cNvSpPr/>
          <p:nvPr/>
        </p:nvSpPr>
        <p:spPr>
          <a:xfrm>
            <a:off x="320040" y="1572840"/>
            <a:ext cx="3108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Cache write (first use)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Rectangle 10"/>
          <p:cNvSpPr/>
          <p:nvPr/>
        </p:nvSpPr>
        <p:spPr>
          <a:xfrm>
            <a:off x="3474720" y="1536120"/>
            <a:ext cx="27428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" name="TextBox 11"/>
          <p:cNvSpPr/>
          <p:nvPr/>
        </p:nvSpPr>
        <p:spPr>
          <a:xfrm>
            <a:off x="3520440" y="1572840"/>
            <a:ext cx="2651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1.25× normal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Rectangle 12"/>
          <p:cNvSpPr/>
          <p:nvPr/>
        </p:nvSpPr>
        <p:spPr>
          <a:xfrm>
            <a:off x="274320" y="1883520"/>
            <a:ext cx="32000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" name="TextBox 13"/>
          <p:cNvSpPr/>
          <p:nvPr/>
        </p:nvSpPr>
        <p:spPr>
          <a:xfrm>
            <a:off x="320040" y="1920240"/>
            <a:ext cx="3108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Cache read (all subsequent)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Rectangle 14"/>
          <p:cNvSpPr/>
          <p:nvPr/>
        </p:nvSpPr>
        <p:spPr>
          <a:xfrm>
            <a:off x="3474720" y="1883520"/>
            <a:ext cx="27428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4" name="TextBox 15"/>
          <p:cNvSpPr/>
          <p:nvPr/>
        </p:nvSpPr>
        <p:spPr>
          <a:xfrm>
            <a:off x="3520440" y="1920240"/>
            <a:ext cx="2651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0.10× normal  ← 90% off!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Box 16"/>
          <p:cNvSpPr/>
          <p:nvPr/>
        </p:nvSpPr>
        <p:spPr>
          <a:xfrm>
            <a:off x="274320" y="2560320"/>
            <a:ext cx="5760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Example: 10,000-token drug knowledge base, queried 1,000 times: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Without caching: 10M tokens × $5/1M = $50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With caching:    1 write + 999 reads ≈ $5.50  (89% savings!)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Rectangle 17"/>
          <p:cNvSpPr/>
          <p:nvPr/>
        </p:nvSpPr>
        <p:spPr>
          <a:xfrm>
            <a:off x="6126480" y="1188720"/>
            <a:ext cx="5943240" cy="475452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" name="TextBox 18"/>
          <p:cNvSpPr/>
          <p:nvPr/>
        </p:nvSpPr>
        <p:spPr>
          <a:xfrm>
            <a:off x="6501960" y="1298520"/>
            <a:ext cx="5191920" cy="264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response = client.messages.create(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model="claude-opus-4-8",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max_tokens=512,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system=[{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"type": "text",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"text": DRUG_KNOWLEDGE_BASE,  # large static context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"cache_control": {"type": "ephemeral"}  # ← cache this!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}],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messages=[{"role": "user",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"content": user_question}]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Inspect cache usage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print(response.usage.cache_creation_input_tokens)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print(response.usage.cache_read_input_tokens)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cache_read_input_tokens &gt; 0 means you saved 90%!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Box 19"/>
          <p:cNvSpPr/>
          <p:nvPr/>
        </p:nvSpPr>
        <p:spPr>
          <a:xfrm>
            <a:off x="274320" y="3611880"/>
            <a:ext cx="566892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When to cache: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MedDRA hierarchy reference (100K tokens)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Drug interaction database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Few-shot coding examples (repeated across batches)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System prompt for multi-user chatbot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0" name="Rectangle 2"/>
          <p:cNvSpPr/>
          <p:nvPr/>
        </p:nvSpPr>
        <p:spPr>
          <a:xfrm>
            <a:off x="0" y="2743200"/>
            <a:ext cx="12188520" cy="7272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" name="TextBox 3"/>
          <p:cNvSpPr/>
          <p:nvPr/>
        </p:nvSpPr>
        <p:spPr>
          <a:xfrm>
            <a:off x="731520" y="548640"/>
            <a:ext cx="1005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ac87a"/>
                </a:solidFill>
                <a:latin typeface="Calibri"/>
              </a:rPr>
              <a:t>PART 2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4"/>
          <p:cNvSpPr/>
          <p:nvPr/>
        </p:nvSpPr>
        <p:spPr>
          <a:xfrm>
            <a:off x="731520" y="1371600"/>
            <a:ext cx="10698120" cy="14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VS Code Extension &amp;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Claude Code CLI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5"/>
          <p:cNvSpPr/>
          <p:nvPr/>
        </p:nvSpPr>
        <p:spPr>
          <a:xfrm>
            <a:off x="914400" y="3200400"/>
            <a:ext cx="103323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9999aa"/>
                </a:solidFill>
                <a:latin typeface="Calibri"/>
              </a:rPr>
              <a:t>Your AI pair-programmer that reads the entire codebase and acts on it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6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What is Claude Code?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Box 4"/>
          <p:cNvSpPr/>
          <p:nvPr/>
        </p:nvSpPr>
        <p:spPr>
          <a:xfrm>
            <a:off x="274320" y="1097280"/>
            <a:ext cx="53031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An agentic AI coding assistant that: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✦  </a:t>
            </a: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Reads your entire codebase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✦  </a:t>
            </a: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Runs shell commands &amp; tests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✦  </a:t>
            </a: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Writes and edits files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✦  </a:t>
            </a: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Iterates until the task is done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Available as CLI, VS Code extension,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JetBrains plugin, and web app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ectangle 5"/>
          <p:cNvSpPr/>
          <p:nvPr/>
        </p:nvSpPr>
        <p:spPr>
          <a:xfrm>
            <a:off x="5577840" y="1097280"/>
            <a:ext cx="6400440" cy="201132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9" name="TextBox 6"/>
          <p:cNvSpPr/>
          <p:nvPr/>
        </p:nvSpPr>
        <p:spPr>
          <a:xfrm>
            <a:off x="7004880" y="1207080"/>
            <a:ext cx="3546000" cy="15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# Install once globally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npm install -g @anthropic-ai/claude-code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# Authenticate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claude auth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# Launch in your project directory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cd ~/Barn/GQ/ADR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claude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Rectangle 7"/>
          <p:cNvSpPr/>
          <p:nvPr/>
        </p:nvSpPr>
        <p:spPr>
          <a:xfrm>
            <a:off x="274320" y="3840480"/>
            <a:ext cx="228564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" name="TextBox 8"/>
          <p:cNvSpPr/>
          <p:nvPr/>
        </p:nvSpPr>
        <p:spPr>
          <a:xfrm>
            <a:off x="320040" y="3886200"/>
            <a:ext cx="21942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Feature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Rectangle 9"/>
          <p:cNvSpPr/>
          <p:nvPr/>
        </p:nvSpPr>
        <p:spPr>
          <a:xfrm>
            <a:off x="2560320" y="3840480"/>
            <a:ext cx="365724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3" name="TextBox 10"/>
          <p:cNvSpPr/>
          <p:nvPr/>
        </p:nvSpPr>
        <p:spPr>
          <a:xfrm>
            <a:off x="2606040" y="388620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GitHub Copilot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ectangle 11"/>
          <p:cNvSpPr/>
          <p:nvPr/>
        </p:nvSpPr>
        <p:spPr>
          <a:xfrm>
            <a:off x="6217920" y="3840480"/>
            <a:ext cx="569628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" name="TextBox 12"/>
          <p:cNvSpPr/>
          <p:nvPr/>
        </p:nvSpPr>
        <p:spPr>
          <a:xfrm>
            <a:off x="6263640" y="3886200"/>
            <a:ext cx="5604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Claude Code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ectangle 13"/>
          <p:cNvSpPr/>
          <p:nvPr/>
        </p:nvSpPr>
        <p:spPr>
          <a:xfrm>
            <a:off x="274320" y="4187880"/>
            <a:ext cx="22856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" name="TextBox 14"/>
          <p:cNvSpPr/>
          <p:nvPr/>
        </p:nvSpPr>
        <p:spPr>
          <a:xfrm>
            <a:off x="320040" y="422460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Scope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ectangle 15"/>
          <p:cNvSpPr/>
          <p:nvPr/>
        </p:nvSpPr>
        <p:spPr>
          <a:xfrm>
            <a:off x="2560320" y="4187880"/>
            <a:ext cx="36572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9" name="TextBox 16"/>
          <p:cNvSpPr/>
          <p:nvPr/>
        </p:nvSpPr>
        <p:spPr>
          <a:xfrm>
            <a:off x="2606040" y="4224600"/>
            <a:ext cx="3565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Current file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ectangle 17"/>
          <p:cNvSpPr/>
          <p:nvPr/>
        </p:nvSpPr>
        <p:spPr>
          <a:xfrm>
            <a:off x="6217920" y="4187880"/>
            <a:ext cx="569628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" name="TextBox 18"/>
          <p:cNvSpPr/>
          <p:nvPr/>
        </p:nvSpPr>
        <p:spPr>
          <a:xfrm>
            <a:off x="6263640" y="4224600"/>
            <a:ext cx="5604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Entire repository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Rectangle 19"/>
          <p:cNvSpPr/>
          <p:nvPr/>
        </p:nvSpPr>
        <p:spPr>
          <a:xfrm>
            <a:off x="274320" y="4535280"/>
            <a:ext cx="22856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" name="TextBox 20"/>
          <p:cNvSpPr/>
          <p:nvPr/>
        </p:nvSpPr>
        <p:spPr>
          <a:xfrm>
            <a:off x="320040" y="457200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Tool use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Rectangle 21"/>
          <p:cNvSpPr/>
          <p:nvPr/>
        </p:nvSpPr>
        <p:spPr>
          <a:xfrm>
            <a:off x="2560320" y="4535280"/>
            <a:ext cx="36572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TextBox 22"/>
          <p:cNvSpPr/>
          <p:nvPr/>
        </p:nvSpPr>
        <p:spPr>
          <a:xfrm>
            <a:off x="2606040" y="4572000"/>
            <a:ext cx="3565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Code completion only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Rectangle 23"/>
          <p:cNvSpPr/>
          <p:nvPr/>
        </p:nvSpPr>
        <p:spPr>
          <a:xfrm>
            <a:off x="6217920" y="4535280"/>
            <a:ext cx="569628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7" name="TextBox 24"/>
          <p:cNvSpPr/>
          <p:nvPr/>
        </p:nvSpPr>
        <p:spPr>
          <a:xfrm>
            <a:off x="6263640" y="4572000"/>
            <a:ext cx="5604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Reads · writes · runs terminal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Rectangle 25"/>
          <p:cNvSpPr/>
          <p:nvPr/>
        </p:nvSpPr>
        <p:spPr>
          <a:xfrm>
            <a:off x="274320" y="4883040"/>
            <a:ext cx="22856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9" name="TextBox 26"/>
          <p:cNvSpPr/>
          <p:nvPr/>
        </p:nvSpPr>
        <p:spPr>
          <a:xfrm>
            <a:off x="320040" y="491940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Context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Rectangle 27"/>
          <p:cNvSpPr/>
          <p:nvPr/>
        </p:nvSpPr>
        <p:spPr>
          <a:xfrm>
            <a:off x="2560320" y="4883040"/>
            <a:ext cx="36572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" name="TextBox 28"/>
          <p:cNvSpPr/>
          <p:nvPr/>
        </p:nvSpPr>
        <p:spPr>
          <a:xfrm>
            <a:off x="2606040" y="4919400"/>
            <a:ext cx="3565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Line-level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ectangle 29"/>
          <p:cNvSpPr/>
          <p:nvPr/>
        </p:nvSpPr>
        <p:spPr>
          <a:xfrm>
            <a:off x="6217920" y="4883040"/>
            <a:ext cx="569628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" name="TextBox 30"/>
          <p:cNvSpPr/>
          <p:nvPr/>
        </p:nvSpPr>
        <p:spPr>
          <a:xfrm>
            <a:off x="6263640" y="4919400"/>
            <a:ext cx="5604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Project-level + CLAUDE.md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ectangle 31"/>
          <p:cNvSpPr/>
          <p:nvPr/>
        </p:nvSpPr>
        <p:spPr>
          <a:xfrm>
            <a:off x="274320" y="5230440"/>
            <a:ext cx="22856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5" name="TextBox 32"/>
          <p:cNvSpPr/>
          <p:nvPr/>
        </p:nvSpPr>
        <p:spPr>
          <a:xfrm>
            <a:off x="320040" y="526680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Interaction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Rectangle 33"/>
          <p:cNvSpPr/>
          <p:nvPr/>
        </p:nvSpPr>
        <p:spPr>
          <a:xfrm>
            <a:off x="2560320" y="5230440"/>
            <a:ext cx="36572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7" name="TextBox 34"/>
          <p:cNvSpPr/>
          <p:nvPr/>
        </p:nvSpPr>
        <p:spPr>
          <a:xfrm>
            <a:off x="2606040" y="5266800"/>
            <a:ext cx="3565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Inline completions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Rectangle 35"/>
          <p:cNvSpPr/>
          <p:nvPr/>
        </p:nvSpPr>
        <p:spPr>
          <a:xfrm>
            <a:off x="6217920" y="5230440"/>
            <a:ext cx="569628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9" name="TextBox 36"/>
          <p:cNvSpPr/>
          <p:nvPr/>
        </p:nvSpPr>
        <p:spPr>
          <a:xfrm>
            <a:off x="6263640" y="5266800"/>
            <a:ext cx="5604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Conversational agent with memory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1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2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Claude Code — Usage Patterns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Rectangle 4"/>
          <p:cNvSpPr/>
          <p:nvPr/>
        </p:nvSpPr>
        <p:spPr>
          <a:xfrm>
            <a:off x="274320" y="1097280"/>
            <a:ext cx="5668920" cy="502884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4" name="TextBox 5"/>
          <p:cNvSpPr/>
          <p:nvPr/>
        </p:nvSpPr>
        <p:spPr>
          <a:xfrm>
            <a:off x="1267920" y="1207080"/>
            <a:ext cx="3681720" cy="31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── Interactive Mode (default) ──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cd ~/Barn/GQ/ADR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claude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then type naturally in the conversation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── One-shot commands ──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claude "Explain what FAERS_Prep.ipynb does"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── With specific file context ──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claude "Find potential performance issues" \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--file ADR_inference.ipynb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── Piping ──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git diff | claude "Write a commit message"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cat adr_detection.py | claude "Find bugs"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── Print mode (no interactive) ──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claude -p "Summarize the ADR pipeline"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Box 6"/>
          <p:cNvSpPr/>
          <p:nvPr/>
        </p:nvSpPr>
        <p:spPr>
          <a:xfrm>
            <a:off x="6126480" y="1097280"/>
            <a:ext cx="5851800" cy="326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Common research workflows: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5ac87a"/>
                </a:solidFill>
                <a:latin typeface="Calibri"/>
              </a:rPr>
              <a:t>1  Explain legacy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"What does this embedding pipeline do?"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5ac87a"/>
                </a:solidFill>
                <a:latin typeface="Calibri"/>
              </a:rPr>
              <a:t>2  Debug failing cells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"Why does this LanceDB query return empty?"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5ac87a"/>
                </a:solidFill>
                <a:latin typeface="Calibri"/>
              </a:rPr>
              <a:t>3  Refactor for new APIs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"Update FAERS_Prep to use pandas 2.0"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5ac87a"/>
                </a:solidFill>
                <a:latin typeface="Calibri"/>
              </a:rPr>
              <a:t>4  Generate tests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"Write pytest tests for the RAG pipeline"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5ac87a"/>
                </a:solidFill>
                <a:latin typeface="Calibri"/>
              </a:rPr>
              <a:t>5  Write documentation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"Document the BGE-M3 fine-tuning script"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7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8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Slash Commands Reference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Rectangle 4"/>
          <p:cNvSpPr/>
          <p:nvPr/>
        </p:nvSpPr>
        <p:spPr>
          <a:xfrm>
            <a:off x="274320" y="1143000"/>
            <a:ext cx="164556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0" name="TextBox 5"/>
          <p:cNvSpPr/>
          <p:nvPr/>
        </p:nvSpPr>
        <p:spPr>
          <a:xfrm>
            <a:off x="320040" y="11887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Command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Rectangle 6"/>
          <p:cNvSpPr/>
          <p:nvPr/>
        </p:nvSpPr>
        <p:spPr>
          <a:xfrm>
            <a:off x="1920240" y="1143000"/>
            <a:ext cx="502884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2" name="TextBox 7"/>
          <p:cNvSpPr/>
          <p:nvPr/>
        </p:nvSpPr>
        <p:spPr>
          <a:xfrm>
            <a:off x="1965960" y="1188720"/>
            <a:ext cx="49374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What it does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Rectangle 8"/>
          <p:cNvSpPr/>
          <p:nvPr/>
        </p:nvSpPr>
        <p:spPr>
          <a:xfrm>
            <a:off x="6949440" y="1143000"/>
            <a:ext cx="496476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4" name="TextBox 9"/>
          <p:cNvSpPr/>
          <p:nvPr/>
        </p:nvSpPr>
        <p:spPr>
          <a:xfrm>
            <a:off x="6995160" y="1188720"/>
            <a:ext cx="4873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When to use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Rectangle 10"/>
          <p:cNvSpPr/>
          <p:nvPr/>
        </p:nvSpPr>
        <p:spPr>
          <a:xfrm>
            <a:off x="274320" y="1490400"/>
            <a:ext cx="16455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6" name="TextBox 11"/>
          <p:cNvSpPr/>
          <p:nvPr/>
        </p:nvSpPr>
        <p:spPr>
          <a:xfrm>
            <a:off x="320040" y="152712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/help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Rectangle 12"/>
          <p:cNvSpPr/>
          <p:nvPr/>
        </p:nvSpPr>
        <p:spPr>
          <a:xfrm>
            <a:off x="1920240" y="1490400"/>
            <a:ext cx="50288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8" name="TextBox 13"/>
          <p:cNvSpPr/>
          <p:nvPr/>
        </p:nvSpPr>
        <p:spPr>
          <a:xfrm>
            <a:off x="1965960" y="1527120"/>
            <a:ext cx="493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Show all available commands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Rectangle 14"/>
          <p:cNvSpPr/>
          <p:nvPr/>
        </p:nvSpPr>
        <p:spPr>
          <a:xfrm>
            <a:off x="6949440" y="1490400"/>
            <a:ext cx="49647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0" name="TextBox 15"/>
          <p:cNvSpPr/>
          <p:nvPr/>
        </p:nvSpPr>
        <p:spPr>
          <a:xfrm>
            <a:off x="6995160" y="1527120"/>
            <a:ext cx="487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First session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Rectangle 16"/>
          <p:cNvSpPr/>
          <p:nvPr/>
        </p:nvSpPr>
        <p:spPr>
          <a:xfrm>
            <a:off x="274320" y="1837800"/>
            <a:ext cx="16455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" name="TextBox 17"/>
          <p:cNvSpPr/>
          <p:nvPr/>
        </p:nvSpPr>
        <p:spPr>
          <a:xfrm>
            <a:off x="320040" y="187452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/clear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Rectangle 18"/>
          <p:cNvSpPr/>
          <p:nvPr/>
        </p:nvSpPr>
        <p:spPr>
          <a:xfrm>
            <a:off x="1920240" y="1837800"/>
            <a:ext cx="50288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4" name="TextBox 19"/>
          <p:cNvSpPr/>
          <p:nvPr/>
        </p:nvSpPr>
        <p:spPr>
          <a:xfrm>
            <a:off x="1965960" y="1874520"/>
            <a:ext cx="493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Reset conversation context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Rectangle 20"/>
          <p:cNvSpPr/>
          <p:nvPr/>
        </p:nvSpPr>
        <p:spPr>
          <a:xfrm>
            <a:off x="6949440" y="1837800"/>
            <a:ext cx="49647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" name="TextBox 21"/>
          <p:cNvSpPr/>
          <p:nvPr/>
        </p:nvSpPr>
        <p:spPr>
          <a:xfrm>
            <a:off x="6995160" y="1874520"/>
            <a:ext cx="487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Start a new task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Rectangle 22"/>
          <p:cNvSpPr/>
          <p:nvPr/>
        </p:nvSpPr>
        <p:spPr>
          <a:xfrm>
            <a:off x="274320" y="2185560"/>
            <a:ext cx="16455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8" name="TextBox 23"/>
          <p:cNvSpPr/>
          <p:nvPr/>
        </p:nvSpPr>
        <p:spPr>
          <a:xfrm>
            <a:off x="320040" y="222192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/compact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Rectangle 24"/>
          <p:cNvSpPr/>
          <p:nvPr/>
        </p:nvSpPr>
        <p:spPr>
          <a:xfrm>
            <a:off x="1920240" y="2185560"/>
            <a:ext cx="50288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0" name="TextBox 25"/>
          <p:cNvSpPr/>
          <p:nvPr/>
        </p:nvSpPr>
        <p:spPr>
          <a:xfrm>
            <a:off x="1965960" y="2221920"/>
            <a:ext cx="493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Summarize &amp; compress conversation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Rectangle 26"/>
          <p:cNvSpPr/>
          <p:nvPr/>
        </p:nvSpPr>
        <p:spPr>
          <a:xfrm>
            <a:off x="6949440" y="2185560"/>
            <a:ext cx="49647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2" name="TextBox 27"/>
          <p:cNvSpPr/>
          <p:nvPr/>
        </p:nvSpPr>
        <p:spPr>
          <a:xfrm>
            <a:off x="6995160" y="2221920"/>
            <a:ext cx="487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Long research sessions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ectangle 28"/>
          <p:cNvSpPr/>
          <p:nvPr/>
        </p:nvSpPr>
        <p:spPr>
          <a:xfrm>
            <a:off x="274320" y="2532960"/>
            <a:ext cx="16455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4" name="TextBox 29"/>
          <p:cNvSpPr/>
          <p:nvPr/>
        </p:nvSpPr>
        <p:spPr>
          <a:xfrm>
            <a:off x="320040" y="256932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/cost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ectangle 30"/>
          <p:cNvSpPr/>
          <p:nvPr/>
        </p:nvSpPr>
        <p:spPr>
          <a:xfrm>
            <a:off x="1920240" y="2532960"/>
            <a:ext cx="50288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6" name="TextBox 31"/>
          <p:cNvSpPr/>
          <p:nvPr/>
        </p:nvSpPr>
        <p:spPr>
          <a:xfrm>
            <a:off x="1965960" y="2569320"/>
            <a:ext cx="493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Show token usage and cost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Rectangle 32"/>
          <p:cNvSpPr/>
          <p:nvPr/>
        </p:nvSpPr>
        <p:spPr>
          <a:xfrm>
            <a:off x="6949440" y="2532960"/>
            <a:ext cx="49647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8" name="TextBox 33"/>
          <p:cNvSpPr/>
          <p:nvPr/>
        </p:nvSpPr>
        <p:spPr>
          <a:xfrm>
            <a:off x="6995160" y="2569320"/>
            <a:ext cx="487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Monitor spending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Rectangle 34"/>
          <p:cNvSpPr/>
          <p:nvPr/>
        </p:nvSpPr>
        <p:spPr>
          <a:xfrm>
            <a:off x="274320" y="2880360"/>
            <a:ext cx="16455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0" name="TextBox 35"/>
          <p:cNvSpPr/>
          <p:nvPr/>
        </p:nvSpPr>
        <p:spPr>
          <a:xfrm>
            <a:off x="320040" y="291708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/model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Rectangle 36"/>
          <p:cNvSpPr/>
          <p:nvPr/>
        </p:nvSpPr>
        <p:spPr>
          <a:xfrm>
            <a:off x="1920240" y="2880360"/>
            <a:ext cx="50288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2" name="TextBox 37"/>
          <p:cNvSpPr/>
          <p:nvPr/>
        </p:nvSpPr>
        <p:spPr>
          <a:xfrm>
            <a:off x="1965960" y="2917080"/>
            <a:ext cx="493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Switch models mid-session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Rectangle 38"/>
          <p:cNvSpPr/>
          <p:nvPr/>
        </p:nvSpPr>
        <p:spPr>
          <a:xfrm>
            <a:off x="6949440" y="2880360"/>
            <a:ext cx="49647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4" name="TextBox 39"/>
          <p:cNvSpPr/>
          <p:nvPr/>
        </p:nvSpPr>
        <p:spPr>
          <a:xfrm>
            <a:off x="6995160" y="2917080"/>
            <a:ext cx="487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Switch to Haiku for bulk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Rectangle 40"/>
          <p:cNvSpPr/>
          <p:nvPr/>
        </p:nvSpPr>
        <p:spPr>
          <a:xfrm>
            <a:off x="274320" y="3227760"/>
            <a:ext cx="16455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TextBox 41"/>
          <p:cNvSpPr/>
          <p:nvPr/>
        </p:nvSpPr>
        <p:spPr>
          <a:xfrm>
            <a:off x="320040" y="326448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/fast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Rectangle 42"/>
          <p:cNvSpPr/>
          <p:nvPr/>
        </p:nvSpPr>
        <p:spPr>
          <a:xfrm>
            <a:off x="1920240" y="3227760"/>
            <a:ext cx="50288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8" name="TextBox 43"/>
          <p:cNvSpPr/>
          <p:nvPr/>
        </p:nvSpPr>
        <p:spPr>
          <a:xfrm>
            <a:off x="1965960" y="3264480"/>
            <a:ext cx="493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Toggle Fast mode (Opus, faster output)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Rectangle 44"/>
          <p:cNvSpPr/>
          <p:nvPr/>
        </p:nvSpPr>
        <p:spPr>
          <a:xfrm>
            <a:off x="6949440" y="3227760"/>
            <a:ext cx="49647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TextBox 45"/>
          <p:cNvSpPr/>
          <p:nvPr/>
        </p:nvSpPr>
        <p:spPr>
          <a:xfrm>
            <a:off x="6995160" y="3264480"/>
            <a:ext cx="487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Time-sensitive tasks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Rectangle 46"/>
          <p:cNvSpPr/>
          <p:nvPr/>
        </p:nvSpPr>
        <p:spPr>
          <a:xfrm>
            <a:off x="274320" y="3575160"/>
            <a:ext cx="16455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2" name="TextBox 47"/>
          <p:cNvSpPr/>
          <p:nvPr/>
        </p:nvSpPr>
        <p:spPr>
          <a:xfrm>
            <a:off x="320040" y="361188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/plan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Rectangle 48"/>
          <p:cNvSpPr/>
          <p:nvPr/>
        </p:nvSpPr>
        <p:spPr>
          <a:xfrm>
            <a:off x="1920240" y="3575160"/>
            <a:ext cx="50288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4" name="TextBox 49"/>
          <p:cNvSpPr/>
          <p:nvPr/>
        </p:nvSpPr>
        <p:spPr>
          <a:xfrm>
            <a:off x="1965960" y="3611880"/>
            <a:ext cx="493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Enter planning mode — see plan first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Rectangle 50"/>
          <p:cNvSpPr/>
          <p:nvPr/>
        </p:nvSpPr>
        <p:spPr>
          <a:xfrm>
            <a:off x="6949440" y="3575160"/>
            <a:ext cx="49647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6" name="TextBox 51"/>
          <p:cNvSpPr/>
          <p:nvPr/>
        </p:nvSpPr>
        <p:spPr>
          <a:xfrm>
            <a:off x="6995160" y="3611880"/>
            <a:ext cx="487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Before touching code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Rectangle 52"/>
          <p:cNvSpPr/>
          <p:nvPr/>
        </p:nvSpPr>
        <p:spPr>
          <a:xfrm>
            <a:off x="274320" y="3922920"/>
            <a:ext cx="16455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8" name="TextBox 53"/>
          <p:cNvSpPr/>
          <p:nvPr/>
        </p:nvSpPr>
        <p:spPr>
          <a:xfrm>
            <a:off x="320040" y="395928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/mcp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Rectangle 54"/>
          <p:cNvSpPr/>
          <p:nvPr/>
        </p:nvSpPr>
        <p:spPr>
          <a:xfrm>
            <a:off x="1920240" y="3922920"/>
            <a:ext cx="50288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0" name="TextBox 55"/>
          <p:cNvSpPr/>
          <p:nvPr/>
        </p:nvSpPr>
        <p:spPr>
          <a:xfrm>
            <a:off x="1965960" y="3959280"/>
            <a:ext cx="493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Manage MCP server connections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Rectangle 56"/>
          <p:cNvSpPr/>
          <p:nvPr/>
        </p:nvSpPr>
        <p:spPr>
          <a:xfrm>
            <a:off x="6949440" y="3922920"/>
            <a:ext cx="49647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TextBox 57"/>
          <p:cNvSpPr/>
          <p:nvPr/>
        </p:nvSpPr>
        <p:spPr>
          <a:xfrm>
            <a:off x="6995160" y="3959280"/>
            <a:ext cx="487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Connect to LanceDB / FAERS DB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Rectangle 58"/>
          <p:cNvSpPr/>
          <p:nvPr/>
        </p:nvSpPr>
        <p:spPr>
          <a:xfrm>
            <a:off x="274320" y="4270320"/>
            <a:ext cx="16455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4" name="TextBox 59"/>
          <p:cNvSpPr/>
          <p:nvPr/>
        </p:nvSpPr>
        <p:spPr>
          <a:xfrm>
            <a:off x="320040" y="430668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/add-dir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" name="Rectangle 60"/>
          <p:cNvSpPr/>
          <p:nvPr/>
        </p:nvSpPr>
        <p:spPr>
          <a:xfrm>
            <a:off x="1920240" y="4270320"/>
            <a:ext cx="50288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6" name="TextBox 61"/>
          <p:cNvSpPr/>
          <p:nvPr/>
        </p:nvSpPr>
        <p:spPr>
          <a:xfrm>
            <a:off x="1965960" y="4306680"/>
            <a:ext cx="4937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Add a directory to context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Rectangle 62"/>
          <p:cNvSpPr/>
          <p:nvPr/>
        </p:nvSpPr>
        <p:spPr>
          <a:xfrm>
            <a:off x="6949440" y="4270320"/>
            <a:ext cx="49647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8" name="TextBox 63"/>
          <p:cNvSpPr/>
          <p:nvPr/>
        </p:nvSpPr>
        <p:spPr>
          <a:xfrm>
            <a:off x="6995160" y="4306680"/>
            <a:ext cx="487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Multi-repo projects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TextBox 64"/>
          <p:cNvSpPr/>
          <p:nvPr/>
        </p:nvSpPr>
        <p:spPr>
          <a:xfrm>
            <a:off x="274320" y="5833800"/>
            <a:ext cx="11612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5ac87a"/>
                </a:solidFill>
                <a:latin typeface="Calibri"/>
              </a:rPr>
              <a:t>Tip: Use /plan before any significant code change — Claude presents its approach and waits for approval.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1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2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MCP — Connect Claude to Your Data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4"/>
          <p:cNvSpPr/>
          <p:nvPr/>
        </p:nvSpPr>
        <p:spPr>
          <a:xfrm>
            <a:off x="274320" y="1097280"/>
            <a:ext cx="11612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Model Context Protocol: standard interface for Claude to query external databases and tools directly.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Rectangle 5"/>
          <p:cNvSpPr/>
          <p:nvPr/>
        </p:nvSpPr>
        <p:spPr>
          <a:xfrm>
            <a:off x="274320" y="1600200"/>
            <a:ext cx="5760360" cy="411444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5" name="TextBox 6"/>
          <p:cNvSpPr/>
          <p:nvPr/>
        </p:nvSpPr>
        <p:spPr>
          <a:xfrm>
            <a:off x="876960" y="1710000"/>
            <a:ext cx="4554720" cy="31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.claude/settings.json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"mcpServers":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"lancedb-adr":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"command": "python",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"args": ["-m", "mcp_lancedb_server"],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"env":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"DB_PATH": "/home/dada/Barn/GQ/ADR/trn_lancedb"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"faers-sql":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"command": "python",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"args": ["-m", "mcp_faers_server"],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"env":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"DB_URL": "sqlite:///faers.db"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TextBox 7"/>
          <p:cNvSpPr/>
          <p:nvPr/>
        </p:nvSpPr>
        <p:spPr>
          <a:xfrm>
            <a:off x="6217920" y="1600200"/>
            <a:ext cx="5760360" cy="26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Once connected, you can ask: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"Search the ADR vector DB for reports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similar to rhabdomyolysis"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"How many FAERS reports exist for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atorvastatin + myopathy?"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"Plot the top 10 drugs by report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count in our database"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Claude calls the MCP tool directly —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no copy-paste needed!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8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9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CLAUDE.md — Project Memory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TextBox 4"/>
          <p:cNvSpPr/>
          <p:nvPr/>
        </p:nvSpPr>
        <p:spPr>
          <a:xfrm>
            <a:off x="274320" y="1097280"/>
            <a:ext cx="11612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Create CLAUDE.md at project root — Claude reads it at the start of every session.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Rectangle 5"/>
          <p:cNvSpPr/>
          <p:nvPr/>
        </p:nvSpPr>
        <p:spPr>
          <a:xfrm>
            <a:off x="274320" y="1600200"/>
            <a:ext cx="7131960" cy="484596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2" name="TextBox 6"/>
          <p:cNvSpPr/>
          <p:nvPr/>
        </p:nvSpPr>
        <p:spPr>
          <a:xfrm>
            <a:off x="1482840" y="1710000"/>
            <a:ext cx="4714920" cy="344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ADR Research Project — Claude Context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## Pipeline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1. FAERS_Prep.ipynb → raw FAERS CSVs → cleaned dataframes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2. finetune_BGE_base.ipynb → fine-tuned BGE-M3 model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3. ADR_LanceDB.ipynb → LanceDB vector DB at trn_lancedb/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## Key Data Files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adr_all_new_up2_26q1.pkl  ← latest FAERS dataset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trn_lancedb/              ← BGE-M3 vector database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mdhier_pt_soc.pkl         ← MedDRA hierarchy mappings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## Conventions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MedDRA PT codes: lowercase strings ('myopathy')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Drug names: generic names (FDA UNII preferred)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Models checkpoint to bge_adr_base*/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## Do Not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Modify files in faers/, faers_all/ (raw archives)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Use pandas &lt; 2.0 API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Commit .pkl or .pt checkpoint files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TextBox 7"/>
          <p:cNvSpPr/>
          <p:nvPr/>
        </p:nvSpPr>
        <p:spPr>
          <a:xfrm>
            <a:off x="7589520" y="1600200"/>
            <a:ext cx="4388760" cy="26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Benefits: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No re-explaining your project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  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every session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Claude knows your file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  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naming conventions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Prevents dangerous actions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  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(Do Not rules)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Team-shared project context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  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(commit to git)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5" name="Rectangle 2"/>
          <p:cNvSpPr/>
          <p:nvPr/>
        </p:nvSpPr>
        <p:spPr>
          <a:xfrm>
            <a:off x="0" y="2743200"/>
            <a:ext cx="12188520" cy="727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6" name="TextBox 3"/>
          <p:cNvSpPr/>
          <p:nvPr/>
        </p:nvSpPr>
        <p:spPr>
          <a:xfrm>
            <a:off x="731520" y="548640"/>
            <a:ext cx="1005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d46212"/>
                </a:solidFill>
                <a:latin typeface="Calibri"/>
              </a:rPr>
              <a:t>PART 3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TextBox 4"/>
          <p:cNvSpPr/>
          <p:nvPr/>
        </p:nvSpPr>
        <p:spPr>
          <a:xfrm>
            <a:off x="731520" y="1371600"/>
            <a:ext cx="10698120" cy="14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Advanced Healthcare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Research Usage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TextBox 5"/>
          <p:cNvSpPr/>
          <p:nvPr/>
        </p:nvSpPr>
        <p:spPr>
          <a:xfrm>
            <a:off x="914400" y="3200400"/>
            <a:ext cx="103323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9999aa"/>
                </a:solidFill>
                <a:latin typeface="Calibri"/>
              </a:rPr>
              <a:t>FAERS · ADR · MedDRA · RAG · Batch Processing · HIPAA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0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1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Claude for ADR Research Pipeline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Rectangle 4"/>
          <p:cNvSpPr/>
          <p:nvPr/>
        </p:nvSpPr>
        <p:spPr>
          <a:xfrm>
            <a:off x="274320" y="1188720"/>
            <a:ext cx="3657240" cy="155412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3" name="Rectangle 5"/>
          <p:cNvSpPr/>
          <p:nvPr/>
        </p:nvSpPr>
        <p:spPr>
          <a:xfrm>
            <a:off x="274320" y="1188720"/>
            <a:ext cx="3657240" cy="543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4" name="TextBox 6"/>
          <p:cNvSpPr/>
          <p:nvPr/>
        </p:nvSpPr>
        <p:spPr>
          <a:xfrm>
            <a:off x="411480" y="1298520"/>
            <a:ext cx="3382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4a9ed6"/>
                </a:solidFill>
                <a:latin typeface="Calibri"/>
              </a:rPr>
              <a:t>FAERS Raw Data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TextBox 7"/>
          <p:cNvSpPr/>
          <p:nvPr/>
        </p:nvSpPr>
        <p:spPr>
          <a:xfrm>
            <a:off x="411480" y="17830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Quarterly CSV files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ectangle 8"/>
          <p:cNvSpPr/>
          <p:nvPr/>
        </p:nvSpPr>
        <p:spPr>
          <a:xfrm>
            <a:off x="4206240" y="1188720"/>
            <a:ext cx="3657240" cy="155412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7" name="Rectangle 9"/>
          <p:cNvSpPr/>
          <p:nvPr/>
        </p:nvSpPr>
        <p:spPr>
          <a:xfrm>
            <a:off x="4206240" y="1188720"/>
            <a:ext cx="3657240" cy="543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8" name="TextBox 10"/>
          <p:cNvSpPr/>
          <p:nvPr/>
        </p:nvSpPr>
        <p:spPr>
          <a:xfrm>
            <a:off x="4343400" y="1298520"/>
            <a:ext cx="3382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4a9ed6"/>
                </a:solidFill>
                <a:latin typeface="Calibri"/>
              </a:rPr>
              <a:t>FAERS_Prep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Box 11"/>
          <p:cNvSpPr/>
          <p:nvPr/>
        </p:nvSpPr>
        <p:spPr>
          <a:xfrm>
            <a:off x="4343400" y="17830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Cleaning &amp; normalization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Rectangle 12"/>
          <p:cNvSpPr/>
          <p:nvPr/>
        </p:nvSpPr>
        <p:spPr>
          <a:xfrm>
            <a:off x="8138160" y="1188720"/>
            <a:ext cx="3657240" cy="155412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1" name="Rectangle 13"/>
          <p:cNvSpPr/>
          <p:nvPr/>
        </p:nvSpPr>
        <p:spPr>
          <a:xfrm>
            <a:off x="8138160" y="1188720"/>
            <a:ext cx="3657240" cy="543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2" name="TextBox 14"/>
          <p:cNvSpPr/>
          <p:nvPr/>
        </p:nvSpPr>
        <p:spPr>
          <a:xfrm>
            <a:off x="8275320" y="1298520"/>
            <a:ext cx="3382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4a9ed6"/>
                </a:solidFill>
                <a:latin typeface="Calibri"/>
              </a:rPr>
              <a:t>BGE-M3 Embeddings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TextBox 15"/>
          <p:cNvSpPr/>
          <p:nvPr/>
        </p:nvSpPr>
        <p:spPr>
          <a:xfrm>
            <a:off x="8275320" y="17830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Fine-tuned on ADR triplets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Rectangle 16"/>
          <p:cNvSpPr/>
          <p:nvPr/>
        </p:nvSpPr>
        <p:spPr>
          <a:xfrm>
            <a:off x="274320" y="3200400"/>
            <a:ext cx="3657240" cy="155412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5" name="Rectangle 17"/>
          <p:cNvSpPr/>
          <p:nvPr/>
        </p:nvSpPr>
        <p:spPr>
          <a:xfrm>
            <a:off x="274320" y="3200400"/>
            <a:ext cx="3657240" cy="543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6" name="TextBox 18"/>
          <p:cNvSpPr/>
          <p:nvPr/>
        </p:nvSpPr>
        <p:spPr>
          <a:xfrm>
            <a:off x="411480" y="3310200"/>
            <a:ext cx="3382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4a9ed6"/>
                </a:solidFill>
                <a:latin typeface="Calibri"/>
              </a:rPr>
              <a:t>LanceDB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19"/>
          <p:cNvSpPr/>
          <p:nvPr/>
        </p:nvSpPr>
        <p:spPr>
          <a:xfrm>
            <a:off x="411480" y="379476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Vector similarity search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ectangle 20"/>
          <p:cNvSpPr/>
          <p:nvPr/>
        </p:nvSpPr>
        <p:spPr>
          <a:xfrm>
            <a:off x="4206240" y="3200400"/>
            <a:ext cx="3657240" cy="155412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9" name="Rectangle 21"/>
          <p:cNvSpPr/>
          <p:nvPr/>
        </p:nvSpPr>
        <p:spPr>
          <a:xfrm>
            <a:off x="4206240" y="3200400"/>
            <a:ext cx="3657240" cy="543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0" name="TextBox 22"/>
          <p:cNvSpPr/>
          <p:nvPr/>
        </p:nvSpPr>
        <p:spPr>
          <a:xfrm>
            <a:off x="4343400" y="3310200"/>
            <a:ext cx="3382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d46212"/>
                </a:solidFill>
                <a:latin typeface="Calibri"/>
              </a:rPr>
              <a:t>Claude API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TextBox 23"/>
          <p:cNvSpPr/>
          <p:nvPr/>
        </p:nvSpPr>
        <p:spPr>
          <a:xfrm>
            <a:off x="4343400" y="379476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Extract · Classify · Synthesize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Rectangle 24"/>
          <p:cNvSpPr/>
          <p:nvPr/>
        </p:nvSpPr>
        <p:spPr>
          <a:xfrm>
            <a:off x="8138160" y="3200400"/>
            <a:ext cx="3657240" cy="155412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3" name="Rectangle 25"/>
          <p:cNvSpPr/>
          <p:nvPr/>
        </p:nvSpPr>
        <p:spPr>
          <a:xfrm>
            <a:off x="8138160" y="3200400"/>
            <a:ext cx="3657240" cy="543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26"/>
          <p:cNvSpPr/>
          <p:nvPr/>
        </p:nvSpPr>
        <p:spPr>
          <a:xfrm>
            <a:off x="8275320" y="3310200"/>
            <a:ext cx="3382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4a9ed6"/>
                </a:solidFill>
                <a:latin typeface="Calibri"/>
              </a:rPr>
              <a:t>ADR Signals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27"/>
          <p:cNvSpPr/>
          <p:nvPr/>
        </p:nvSpPr>
        <p:spPr>
          <a:xfrm>
            <a:off x="8275320" y="379476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PRR/ROR · Publications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Box 28"/>
          <p:cNvSpPr/>
          <p:nvPr/>
        </p:nvSpPr>
        <p:spPr>
          <a:xfrm>
            <a:off x="274320" y="5303520"/>
            <a:ext cx="11612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What Claude adds to your pipeline: 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Structured extraction from clinical narratives   ·   Zero-shot MedDRA coding   ·   Literature synthesis   ·   Signal interpretation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8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9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3.1  Files API — Upload Once, Query Many Times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TextBox 4"/>
          <p:cNvSpPr/>
          <p:nvPr/>
        </p:nvSpPr>
        <p:spPr>
          <a:xfrm>
            <a:off x="274320" y="1097280"/>
            <a:ext cx="11612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Upload large PDFs/documents once and reference them by ID across multiple requests. No re-uploading!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Rectangle 5"/>
          <p:cNvSpPr/>
          <p:nvPr/>
        </p:nvSpPr>
        <p:spPr>
          <a:xfrm>
            <a:off x="274320" y="1600200"/>
            <a:ext cx="7131960" cy="4023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2" name="TextBox 6"/>
          <p:cNvSpPr/>
          <p:nvPr/>
        </p:nvSpPr>
        <p:spPr>
          <a:xfrm>
            <a:off x="965160" y="1710000"/>
            <a:ext cx="5749920" cy="39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Step 1: Upload once (save the file_id!)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file = client.beta.files.upload(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file=("safety_report.pdf",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open("safety_report.pdf", "rb"),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"application/pdf")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file_id = file.id  # "file_abc123"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Step 2: Use in any number of requests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response = client.beta.messages.create(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model="claude-opus-4-8",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max_tokens=2048,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messages=[{"role": "user", "content": [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"type": "document",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"source": {"type": "file", "file_id": file_id},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"citations": {"enabled": True},   # ← get quoted evidence!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"title": "Drug Safety Report 2024"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{"type": "text",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"text": "Extract all drug-event pairs with statistics."}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]}],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betas=["files-api-2025-04-14"]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TextBox 7"/>
          <p:cNvSpPr/>
          <p:nvPr/>
        </p:nvSpPr>
        <p:spPr>
          <a:xfrm>
            <a:off x="7589520" y="1600200"/>
            <a:ext cx="4388760" cy="264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Supported file types: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PDF (research papers, guidelines)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Plain text (case narratives)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HTML, Markdown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With citations enabled: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Response: "Achilles tendon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rupture was seen in 68% of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cases [Source 1, line 12]"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Ideal for: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Journal article extraction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FDA guidance documents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Clinical study reports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5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6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3.2  Batch API — Process 100K+ FAERS Reports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Box 4"/>
          <p:cNvSpPr/>
          <p:nvPr/>
        </p:nvSpPr>
        <p:spPr>
          <a:xfrm>
            <a:off x="274320" y="1097280"/>
            <a:ext cx="59432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50% cost reduction vs. real-time API: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10,000 reports × $5/1M (Opus) = $50  →  Batch: $25   same quality!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10,000 reports × $1/1M (Haiku) = $10  →  Batch: $5   best for classification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Rectangle 5"/>
          <p:cNvSpPr/>
          <p:nvPr/>
        </p:nvSpPr>
        <p:spPr>
          <a:xfrm>
            <a:off x="274320" y="2423160"/>
            <a:ext cx="11612520" cy="329148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9" name="TextBox 6"/>
          <p:cNvSpPr/>
          <p:nvPr/>
        </p:nvSpPr>
        <p:spPr>
          <a:xfrm>
            <a:off x="2092320" y="2532960"/>
            <a:ext cx="7976520" cy="39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from anthropic.types.message_create_params import MessageCreateParamsNonStreaming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from anthropic.types.messages.batch_create_params import Request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batch_requests = [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Request(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custom_id=case["case_id"],                        # track by your ID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params=MessageCreateParamsNonStreaming(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model="claude-haiku-4-5",                     # cheapest model for bulk coding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max_tokens=256,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system=MEDDRA_CODING_SYSTEM,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messages=[{"role": "user", "content": case["narrative"]}]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for case in faers_narratives                          # list of dicts with case_id + narrative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batch = client.messages.batches.create(requests=batch_requests)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print(f"Batch ID: {batch.id}")  # Poll later for results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Poll (completes within 24 hours)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status = client.messages.batches.retrieve(batch.id)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if status.processing_status == "ended":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for result in client.messages.batches.results(batch.id):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print(result.custom_id, json.loads(result.result.message.content[0].text))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7"/>
          <p:cNvSpPr/>
          <p:nvPr/>
        </p:nvSpPr>
        <p:spPr>
          <a:xfrm>
            <a:off x="274320" y="5852160"/>
            <a:ext cx="11612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Best for: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Quarterly FAERS updates  ·  Re-coding legacy narratives  ·  Validating MedDRA assignments  ·  Non-real-time research tasks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2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3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3.3  RAG — Claude + Your LanceDB Vector Store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ectangle 4"/>
          <p:cNvSpPr/>
          <p:nvPr/>
        </p:nvSpPr>
        <p:spPr>
          <a:xfrm>
            <a:off x="274320" y="1828800"/>
            <a:ext cx="3474360" cy="7311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5" name="Rectangle 5"/>
          <p:cNvSpPr/>
          <p:nvPr/>
        </p:nvSpPr>
        <p:spPr>
          <a:xfrm>
            <a:off x="274320" y="1828800"/>
            <a:ext cx="3474360" cy="453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6" name="TextBox 6"/>
          <p:cNvSpPr/>
          <p:nvPr/>
        </p:nvSpPr>
        <p:spPr>
          <a:xfrm>
            <a:off x="411480" y="1965960"/>
            <a:ext cx="320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4a9ed6"/>
                </a:solidFill>
                <a:latin typeface="Calibri"/>
              </a:rPr>
              <a:t>User Query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ectangle 7"/>
          <p:cNvSpPr/>
          <p:nvPr/>
        </p:nvSpPr>
        <p:spPr>
          <a:xfrm>
            <a:off x="274320" y="2834640"/>
            <a:ext cx="3474360" cy="7311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8" name="Rectangle 8"/>
          <p:cNvSpPr/>
          <p:nvPr/>
        </p:nvSpPr>
        <p:spPr>
          <a:xfrm>
            <a:off x="274320" y="2834640"/>
            <a:ext cx="3474360" cy="453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9" name="TextBox 9"/>
          <p:cNvSpPr/>
          <p:nvPr/>
        </p:nvSpPr>
        <p:spPr>
          <a:xfrm>
            <a:off x="411480" y="2971800"/>
            <a:ext cx="320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4a9ed6"/>
                </a:solidFill>
                <a:latin typeface="Calibri"/>
              </a:rPr>
              <a:t>BGE-M3 Embed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Rectangle 10"/>
          <p:cNvSpPr/>
          <p:nvPr/>
        </p:nvSpPr>
        <p:spPr>
          <a:xfrm>
            <a:off x="274320" y="3840480"/>
            <a:ext cx="3474360" cy="7311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1" name="Rectangle 11"/>
          <p:cNvSpPr/>
          <p:nvPr/>
        </p:nvSpPr>
        <p:spPr>
          <a:xfrm>
            <a:off x="274320" y="3840480"/>
            <a:ext cx="3474360" cy="453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2" name="TextBox 12"/>
          <p:cNvSpPr/>
          <p:nvPr/>
        </p:nvSpPr>
        <p:spPr>
          <a:xfrm>
            <a:off x="411480" y="3977640"/>
            <a:ext cx="320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4a9ed6"/>
                </a:solidFill>
                <a:latin typeface="Calibri"/>
              </a:rPr>
              <a:t>LanceDB Search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Rectangle 13"/>
          <p:cNvSpPr/>
          <p:nvPr/>
        </p:nvSpPr>
        <p:spPr>
          <a:xfrm>
            <a:off x="4114800" y="1828800"/>
            <a:ext cx="3474360" cy="7311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4" name="Rectangle 14"/>
          <p:cNvSpPr/>
          <p:nvPr/>
        </p:nvSpPr>
        <p:spPr>
          <a:xfrm>
            <a:off x="4114800" y="1828800"/>
            <a:ext cx="3474360" cy="4536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5" name="TextBox 15"/>
          <p:cNvSpPr/>
          <p:nvPr/>
        </p:nvSpPr>
        <p:spPr>
          <a:xfrm>
            <a:off x="4251960" y="1965960"/>
            <a:ext cx="320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5ac87a"/>
                </a:solidFill>
                <a:latin typeface="Calibri"/>
              </a:rPr>
              <a:t>Top-K Chunks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Rectangle 16"/>
          <p:cNvSpPr/>
          <p:nvPr/>
        </p:nvSpPr>
        <p:spPr>
          <a:xfrm>
            <a:off x="4114800" y="2834640"/>
            <a:ext cx="3474360" cy="7311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7" name="Rectangle 17"/>
          <p:cNvSpPr/>
          <p:nvPr/>
        </p:nvSpPr>
        <p:spPr>
          <a:xfrm>
            <a:off x="4114800" y="2834640"/>
            <a:ext cx="3474360" cy="453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8" name="TextBox 18"/>
          <p:cNvSpPr/>
          <p:nvPr/>
        </p:nvSpPr>
        <p:spPr>
          <a:xfrm>
            <a:off x="4251960" y="2971800"/>
            <a:ext cx="320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d46212"/>
                </a:solidFill>
                <a:latin typeface="Calibri"/>
              </a:rPr>
              <a:t>Claude API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Rectangle 19"/>
          <p:cNvSpPr/>
          <p:nvPr/>
        </p:nvSpPr>
        <p:spPr>
          <a:xfrm>
            <a:off x="4114800" y="3840480"/>
            <a:ext cx="3474360" cy="7311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0" name="Rectangle 20"/>
          <p:cNvSpPr/>
          <p:nvPr/>
        </p:nvSpPr>
        <p:spPr>
          <a:xfrm>
            <a:off x="4114800" y="3840480"/>
            <a:ext cx="3474360" cy="4536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1" name="TextBox 21"/>
          <p:cNvSpPr/>
          <p:nvPr/>
        </p:nvSpPr>
        <p:spPr>
          <a:xfrm>
            <a:off x="4251960" y="3977640"/>
            <a:ext cx="320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5ac87a"/>
                </a:solidFill>
                <a:latin typeface="Calibri"/>
              </a:rPr>
              <a:t>Grounded Answer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22"/>
          <p:cNvSpPr/>
          <p:nvPr/>
        </p:nvSpPr>
        <p:spPr>
          <a:xfrm>
            <a:off x="1828800" y="2560320"/>
            <a:ext cx="365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999aa"/>
                </a:solidFill>
                <a:latin typeface="Calibri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TextBox 23"/>
          <p:cNvSpPr/>
          <p:nvPr/>
        </p:nvSpPr>
        <p:spPr>
          <a:xfrm>
            <a:off x="5669280" y="2560320"/>
            <a:ext cx="365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999aa"/>
                </a:solidFill>
                <a:latin typeface="Calibri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" name="TextBox 24"/>
          <p:cNvSpPr/>
          <p:nvPr/>
        </p:nvSpPr>
        <p:spPr>
          <a:xfrm>
            <a:off x="1828800" y="3566160"/>
            <a:ext cx="365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999aa"/>
                </a:solidFill>
                <a:latin typeface="Calibri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TextBox 25"/>
          <p:cNvSpPr/>
          <p:nvPr/>
        </p:nvSpPr>
        <p:spPr>
          <a:xfrm>
            <a:off x="5669280" y="3566160"/>
            <a:ext cx="365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999aa"/>
                </a:solidFill>
                <a:latin typeface="Calibri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26"/>
          <p:cNvSpPr/>
          <p:nvPr/>
        </p:nvSpPr>
        <p:spPr>
          <a:xfrm>
            <a:off x="3840480" y="3200400"/>
            <a:ext cx="4568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9999aa"/>
                </a:solidFill>
                <a:latin typeface="Calibri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Rectangle 27"/>
          <p:cNvSpPr/>
          <p:nvPr/>
        </p:nvSpPr>
        <p:spPr>
          <a:xfrm>
            <a:off x="7863840" y="1097280"/>
            <a:ext cx="4205880" cy="49374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8" name="TextBox 28"/>
          <p:cNvSpPr/>
          <p:nvPr/>
        </p:nvSpPr>
        <p:spPr>
          <a:xfrm>
            <a:off x="7927200" y="1207080"/>
            <a:ext cx="4079520" cy="356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def rag_query(query, lancedb_table):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# Retrieve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embedding = bge_model.encode(query)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docs = (lancedb_table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.search(embedding)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.limit(5)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.to_list())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# Format context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context = "\n---\n".join([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f"Drug: {d['drug']}\n"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f"Event: {d['adverse_event']}\n"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f"Reports: {d['report_count']}"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for d in docs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])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# Generate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response = client.messages.create(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model="claude-opus-4-8",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max_tokens=1024,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system=PHARMA_SYSTEM,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messages=[{"role": "user",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"content": f"Context:\n{context}\n"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              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f"\nQuestion: {query}"}]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return response.content[0].text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29"/>
          <p:cNvSpPr/>
          <p:nvPr/>
        </p:nvSpPr>
        <p:spPr>
          <a:xfrm>
            <a:off x="365760" y="4754880"/>
            <a:ext cx="73148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Why RAG beats pure LLM for FAERS: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Answers grounded in your proprietary data (not Claude's training data)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No hallucinated statistics — facts come from your DB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Works for drugs approved after Claude's knowledge cutoff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1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3.4  ADR Classification — MedDRA Coding with Few-Shot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ectangle 4"/>
          <p:cNvSpPr/>
          <p:nvPr/>
        </p:nvSpPr>
        <p:spPr>
          <a:xfrm>
            <a:off x="274320" y="1143000"/>
            <a:ext cx="5943240" cy="457164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4" name="TextBox 5"/>
          <p:cNvSpPr/>
          <p:nvPr/>
        </p:nvSpPr>
        <p:spPr>
          <a:xfrm>
            <a:off x="499680" y="1252800"/>
            <a:ext cx="5492160" cy="39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FEW_SHOT_SYSTEM = """You are a MedDRA coding expert.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## Examples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Input: "patient feels dizzy when standing"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Output: {"pts": [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{"pt": "Orthostatic hypotension", "code": "10031127", "conf": 0.95},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{"pt": "Dizziness", "code": "10013573", "conf": 0.85}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]}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Input: "yellow skin and eyes, liver elevated"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Output: {"pts": [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{"pt": "Jaundice", "code": "10023126", "conf": 0.98},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{"pt": "Hepatocellular injury", "code": "10019692", "conf": 0.85}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]}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Return ONLY valid JSON."""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# Classify narratives — use Haiku for cost efficiency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response = client.messages.create(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model="claude-haiku-4-5",   # 5x cheaper than Opus!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max_tokens=256,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system=FEW_SHOT_SYSTEM,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messages=[{"role": "user", "content": narrative}]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result = json.loads(response.content[0].text)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TextBox 6"/>
          <p:cNvSpPr/>
          <p:nvPr/>
        </p:nvSpPr>
        <p:spPr>
          <a:xfrm>
            <a:off x="6400800" y="1143000"/>
            <a:ext cx="5577480" cy="26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Advantages over rule-based coding: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Handles patient language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   </a:t>
            </a: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"stomach hurts" → Abdominal pain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Multi-label output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   </a:t>
            </a: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One narrative → multiple PTs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Confidence scores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   </a:t>
            </a: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Flag low-confidence for review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Handles misspellings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   </a:t>
            </a: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"rhabdomilyosis" → Rhabdomyolysis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TextBox 7"/>
          <p:cNvSpPr/>
          <p:nvPr/>
        </p:nvSpPr>
        <p:spPr>
          <a:xfrm>
            <a:off x="6400800" y="3749040"/>
            <a:ext cx="5577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5ac87a"/>
                </a:solidFill>
                <a:latin typeface="Calibri"/>
              </a:rPr>
              <a:t>Human review queue: automatically flag cases where max(confidence) &lt; 0.7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Rectangle 8"/>
          <p:cNvSpPr/>
          <p:nvPr/>
        </p:nvSpPr>
        <p:spPr>
          <a:xfrm>
            <a:off x="6400800" y="4251960"/>
            <a:ext cx="5577480" cy="146268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8" name="TextBox 9"/>
          <p:cNvSpPr/>
          <p:nvPr/>
        </p:nvSpPr>
        <p:spPr>
          <a:xfrm>
            <a:off x="7149600" y="4361760"/>
            <a:ext cx="407952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Pipeline integration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if max(pt["conf"] for pt in result["pts"]) &lt; 0.7: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queue_for_human_review(case_id, result)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else: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save_to_database(case_id, result)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0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1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3.5  HIPAA &amp; Data Privacy Considerations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Rectangle 4"/>
          <p:cNvSpPr/>
          <p:nvPr/>
        </p:nvSpPr>
        <p:spPr>
          <a:xfrm>
            <a:off x="274320" y="1188720"/>
            <a:ext cx="365724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3" name="TextBox 5"/>
          <p:cNvSpPr/>
          <p:nvPr/>
        </p:nvSpPr>
        <p:spPr>
          <a:xfrm>
            <a:off x="320040" y="123444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Data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ectangle 6"/>
          <p:cNvSpPr/>
          <p:nvPr/>
        </p:nvSpPr>
        <p:spPr>
          <a:xfrm>
            <a:off x="3931920" y="1188720"/>
            <a:ext cx="182844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5" name="TextBox 7"/>
          <p:cNvSpPr/>
          <p:nvPr/>
        </p:nvSpPr>
        <p:spPr>
          <a:xfrm>
            <a:off x="3977640" y="1234440"/>
            <a:ext cx="1737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Status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ectangle 8"/>
          <p:cNvSpPr/>
          <p:nvPr/>
        </p:nvSpPr>
        <p:spPr>
          <a:xfrm>
            <a:off x="5760720" y="1188720"/>
            <a:ext cx="615348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7" name="TextBox 9"/>
          <p:cNvSpPr/>
          <p:nvPr/>
        </p:nvSpPr>
        <p:spPr>
          <a:xfrm>
            <a:off x="5806440" y="1234440"/>
            <a:ext cx="6062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What to do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Rectangle 10"/>
          <p:cNvSpPr/>
          <p:nvPr/>
        </p:nvSpPr>
        <p:spPr>
          <a:xfrm>
            <a:off x="274320" y="1536120"/>
            <a:ext cx="36572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9" name="TextBox 11"/>
          <p:cNvSpPr/>
          <p:nvPr/>
        </p:nvSpPr>
        <p:spPr>
          <a:xfrm>
            <a:off x="320040" y="1572840"/>
            <a:ext cx="3565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De-identified research data (FAERS)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Rectangle 12"/>
          <p:cNvSpPr/>
          <p:nvPr/>
        </p:nvSpPr>
        <p:spPr>
          <a:xfrm>
            <a:off x="3931920" y="1536120"/>
            <a:ext cx="18284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1" name="TextBox 13"/>
          <p:cNvSpPr/>
          <p:nvPr/>
        </p:nvSpPr>
        <p:spPr>
          <a:xfrm>
            <a:off x="3977640" y="1572840"/>
            <a:ext cx="1737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✅ </a:t>
            </a: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Safe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Rectangle 14"/>
          <p:cNvSpPr/>
          <p:nvPr/>
        </p:nvSpPr>
        <p:spPr>
          <a:xfrm>
            <a:off x="5760720" y="1536120"/>
            <a:ext cx="615348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3" name="TextBox 15"/>
          <p:cNvSpPr/>
          <p:nvPr/>
        </p:nvSpPr>
        <p:spPr>
          <a:xfrm>
            <a:off x="5806440" y="1572840"/>
            <a:ext cx="6062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Standard API — use freely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Rectangle 16"/>
          <p:cNvSpPr/>
          <p:nvPr/>
        </p:nvSpPr>
        <p:spPr>
          <a:xfrm>
            <a:off x="274320" y="1883520"/>
            <a:ext cx="36572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5" name="TextBox 17"/>
          <p:cNvSpPr/>
          <p:nvPr/>
        </p:nvSpPr>
        <p:spPr>
          <a:xfrm>
            <a:off x="320040" y="1920240"/>
            <a:ext cx="3565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IRB-approved de-identified data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ectangle 18"/>
          <p:cNvSpPr/>
          <p:nvPr/>
        </p:nvSpPr>
        <p:spPr>
          <a:xfrm>
            <a:off x="3931920" y="1883520"/>
            <a:ext cx="18284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7" name="TextBox 19"/>
          <p:cNvSpPr/>
          <p:nvPr/>
        </p:nvSpPr>
        <p:spPr>
          <a:xfrm>
            <a:off x="3977640" y="1920240"/>
            <a:ext cx="1737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✅ </a:t>
            </a: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Safe with BAA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ectangle 20"/>
          <p:cNvSpPr/>
          <p:nvPr/>
        </p:nvSpPr>
        <p:spPr>
          <a:xfrm>
            <a:off x="5760720" y="1883520"/>
            <a:ext cx="615348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9" name="TextBox 21"/>
          <p:cNvSpPr/>
          <p:nvPr/>
        </p:nvSpPr>
        <p:spPr>
          <a:xfrm>
            <a:off x="5806440" y="1920240"/>
            <a:ext cx="6062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Sign Business Associate Agreement with Anthropic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Rectangle 22"/>
          <p:cNvSpPr/>
          <p:nvPr/>
        </p:nvSpPr>
        <p:spPr>
          <a:xfrm>
            <a:off x="274320" y="2231280"/>
            <a:ext cx="36572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1" name="TextBox 23"/>
          <p:cNvSpPr/>
          <p:nvPr/>
        </p:nvSpPr>
        <p:spPr>
          <a:xfrm>
            <a:off x="320040" y="2267640"/>
            <a:ext cx="3565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PHI (identified patient records)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Rectangle 24"/>
          <p:cNvSpPr/>
          <p:nvPr/>
        </p:nvSpPr>
        <p:spPr>
          <a:xfrm>
            <a:off x="3931920" y="2231280"/>
            <a:ext cx="18284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3" name="TextBox 25"/>
          <p:cNvSpPr/>
          <p:nvPr/>
        </p:nvSpPr>
        <p:spPr>
          <a:xfrm>
            <a:off x="3977640" y="2267640"/>
            <a:ext cx="1737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⚠️ </a:t>
            </a: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Requires BAA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Rectangle 26"/>
          <p:cNvSpPr/>
          <p:nvPr/>
        </p:nvSpPr>
        <p:spPr>
          <a:xfrm>
            <a:off x="5760720" y="2231280"/>
            <a:ext cx="615348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5" name="TextBox 27"/>
          <p:cNvSpPr/>
          <p:nvPr/>
        </p:nvSpPr>
        <p:spPr>
          <a:xfrm>
            <a:off x="5806440" y="2267640"/>
            <a:ext cx="6062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Enterprise API only with signed BAA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Rectangle 28"/>
          <p:cNvSpPr/>
          <p:nvPr/>
        </p:nvSpPr>
        <p:spPr>
          <a:xfrm>
            <a:off x="274320" y="2578680"/>
            <a:ext cx="36572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7" name="TextBox 29"/>
          <p:cNvSpPr/>
          <p:nvPr/>
        </p:nvSpPr>
        <p:spPr>
          <a:xfrm>
            <a:off x="320040" y="2615040"/>
            <a:ext cx="3565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Clinical trial data with patient IDs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Rectangle 30"/>
          <p:cNvSpPr/>
          <p:nvPr/>
        </p:nvSpPr>
        <p:spPr>
          <a:xfrm>
            <a:off x="3931920" y="2578680"/>
            <a:ext cx="182844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9" name="TextBox 31"/>
          <p:cNvSpPr/>
          <p:nvPr/>
        </p:nvSpPr>
        <p:spPr>
          <a:xfrm>
            <a:off x="3977640" y="2615040"/>
            <a:ext cx="1737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❌ </a:t>
            </a: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Without BAA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ectangle 32"/>
          <p:cNvSpPr/>
          <p:nvPr/>
        </p:nvSpPr>
        <p:spPr>
          <a:xfrm>
            <a:off x="5760720" y="2578680"/>
            <a:ext cx="615348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1" name="TextBox 33"/>
          <p:cNvSpPr/>
          <p:nvPr/>
        </p:nvSpPr>
        <p:spPr>
          <a:xfrm>
            <a:off x="5806440" y="2615040"/>
            <a:ext cx="6062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De-identify before sending to API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ectangle 34"/>
          <p:cNvSpPr/>
          <p:nvPr/>
        </p:nvSpPr>
        <p:spPr>
          <a:xfrm>
            <a:off x="274320" y="2926080"/>
            <a:ext cx="36572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3" name="TextBox 35"/>
          <p:cNvSpPr/>
          <p:nvPr/>
        </p:nvSpPr>
        <p:spPr>
          <a:xfrm>
            <a:off x="320040" y="2962800"/>
            <a:ext cx="35658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Published literature (PDFs)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Rectangle 36"/>
          <p:cNvSpPr/>
          <p:nvPr/>
        </p:nvSpPr>
        <p:spPr>
          <a:xfrm>
            <a:off x="3931920" y="2926080"/>
            <a:ext cx="182844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5" name="TextBox 37"/>
          <p:cNvSpPr/>
          <p:nvPr/>
        </p:nvSpPr>
        <p:spPr>
          <a:xfrm>
            <a:off x="3977640" y="2962800"/>
            <a:ext cx="17370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✅ </a:t>
            </a: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Always safe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" name="Rectangle 38"/>
          <p:cNvSpPr/>
          <p:nvPr/>
        </p:nvSpPr>
        <p:spPr>
          <a:xfrm>
            <a:off x="5760720" y="2926080"/>
            <a:ext cx="615348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7" name="TextBox 39"/>
          <p:cNvSpPr/>
          <p:nvPr/>
        </p:nvSpPr>
        <p:spPr>
          <a:xfrm>
            <a:off x="5806440" y="2962800"/>
            <a:ext cx="6062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No restrictions — use Files API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40"/>
          <p:cNvSpPr/>
          <p:nvPr/>
        </p:nvSpPr>
        <p:spPr>
          <a:xfrm>
            <a:off x="274320" y="4434840"/>
            <a:ext cx="116125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Safe practices for your ADR research: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1  FAERS data is already de-identified under 21 CFR Part 314 — standard API is fine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2  Use enterprise plan + BAA for any PHI workflows (clinical trials, EHR data)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3  Zero data retention option: available for sensitive workloads (enterprise plan)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4  Prompt injection risk: validate that document content doesn't override your system prompt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0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1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3.6  Agentic Research Workflow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ectangle 4"/>
          <p:cNvSpPr/>
          <p:nvPr/>
        </p:nvSpPr>
        <p:spPr>
          <a:xfrm>
            <a:off x="274320" y="1188720"/>
            <a:ext cx="5577480" cy="16912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3" name="Rectangle 5"/>
          <p:cNvSpPr/>
          <p:nvPr/>
        </p:nvSpPr>
        <p:spPr>
          <a:xfrm>
            <a:off x="274320" y="1188720"/>
            <a:ext cx="548280" cy="169128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4" name="TextBox 6"/>
          <p:cNvSpPr/>
          <p:nvPr/>
        </p:nvSpPr>
        <p:spPr>
          <a:xfrm>
            <a:off x="347400" y="1783080"/>
            <a:ext cx="45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TextBox 7"/>
          <p:cNvSpPr/>
          <p:nvPr/>
        </p:nvSpPr>
        <p:spPr>
          <a:xfrm>
            <a:off x="960120" y="1298520"/>
            <a:ext cx="47545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d46212"/>
                </a:solidFill>
                <a:latin typeface="Calibri"/>
              </a:rPr>
              <a:t>Web Search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8"/>
          <p:cNvSpPr/>
          <p:nvPr/>
        </p:nvSpPr>
        <p:spPr>
          <a:xfrm>
            <a:off x="960120" y="1783080"/>
            <a:ext cx="4663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Find recent publications on drug safety signal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ectangle 9"/>
          <p:cNvSpPr/>
          <p:nvPr/>
        </p:nvSpPr>
        <p:spPr>
          <a:xfrm>
            <a:off x="6126480" y="1188720"/>
            <a:ext cx="5577480" cy="16912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8" name="Rectangle 10"/>
          <p:cNvSpPr/>
          <p:nvPr/>
        </p:nvSpPr>
        <p:spPr>
          <a:xfrm>
            <a:off x="6126480" y="1188720"/>
            <a:ext cx="548280" cy="169128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9" name="TextBox 11"/>
          <p:cNvSpPr/>
          <p:nvPr/>
        </p:nvSpPr>
        <p:spPr>
          <a:xfrm>
            <a:off x="6199560" y="1783080"/>
            <a:ext cx="45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TextBox 12"/>
          <p:cNvSpPr/>
          <p:nvPr/>
        </p:nvSpPr>
        <p:spPr>
          <a:xfrm>
            <a:off x="6812280" y="1298520"/>
            <a:ext cx="47545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d46212"/>
                </a:solidFill>
                <a:latin typeface="Calibri"/>
              </a:rPr>
              <a:t>Files API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" name="TextBox 13"/>
          <p:cNvSpPr/>
          <p:nvPr/>
        </p:nvSpPr>
        <p:spPr>
          <a:xfrm>
            <a:off x="6812280" y="1783080"/>
            <a:ext cx="4663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Upload PDFs; extract drug-event pairs with citations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Rectangle 14"/>
          <p:cNvSpPr/>
          <p:nvPr/>
        </p:nvSpPr>
        <p:spPr>
          <a:xfrm>
            <a:off x="274320" y="3108960"/>
            <a:ext cx="5577480" cy="16912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3" name="Rectangle 15"/>
          <p:cNvSpPr/>
          <p:nvPr/>
        </p:nvSpPr>
        <p:spPr>
          <a:xfrm>
            <a:off x="274320" y="3108960"/>
            <a:ext cx="548280" cy="169128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4" name="TextBox 16"/>
          <p:cNvSpPr/>
          <p:nvPr/>
        </p:nvSpPr>
        <p:spPr>
          <a:xfrm>
            <a:off x="347400" y="3703320"/>
            <a:ext cx="45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TextBox 17"/>
          <p:cNvSpPr/>
          <p:nvPr/>
        </p:nvSpPr>
        <p:spPr>
          <a:xfrm>
            <a:off x="960120" y="3218760"/>
            <a:ext cx="47545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d46212"/>
                </a:solidFill>
                <a:latin typeface="Calibri"/>
              </a:rPr>
              <a:t>FAERS Query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TextBox 18"/>
          <p:cNvSpPr/>
          <p:nvPr/>
        </p:nvSpPr>
        <p:spPr>
          <a:xfrm>
            <a:off x="960120" y="3703320"/>
            <a:ext cx="4663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Cross-reference with your database → PRR/ROR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Rectangle 19"/>
          <p:cNvSpPr/>
          <p:nvPr/>
        </p:nvSpPr>
        <p:spPr>
          <a:xfrm>
            <a:off x="6126480" y="3108960"/>
            <a:ext cx="5577480" cy="16912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8" name="Rectangle 20"/>
          <p:cNvSpPr/>
          <p:nvPr/>
        </p:nvSpPr>
        <p:spPr>
          <a:xfrm>
            <a:off x="6126480" y="3108960"/>
            <a:ext cx="548280" cy="169128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9" name="TextBox 21"/>
          <p:cNvSpPr/>
          <p:nvPr/>
        </p:nvSpPr>
        <p:spPr>
          <a:xfrm>
            <a:off x="6199560" y="3703320"/>
            <a:ext cx="45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22"/>
          <p:cNvSpPr/>
          <p:nvPr/>
        </p:nvSpPr>
        <p:spPr>
          <a:xfrm>
            <a:off x="6812280" y="3218760"/>
            <a:ext cx="47545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d46212"/>
                </a:solidFill>
                <a:latin typeface="Calibri"/>
              </a:rPr>
              <a:t>Synthesis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TextBox 23"/>
          <p:cNvSpPr/>
          <p:nvPr/>
        </p:nvSpPr>
        <p:spPr>
          <a:xfrm>
            <a:off x="6812280" y="3703320"/>
            <a:ext cx="4663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Generate evidence summary with confidence levels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" name="Rectangle 24"/>
          <p:cNvSpPr/>
          <p:nvPr/>
        </p:nvSpPr>
        <p:spPr>
          <a:xfrm>
            <a:off x="274320" y="5074920"/>
            <a:ext cx="11612520" cy="146268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3" name="TextBox 25"/>
          <p:cNvSpPr/>
          <p:nvPr/>
        </p:nvSpPr>
        <p:spPr>
          <a:xfrm>
            <a:off x="2211120" y="5184720"/>
            <a:ext cx="7738560" cy="10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TOOLS = [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{"type": "web_search_20260209"},                 # Anthropic-hosted: no code needed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{"name": "query_faers_db", ...}                  # Your FAERS database function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Claude calls web_search automatically, then calls your FAERS tool, then synthesizes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response = client.messages.create(model="claude-opus-4-8", tools=TOOLS, messages=messages, ...)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5" name="Rectangle 2"/>
          <p:cNvSpPr/>
          <p:nvPr/>
        </p:nvSpPr>
        <p:spPr>
          <a:xfrm>
            <a:off x="73080" y="0"/>
            <a:ext cx="12115440" cy="100548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6" name="TextBox 3"/>
          <p:cNvSpPr/>
          <p:nvPr/>
        </p:nvSpPr>
        <p:spPr>
          <a:xfrm>
            <a:off x="274320" y="164520"/>
            <a:ext cx="11612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Model &amp; Cost Selection Guide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Rectangle 4"/>
          <p:cNvSpPr/>
          <p:nvPr/>
        </p:nvSpPr>
        <p:spPr>
          <a:xfrm>
            <a:off x="274320" y="1188720"/>
            <a:ext cx="393156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8" name="TextBox 5"/>
          <p:cNvSpPr/>
          <p:nvPr/>
        </p:nvSpPr>
        <p:spPr>
          <a:xfrm>
            <a:off x="320040" y="1234440"/>
            <a:ext cx="3840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Task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Rectangle 6"/>
          <p:cNvSpPr/>
          <p:nvPr/>
        </p:nvSpPr>
        <p:spPr>
          <a:xfrm>
            <a:off x="4206240" y="1188720"/>
            <a:ext cx="210276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0" name="TextBox 7"/>
          <p:cNvSpPr/>
          <p:nvPr/>
        </p:nvSpPr>
        <p:spPr>
          <a:xfrm>
            <a:off x="4251960" y="123444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Model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ectangle 8"/>
          <p:cNvSpPr/>
          <p:nvPr/>
        </p:nvSpPr>
        <p:spPr>
          <a:xfrm>
            <a:off x="6309360" y="1188720"/>
            <a:ext cx="164556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2" name="TextBox 9"/>
          <p:cNvSpPr/>
          <p:nvPr/>
        </p:nvSpPr>
        <p:spPr>
          <a:xfrm>
            <a:off x="6355080" y="123444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API Mode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Rectangle 10"/>
          <p:cNvSpPr/>
          <p:nvPr/>
        </p:nvSpPr>
        <p:spPr>
          <a:xfrm>
            <a:off x="7955280" y="1188720"/>
            <a:ext cx="3958920" cy="3470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4" name="TextBox 11"/>
          <p:cNvSpPr/>
          <p:nvPr/>
        </p:nvSpPr>
        <p:spPr>
          <a:xfrm>
            <a:off x="8001000" y="1234440"/>
            <a:ext cx="3867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Approx. Cost per 1K items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Rectangle 12"/>
          <p:cNvSpPr/>
          <p:nvPr/>
        </p:nvSpPr>
        <p:spPr>
          <a:xfrm>
            <a:off x="274320" y="1536120"/>
            <a:ext cx="39315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6" name="TextBox 13"/>
          <p:cNvSpPr/>
          <p:nvPr/>
        </p:nvSpPr>
        <p:spPr>
          <a:xfrm>
            <a:off x="320040" y="1572840"/>
            <a:ext cx="3840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Complex ADR reasoning / drug interactions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" name="Rectangle 14"/>
          <p:cNvSpPr/>
          <p:nvPr/>
        </p:nvSpPr>
        <p:spPr>
          <a:xfrm>
            <a:off x="4206240" y="1536120"/>
            <a:ext cx="21027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8" name="TextBox 15"/>
          <p:cNvSpPr/>
          <p:nvPr/>
        </p:nvSpPr>
        <p:spPr>
          <a:xfrm>
            <a:off x="4251960" y="1572840"/>
            <a:ext cx="2011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Opus 4.8 + effort:high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Rectangle 16"/>
          <p:cNvSpPr/>
          <p:nvPr/>
        </p:nvSpPr>
        <p:spPr>
          <a:xfrm>
            <a:off x="6309360" y="1536120"/>
            <a:ext cx="16455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0" name="TextBox 17"/>
          <p:cNvSpPr/>
          <p:nvPr/>
        </p:nvSpPr>
        <p:spPr>
          <a:xfrm>
            <a:off x="6355080" y="157284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Real-time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Rectangle 18"/>
          <p:cNvSpPr/>
          <p:nvPr/>
        </p:nvSpPr>
        <p:spPr>
          <a:xfrm>
            <a:off x="7955280" y="1536120"/>
            <a:ext cx="395892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2" name="TextBox 19"/>
          <p:cNvSpPr/>
          <p:nvPr/>
        </p:nvSpPr>
        <p:spPr>
          <a:xfrm>
            <a:off x="8001000" y="1572840"/>
            <a:ext cx="3867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~$5–15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Rectangle 20"/>
          <p:cNvSpPr/>
          <p:nvPr/>
        </p:nvSpPr>
        <p:spPr>
          <a:xfrm>
            <a:off x="274320" y="1883520"/>
            <a:ext cx="39315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TextBox 21"/>
          <p:cNvSpPr/>
          <p:nvPr/>
        </p:nvSpPr>
        <p:spPr>
          <a:xfrm>
            <a:off x="320040" y="1920240"/>
            <a:ext cx="3840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Literature summarization (long PDFs)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Rectangle 22"/>
          <p:cNvSpPr/>
          <p:nvPr/>
        </p:nvSpPr>
        <p:spPr>
          <a:xfrm>
            <a:off x="4206240" y="1883520"/>
            <a:ext cx="21027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6" name="TextBox 23"/>
          <p:cNvSpPr/>
          <p:nvPr/>
        </p:nvSpPr>
        <p:spPr>
          <a:xfrm>
            <a:off x="4251960" y="1920240"/>
            <a:ext cx="2011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Opus 4.8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Rectangle 24"/>
          <p:cNvSpPr/>
          <p:nvPr/>
        </p:nvSpPr>
        <p:spPr>
          <a:xfrm>
            <a:off x="6309360" y="1883520"/>
            <a:ext cx="16455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8" name="TextBox 25"/>
          <p:cNvSpPr/>
          <p:nvPr/>
        </p:nvSpPr>
        <p:spPr>
          <a:xfrm>
            <a:off x="6355080" y="192024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Files API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" name="Rectangle 26"/>
          <p:cNvSpPr/>
          <p:nvPr/>
        </p:nvSpPr>
        <p:spPr>
          <a:xfrm>
            <a:off x="7955280" y="1883520"/>
            <a:ext cx="395892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0" name="TextBox 27"/>
          <p:cNvSpPr/>
          <p:nvPr/>
        </p:nvSpPr>
        <p:spPr>
          <a:xfrm>
            <a:off x="8001000" y="1920240"/>
            <a:ext cx="3867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~$5–10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" name="Rectangle 28"/>
          <p:cNvSpPr/>
          <p:nvPr/>
        </p:nvSpPr>
        <p:spPr>
          <a:xfrm>
            <a:off x="274320" y="2231280"/>
            <a:ext cx="39315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2" name="TextBox 29"/>
          <p:cNvSpPr/>
          <p:nvPr/>
        </p:nvSpPr>
        <p:spPr>
          <a:xfrm>
            <a:off x="320040" y="2267640"/>
            <a:ext cx="3840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MedDRA PT coding (bulk)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Rectangle 30"/>
          <p:cNvSpPr/>
          <p:nvPr/>
        </p:nvSpPr>
        <p:spPr>
          <a:xfrm>
            <a:off x="4206240" y="2231280"/>
            <a:ext cx="21027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4" name="TextBox 31"/>
          <p:cNvSpPr/>
          <p:nvPr/>
        </p:nvSpPr>
        <p:spPr>
          <a:xfrm>
            <a:off x="4251960" y="2267640"/>
            <a:ext cx="2011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Haiku 4.5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Rectangle 32"/>
          <p:cNvSpPr/>
          <p:nvPr/>
        </p:nvSpPr>
        <p:spPr>
          <a:xfrm>
            <a:off x="6309360" y="2231280"/>
            <a:ext cx="16455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6" name="TextBox 33"/>
          <p:cNvSpPr/>
          <p:nvPr/>
        </p:nvSpPr>
        <p:spPr>
          <a:xfrm>
            <a:off x="6355080" y="226764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Batch API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ectangle 34"/>
          <p:cNvSpPr/>
          <p:nvPr/>
        </p:nvSpPr>
        <p:spPr>
          <a:xfrm>
            <a:off x="7955280" y="2231280"/>
            <a:ext cx="395892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8" name="TextBox 35"/>
          <p:cNvSpPr/>
          <p:nvPr/>
        </p:nvSpPr>
        <p:spPr>
          <a:xfrm>
            <a:off x="8001000" y="2267640"/>
            <a:ext cx="3867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~$0.25–0.5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Rectangle 36"/>
          <p:cNvSpPr/>
          <p:nvPr/>
        </p:nvSpPr>
        <p:spPr>
          <a:xfrm>
            <a:off x="274320" y="2578680"/>
            <a:ext cx="39315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0" name="TextBox 37"/>
          <p:cNvSpPr/>
          <p:nvPr/>
        </p:nvSpPr>
        <p:spPr>
          <a:xfrm>
            <a:off x="320040" y="2615040"/>
            <a:ext cx="3840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Clinical narrative extraction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Rectangle 38"/>
          <p:cNvSpPr/>
          <p:nvPr/>
        </p:nvSpPr>
        <p:spPr>
          <a:xfrm>
            <a:off x="4206240" y="2578680"/>
            <a:ext cx="21027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2" name="TextBox 39"/>
          <p:cNvSpPr/>
          <p:nvPr/>
        </p:nvSpPr>
        <p:spPr>
          <a:xfrm>
            <a:off x="4251960" y="2615040"/>
            <a:ext cx="2011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Sonnet 4.6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" name="Rectangle 40"/>
          <p:cNvSpPr/>
          <p:nvPr/>
        </p:nvSpPr>
        <p:spPr>
          <a:xfrm>
            <a:off x="6309360" y="2578680"/>
            <a:ext cx="16455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4" name="TextBox 41"/>
          <p:cNvSpPr/>
          <p:nvPr/>
        </p:nvSpPr>
        <p:spPr>
          <a:xfrm>
            <a:off x="6355080" y="261504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Real-time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Rectangle 42"/>
          <p:cNvSpPr/>
          <p:nvPr/>
        </p:nvSpPr>
        <p:spPr>
          <a:xfrm>
            <a:off x="7955280" y="2578680"/>
            <a:ext cx="395892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6" name="TextBox 43"/>
          <p:cNvSpPr/>
          <p:nvPr/>
        </p:nvSpPr>
        <p:spPr>
          <a:xfrm>
            <a:off x="8001000" y="2615040"/>
            <a:ext cx="3867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~$1.5–3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Rectangle 44"/>
          <p:cNvSpPr/>
          <p:nvPr/>
        </p:nvSpPr>
        <p:spPr>
          <a:xfrm>
            <a:off x="274320" y="2926080"/>
            <a:ext cx="39315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8" name="TextBox 45"/>
          <p:cNvSpPr/>
          <p:nvPr/>
        </p:nvSpPr>
        <p:spPr>
          <a:xfrm>
            <a:off x="320040" y="2962800"/>
            <a:ext cx="3840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FAERS quarterly update (100K reports)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Rectangle 46"/>
          <p:cNvSpPr/>
          <p:nvPr/>
        </p:nvSpPr>
        <p:spPr>
          <a:xfrm>
            <a:off x="4206240" y="2926080"/>
            <a:ext cx="21027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0" name="TextBox 47"/>
          <p:cNvSpPr/>
          <p:nvPr/>
        </p:nvSpPr>
        <p:spPr>
          <a:xfrm>
            <a:off x="4251960" y="2962800"/>
            <a:ext cx="2011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Haiku 4.5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Rectangle 48"/>
          <p:cNvSpPr/>
          <p:nvPr/>
        </p:nvSpPr>
        <p:spPr>
          <a:xfrm>
            <a:off x="6309360" y="2926080"/>
            <a:ext cx="164556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2" name="TextBox 49"/>
          <p:cNvSpPr/>
          <p:nvPr/>
        </p:nvSpPr>
        <p:spPr>
          <a:xfrm>
            <a:off x="6355080" y="296280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Batch API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Rectangle 50"/>
          <p:cNvSpPr/>
          <p:nvPr/>
        </p:nvSpPr>
        <p:spPr>
          <a:xfrm>
            <a:off x="7955280" y="2926080"/>
            <a:ext cx="3958920" cy="34704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4" name="TextBox 51"/>
          <p:cNvSpPr/>
          <p:nvPr/>
        </p:nvSpPr>
        <p:spPr>
          <a:xfrm>
            <a:off x="8001000" y="2962800"/>
            <a:ext cx="3867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~$0.5 total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5" name="Rectangle 52"/>
          <p:cNvSpPr/>
          <p:nvPr/>
        </p:nvSpPr>
        <p:spPr>
          <a:xfrm>
            <a:off x="274320" y="3273480"/>
            <a:ext cx="39315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6" name="TextBox 53"/>
          <p:cNvSpPr/>
          <p:nvPr/>
        </p:nvSpPr>
        <p:spPr>
          <a:xfrm>
            <a:off x="320040" y="3310200"/>
            <a:ext cx="3840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Research agent (multi-step with tools)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Rectangle 54"/>
          <p:cNvSpPr/>
          <p:nvPr/>
        </p:nvSpPr>
        <p:spPr>
          <a:xfrm>
            <a:off x="4206240" y="3273480"/>
            <a:ext cx="21027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8" name="TextBox 55"/>
          <p:cNvSpPr/>
          <p:nvPr/>
        </p:nvSpPr>
        <p:spPr>
          <a:xfrm>
            <a:off x="4251960" y="3310200"/>
            <a:ext cx="2011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Opus 4.8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Rectangle 56"/>
          <p:cNvSpPr/>
          <p:nvPr/>
        </p:nvSpPr>
        <p:spPr>
          <a:xfrm>
            <a:off x="6309360" y="3273480"/>
            <a:ext cx="164556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0" name="TextBox 57"/>
          <p:cNvSpPr/>
          <p:nvPr/>
        </p:nvSpPr>
        <p:spPr>
          <a:xfrm>
            <a:off x="6355080" y="3310200"/>
            <a:ext cx="155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Tool loop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" name="Rectangle 58"/>
          <p:cNvSpPr/>
          <p:nvPr/>
        </p:nvSpPr>
        <p:spPr>
          <a:xfrm>
            <a:off x="7955280" y="3273480"/>
            <a:ext cx="3958920" cy="3470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2" name="TextBox 59"/>
          <p:cNvSpPr/>
          <p:nvPr/>
        </p:nvSpPr>
        <p:spPr>
          <a:xfrm>
            <a:off x="8001000" y="3310200"/>
            <a:ext cx="3867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~$10–30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TextBox 60"/>
          <p:cNvSpPr/>
          <p:nvPr/>
        </p:nvSpPr>
        <p:spPr>
          <a:xfrm>
            <a:off x="274320" y="4800600"/>
            <a:ext cx="11612520" cy="8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Cost optimization checklist: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☑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Haiku for bulk classification (10× cheaper than Opus)   ·   ☑  Batch API for async processing (50% off)   ·   ☑  Prompt caching for repeated drug knowledge bases (90% off)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☑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Files API to avoid re-uploading large PDFs   ·   ☑  Set max_tokens conservatively — charged for actual output, not the limit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5" name="Rectangle 2"/>
          <p:cNvSpPr/>
          <p:nvPr/>
        </p:nvSpPr>
        <p:spPr>
          <a:xfrm>
            <a:off x="0" y="0"/>
            <a:ext cx="12188520" cy="727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6" name="TextBox 3"/>
          <p:cNvSpPr/>
          <p:nvPr/>
        </p:nvSpPr>
        <p:spPr>
          <a:xfrm>
            <a:off x="457200" y="274320"/>
            <a:ext cx="11246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Summary &amp; Next Steps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Rectangle 4"/>
          <p:cNvSpPr/>
          <p:nvPr/>
        </p:nvSpPr>
        <p:spPr>
          <a:xfrm>
            <a:off x="457200" y="1005840"/>
            <a:ext cx="10789560" cy="363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8" name="Rectangle 5"/>
          <p:cNvSpPr/>
          <p:nvPr/>
        </p:nvSpPr>
        <p:spPr>
          <a:xfrm>
            <a:off x="457200" y="1143000"/>
            <a:ext cx="3657240" cy="411444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9" name="Rectangle 6"/>
          <p:cNvSpPr/>
          <p:nvPr/>
        </p:nvSpPr>
        <p:spPr>
          <a:xfrm>
            <a:off x="457200" y="1143000"/>
            <a:ext cx="3657240" cy="543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0" name="TextBox 7"/>
          <p:cNvSpPr/>
          <p:nvPr/>
        </p:nvSpPr>
        <p:spPr>
          <a:xfrm>
            <a:off x="567000" y="1234440"/>
            <a:ext cx="34743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4a9ed6"/>
                </a:solidFill>
                <a:latin typeface="Calibri"/>
              </a:rPr>
              <a:t>Part 1: Prompting Ladder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Box 8"/>
          <p:cNvSpPr/>
          <p:nvPr/>
        </p:nvSpPr>
        <p:spPr>
          <a:xfrm>
            <a:off x="567000" y="1874520"/>
            <a:ext cx="343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Simple call → System prompt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TextBox 9"/>
          <p:cNvSpPr/>
          <p:nvPr/>
        </p:nvSpPr>
        <p:spPr>
          <a:xfrm>
            <a:off x="567000" y="2651760"/>
            <a:ext cx="343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 →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Multi-turn → Thinking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3" name="TextBox 10"/>
          <p:cNvSpPr/>
          <p:nvPr/>
        </p:nvSpPr>
        <p:spPr>
          <a:xfrm>
            <a:off x="567000" y="3429000"/>
            <a:ext cx="343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 →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Tools → Structured output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TextBox 11"/>
          <p:cNvSpPr/>
          <p:nvPr/>
        </p:nvSpPr>
        <p:spPr>
          <a:xfrm>
            <a:off x="567000" y="4206240"/>
            <a:ext cx="343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 →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Prompt caching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Rectangle 12"/>
          <p:cNvSpPr/>
          <p:nvPr/>
        </p:nvSpPr>
        <p:spPr>
          <a:xfrm>
            <a:off x="4370760" y="1143000"/>
            <a:ext cx="3657240" cy="411444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6" name="Rectangle 13"/>
          <p:cNvSpPr/>
          <p:nvPr/>
        </p:nvSpPr>
        <p:spPr>
          <a:xfrm>
            <a:off x="4370760" y="1143000"/>
            <a:ext cx="3657240" cy="5436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7" name="TextBox 14"/>
          <p:cNvSpPr/>
          <p:nvPr/>
        </p:nvSpPr>
        <p:spPr>
          <a:xfrm>
            <a:off x="4480560" y="1234440"/>
            <a:ext cx="34743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5ac87a"/>
                </a:solidFill>
                <a:latin typeface="Calibri"/>
              </a:rPr>
              <a:t>Part 2: VS Code / CLI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Box 15"/>
          <p:cNvSpPr/>
          <p:nvPr/>
        </p:nvSpPr>
        <p:spPr>
          <a:xfrm>
            <a:off x="4480560" y="1874520"/>
            <a:ext cx="343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CLAUDE.md = project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Box 16"/>
          <p:cNvSpPr/>
          <p:nvPr/>
        </p:nvSpPr>
        <p:spPr>
          <a:xfrm>
            <a:off x="4480560" y="2651760"/>
            <a:ext cx="343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/plan before code changes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0" name="TextBox 17"/>
          <p:cNvSpPr/>
          <p:nvPr/>
        </p:nvSpPr>
        <p:spPr>
          <a:xfrm>
            <a:off x="4480560" y="3429000"/>
            <a:ext cx="343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MCP connects Claude to your DB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TextBox 18"/>
          <p:cNvSpPr/>
          <p:nvPr/>
        </p:nvSpPr>
        <p:spPr>
          <a:xfrm>
            <a:off x="4480560" y="4206240"/>
            <a:ext cx="343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/cost to monitor spending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Rectangle 19"/>
          <p:cNvSpPr/>
          <p:nvPr/>
        </p:nvSpPr>
        <p:spPr>
          <a:xfrm>
            <a:off x="8284320" y="1143000"/>
            <a:ext cx="3657240" cy="411444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3" name="Rectangle 20"/>
          <p:cNvSpPr/>
          <p:nvPr/>
        </p:nvSpPr>
        <p:spPr>
          <a:xfrm>
            <a:off x="8284320" y="1143000"/>
            <a:ext cx="3657240" cy="543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4" name="TextBox 21"/>
          <p:cNvSpPr/>
          <p:nvPr/>
        </p:nvSpPr>
        <p:spPr>
          <a:xfrm>
            <a:off x="8394120" y="1234440"/>
            <a:ext cx="34743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d46212"/>
                </a:solidFill>
                <a:latin typeface="Calibri"/>
              </a:rPr>
              <a:t>Part 3: Healthcare Stack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22"/>
          <p:cNvSpPr/>
          <p:nvPr/>
        </p:nvSpPr>
        <p:spPr>
          <a:xfrm>
            <a:off x="8394120" y="1874520"/>
            <a:ext cx="343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LanceDB + Claude = grounded RAG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TextBox 23"/>
          <p:cNvSpPr/>
          <p:nvPr/>
        </p:nvSpPr>
        <p:spPr>
          <a:xfrm>
            <a:off x="8394120" y="2651760"/>
            <a:ext cx="343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Haiku + Batch = cheap FAERS coding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7" name="TextBox 24"/>
          <p:cNvSpPr/>
          <p:nvPr/>
        </p:nvSpPr>
        <p:spPr>
          <a:xfrm>
            <a:off x="8394120" y="3429000"/>
            <a:ext cx="343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Files API + citations = auditable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TextBox 25"/>
          <p:cNvSpPr/>
          <p:nvPr/>
        </p:nvSpPr>
        <p:spPr>
          <a:xfrm>
            <a:off x="8394120" y="4206240"/>
            <a:ext cx="343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e8e8e8"/>
                </a:solidFill>
                <a:latin typeface="Calibri"/>
              </a:rPr>
              <a:t>FAERS is safe; PHI needs BAA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TextBox 26"/>
          <p:cNvSpPr/>
          <p:nvPr/>
        </p:nvSpPr>
        <p:spPr>
          <a:xfrm>
            <a:off x="457200" y="5394960"/>
            <a:ext cx="112467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Next steps: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27"/>
          <p:cNvSpPr/>
          <p:nvPr/>
        </p:nvSpPr>
        <p:spPr>
          <a:xfrm>
            <a:off x="457200" y="5833800"/>
            <a:ext cx="11246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1  npm install -g @anthropic-ai/claude-code   2  Create CLAUDE.md in your ADR project   3  Run the FAERS batch classification notebook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2026-06-29T13:40:41Z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