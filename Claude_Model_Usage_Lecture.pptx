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8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72" r:id="rId11"/>
    <p:sldMasterId id="2147483674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B9C9862-12BF-4CC7-817D-A914605DAA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1EBCED1-BEDA-41DB-A1DD-F233348CF69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0053000" y="273600"/>
            <a:ext cx="152640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120" y="273240"/>
            <a:ext cx="8531640" cy="530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28B329D-35D5-41C5-9952-395CB19140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8062866-6007-4CD3-9267-ECF3ECA3D9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4AE3195-D04D-4988-8266-66FFD5FC72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BAA31D3-08F1-482C-A7C0-18C2F1223C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5E2F708-25EB-41BE-B801-B38E852942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D3644F2-F38E-4884-9440-D6AEB1F342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6D69A0F-C0D7-4410-AECB-A79F09B97C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F8C7ECF-A3D2-4B09-BF05-BAE917C615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0053000" y="273600"/>
            <a:ext cx="152640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120" y="273240"/>
            <a:ext cx="8531640" cy="530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48659CF-FE07-4AF8-B052-C4003A95B1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D4C9BFF-EF31-4A13-8D0B-42889A1FB3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EC3ED60-E7F5-4D79-847E-1706580837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B1CCCB1-4A18-4159-9890-1E2D18EC46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1C7DBAF-BB33-4F04-A748-F9E8BCAC6A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47D3754-F5F2-458A-949B-375743C6A0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B540464-58C0-4385-AF73-9CAF420690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6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741EE13-8CE6-4EBC-B75F-2D3D9C3BE2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486B3CF-2BD3-44F0-8661-008756C968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43AFACB-7B72-4F2A-B32A-AAA30D293E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B158390-DD8C-4834-AA3C-D7C313CBBC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5F1BE8C-807D-438C-9477-8FC60B16AD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6D8F2A8-EF54-4B8F-9BBB-4C7390B939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B6D3098-BBF2-4CCB-AC02-FF9808E75D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B924FF5-E623-4BA6-A6F0-D49A080362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2FE7244-7576-48F4-90C6-C5B4E5B6B6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D105EB2-49F9-4A7B-8787-06C1210813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646BA97-01CF-44B3-8F36-57B86BFAAE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2"/>
          <p:cNvSpPr/>
          <p:nvPr/>
        </p:nvSpPr>
        <p:spPr>
          <a:xfrm>
            <a:off x="0" y="0"/>
            <a:ext cx="12187440" cy="71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ectangle 3"/>
          <p:cNvSpPr/>
          <p:nvPr/>
        </p:nvSpPr>
        <p:spPr>
          <a:xfrm>
            <a:off x="0" y="6784920"/>
            <a:ext cx="12187440" cy="71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Oval 4"/>
          <p:cNvSpPr/>
          <p:nvPr/>
        </p:nvSpPr>
        <p:spPr>
          <a:xfrm>
            <a:off x="8321040" y="1005840"/>
            <a:ext cx="2558880" cy="2558880"/>
          </a:xfrm>
          <a:prstGeom prst="ellipse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Oval 5"/>
          <p:cNvSpPr/>
          <p:nvPr/>
        </p:nvSpPr>
        <p:spPr>
          <a:xfrm>
            <a:off x="9692640" y="4206240"/>
            <a:ext cx="1644480" cy="1644480"/>
          </a:xfrm>
          <a:prstGeom prst="ellipse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914400" y="1371600"/>
            <a:ext cx="8228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D46212"/>
                </a:solidFill>
                <a:effectLst/>
                <a:uFillTx/>
                <a:latin typeface="Calibri"/>
              </a:rPr>
              <a:t>CLAUDE MODEL USAGE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"/>
          <p:cNvSpPr/>
          <p:nvPr/>
        </p:nvSpPr>
        <p:spPr>
          <a:xfrm>
            <a:off x="914400" y="1920240"/>
            <a:ext cx="8685360" cy="13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 Practical Lecture for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Healthcare AI Researchers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8"/>
          <p:cNvSpPr/>
          <p:nvPr/>
        </p:nvSpPr>
        <p:spPr>
          <a:xfrm>
            <a:off x="914400" y="3520440"/>
            <a:ext cx="5027760" cy="4428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9"/>
          <p:cNvSpPr/>
          <p:nvPr/>
        </p:nvSpPr>
        <p:spPr>
          <a:xfrm>
            <a:off x="914400" y="3749040"/>
            <a:ext cx="5942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1   Prompting: Simple to Complex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2   VS Code Extension &amp; Claude Code CLI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3   Agent Orchestration - Healthcare Research Usage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914400" y="6035040"/>
            <a:ext cx="7313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Prerequisites: Python 3.9+  •  pip install anthropic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Agenda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4"/>
          <p:cNvSpPr/>
          <p:nvPr/>
        </p:nvSpPr>
        <p:spPr>
          <a:xfrm>
            <a:off x="274320" y="1188720"/>
            <a:ext cx="3656160" cy="51192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5"/>
          <p:cNvSpPr/>
          <p:nvPr/>
        </p:nvSpPr>
        <p:spPr>
          <a:xfrm>
            <a:off x="274320" y="1188720"/>
            <a:ext cx="3656160" cy="4428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411480" y="1371600"/>
            <a:ext cx="3381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411480" y="1783080"/>
            <a:ext cx="3381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Prompting: Simple → Complex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411480" y="2651760"/>
            <a:ext cx="3381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API basics · System prompts · Multi-turn · Thinking · Tools · Structured output · Caching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9"/>
          <p:cNvSpPr/>
          <p:nvPr/>
        </p:nvSpPr>
        <p:spPr>
          <a:xfrm>
            <a:off x="4233600" y="1188720"/>
            <a:ext cx="3656160" cy="51192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10"/>
          <p:cNvSpPr/>
          <p:nvPr/>
        </p:nvSpPr>
        <p:spPr>
          <a:xfrm>
            <a:off x="4233600" y="1188720"/>
            <a:ext cx="3656160" cy="4428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4370760" y="1371600"/>
            <a:ext cx="3381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4370760" y="1783080"/>
            <a:ext cx="3381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VS Code Extension &amp; Claude Code CLI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4370760" y="2651760"/>
            <a:ext cx="3381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Installation · Slash commands · MCP · CLAUDE.md project memory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2743200"/>
            <a:ext cx="12187440" cy="71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731520" y="548640"/>
            <a:ext cx="1005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PART 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731520" y="1371600"/>
            <a:ext cx="1069704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Prompting Claude: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Simple to Complex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914400" y="3200400"/>
            <a:ext cx="103312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From a one-liner to agents — building blocks every researcher needs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 Model Family (2026)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274320" y="1143000"/>
            <a:ext cx="155304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320040" y="1188720"/>
            <a:ext cx="1461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6"/>
          <p:cNvSpPr/>
          <p:nvPr/>
        </p:nvSpPr>
        <p:spPr>
          <a:xfrm>
            <a:off x="1828800" y="1143000"/>
            <a:ext cx="210168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7"/>
          <p:cNvSpPr/>
          <p:nvPr/>
        </p:nvSpPr>
        <p:spPr>
          <a:xfrm>
            <a:off x="1874520" y="1188720"/>
            <a:ext cx="2010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8"/>
          <p:cNvSpPr/>
          <p:nvPr/>
        </p:nvSpPr>
        <p:spPr>
          <a:xfrm>
            <a:off x="3931920" y="1143000"/>
            <a:ext cx="100440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3977640" y="1188720"/>
            <a:ext cx="912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Context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10"/>
          <p:cNvSpPr/>
          <p:nvPr/>
        </p:nvSpPr>
        <p:spPr>
          <a:xfrm>
            <a:off x="4937760" y="1143000"/>
            <a:ext cx="100440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1"/>
          <p:cNvSpPr/>
          <p:nvPr/>
        </p:nvSpPr>
        <p:spPr>
          <a:xfrm>
            <a:off x="4983480" y="1188720"/>
            <a:ext cx="912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Input $/1M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12"/>
          <p:cNvSpPr/>
          <p:nvPr/>
        </p:nvSpPr>
        <p:spPr>
          <a:xfrm>
            <a:off x="5943600" y="1143000"/>
            <a:ext cx="118728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13"/>
          <p:cNvSpPr/>
          <p:nvPr/>
        </p:nvSpPr>
        <p:spPr>
          <a:xfrm>
            <a:off x="5989320" y="1188720"/>
            <a:ext cx="1095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Output $/1M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14"/>
          <p:cNvSpPr/>
          <p:nvPr/>
        </p:nvSpPr>
        <p:spPr>
          <a:xfrm>
            <a:off x="7132320" y="1143000"/>
            <a:ext cx="478080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5"/>
          <p:cNvSpPr/>
          <p:nvPr/>
        </p:nvSpPr>
        <p:spPr>
          <a:xfrm>
            <a:off x="7178040" y="1188720"/>
            <a:ext cx="4689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Best For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16"/>
          <p:cNvSpPr/>
          <p:nvPr/>
        </p:nvSpPr>
        <p:spPr>
          <a:xfrm>
            <a:off x="274320" y="1490400"/>
            <a:ext cx="155304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7"/>
          <p:cNvSpPr/>
          <p:nvPr/>
        </p:nvSpPr>
        <p:spPr>
          <a:xfrm>
            <a:off x="320040" y="1527120"/>
            <a:ext cx="1461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Fable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8"/>
          <p:cNvSpPr/>
          <p:nvPr/>
        </p:nvSpPr>
        <p:spPr>
          <a:xfrm>
            <a:off x="1828800" y="1490400"/>
            <a:ext cx="2101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9"/>
          <p:cNvSpPr/>
          <p:nvPr/>
        </p:nvSpPr>
        <p:spPr>
          <a:xfrm>
            <a:off x="1874520" y="1527120"/>
            <a:ext cx="2010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claude-fable-5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20"/>
          <p:cNvSpPr/>
          <p:nvPr/>
        </p:nvSpPr>
        <p:spPr>
          <a:xfrm>
            <a:off x="3931920" y="1490400"/>
            <a:ext cx="10044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21"/>
          <p:cNvSpPr/>
          <p:nvPr/>
        </p:nvSpPr>
        <p:spPr>
          <a:xfrm>
            <a:off x="3977640" y="15271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1M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22"/>
          <p:cNvSpPr/>
          <p:nvPr/>
        </p:nvSpPr>
        <p:spPr>
          <a:xfrm>
            <a:off x="4937760" y="1490400"/>
            <a:ext cx="10044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23"/>
          <p:cNvSpPr/>
          <p:nvPr/>
        </p:nvSpPr>
        <p:spPr>
          <a:xfrm>
            <a:off x="4983480" y="15271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24"/>
          <p:cNvSpPr/>
          <p:nvPr/>
        </p:nvSpPr>
        <p:spPr>
          <a:xfrm>
            <a:off x="5943600" y="1490400"/>
            <a:ext cx="11872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25"/>
          <p:cNvSpPr/>
          <p:nvPr/>
        </p:nvSpPr>
        <p:spPr>
          <a:xfrm>
            <a:off x="5989320" y="1527120"/>
            <a:ext cx="1095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$50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26"/>
          <p:cNvSpPr/>
          <p:nvPr/>
        </p:nvSpPr>
        <p:spPr>
          <a:xfrm>
            <a:off x="7132320" y="1490400"/>
            <a:ext cx="47808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27"/>
          <p:cNvSpPr/>
          <p:nvPr/>
        </p:nvSpPr>
        <p:spPr>
          <a:xfrm>
            <a:off x="7178040" y="1527120"/>
            <a:ext cx="4689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Frontier reasoning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28"/>
          <p:cNvSpPr/>
          <p:nvPr/>
        </p:nvSpPr>
        <p:spPr>
          <a:xfrm>
            <a:off x="274320" y="1837800"/>
            <a:ext cx="155304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29"/>
          <p:cNvSpPr/>
          <p:nvPr/>
        </p:nvSpPr>
        <p:spPr>
          <a:xfrm>
            <a:off x="320040" y="1874520"/>
            <a:ext cx="1461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Opus 4.8 ★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30"/>
          <p:cNvSpPr/>
          <p:nvPr/>
        </p:nvSpPr>
        <p:spPr>
          <a:xfrm>
            <a:off x="1828800" y="1837800"/>
            <a:ext cx="21016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31"/>
          <p:cNvSpPr/>
          <p:nvPr/>
        </p:nvSpPr>
        <p:spPr>
          <a:xfrm>
            <a:off x="1874520" y="1874520"/>
            <a:ext cx="2010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claude-opus-4-8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32"/>
          <p:cNvSpPr/>
          <p:nvPr/>
        </p:nvSpPr>
        <p:spPr>
          <a:xfrm>
            <a:off x="3931920" y="1837800"/>
            <a:ext cx="10044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33"/>
          <p:cNvSpPr/>
          <p:nvPr/>
        </p:nvSpPr>
        <p:spPr>
          <a:xfrm>
            <a:off x="3977640" y="18745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1M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34"/>
          <p:cNvSpPr/>
          <p:nvPr/>
        </p:nvSpPr>
        <p:spPr>
          <a:xfrm>
            <a:off x="4937760" y="1837800"/>
            <a:ext cx="10044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35"/>
          <p:cNvSpPr/>
          <p:nvPr/>
        </p:nvSpPr>
        <p:spPr>
          <a:xfrm>
            <a:off x="4983480" y="18745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36"/>
          <p:cNvSpPr/>
          <p:nvPr/>
        </p:nvSpPr>
        <p:spPr>
          <a:xfrm>
            <a:off x="5943600" y="1837800"/>
            <a:ext cx="11872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37"/>
          <p:cNvSpPr/>
          <p:nvPr/>
        </p:nvSpPr>
        <p:spPr>
          <a:xfrm>
            <a:off x="5989320" y="1874520"/>
            <a:ext cx="1095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$25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38"/>
          <p:cNvSpPr/>
          <p:nvPr/>
        </p:nvSpPr>
        <p:spPr>
          <a:xfrm>
            <a:off x="7132320" y="1837800"/>
            <a:ext cx="47808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39"/>
          <p:cNvSpPr/>
          <p:nvPr/>
        </p:nvSpPr>
        <p:spPr>
          <a:xfrm>
            <a:off x="7178040" y="1874520"/>
            <a:ext cx="4689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Complex research (default)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40"/>
          <p:cNvSpPr/>
          <p:nvPr/>
        </p:nvSpPr>
        <p:spPr>
          <a:xfrm>
            <a:off x="274320" y="2185560"/>
            <a:ext cx="155304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41"/>
          <p:cNvSpPr/>
          <p:nvPr/>
        </p:nvSpPr>
        <p:spPr>
          <a:xfrm>
            <a:off x="320040" y="2221920"/>
            <a:ext cx="1461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Sonnet 4.6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42"/>
          <p:cNvSpPr/>
          <p:nvPr/>
        </p:nvSpPr>
        <p:spPr>
          <a:xfrm>
            <a:off x="1828800" y="2185560"/>
            <a:ext cx="2101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43"/>
          <p:cNvSpPr/>
          <p:nvPr/>
        </p:nvSpPr>
        <p:spPr>
          <a:xfrm>
            <a:off x="1874520" y="2221920"/>
            <a:ext cx="2010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claude-sonnet-4-6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44"/>
          <p:cNvSpPr/>
          <p:nvPr/>
        </p:nvSpPr>
        <p:spPr>
          <a:xfrm>
            <a:off x="3931920" y="2185560"/>
            <a:ext cx="10044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45"/>
          <p:cNvSpPr/>
          <p:nvPr/>
        </p:nvSpPr>
        <p:spPr>
          <a:xfrm>
            <a:off x="3977640" y="22219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1M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46"/>
          <p:cNvSpPr/>
          <p:nvPr/>
        </p:nvSpPr>
        <p:spPr>
          <a:xfrm>
            <a:off x="4937760" y="2185560"/>
            <a:ext cx="10044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47"/>
          <p:cNvSpPr/>
          <p:nvPr/>
        </p:nvSpPr>
        <p:spPr>
          <a:xfrm>
            <a:off x="4983480" y="22219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48"/>
          <p:cNvSpPr/>
          <p:nvPr/>
        </p:nvSpPr>
        <p:spPr>
          <a:xfrm>
            <a:off x="5943600" y="2185560"/>
            <a:ext cx="11872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49"/>
          <p:cNvSpPr/>
          <p:nvPr/>
        </p:nvSpPr>
        <p:spPr>
          <a:xfrm>
            <a:off x="5989320" y="2221920"/>
            <a:ext cx="1095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$15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50"/>
          <p:cNvSpPr/>
          <p:nvPr/>
        </p:nvSpPr>
        <p:spPr>
          <a:xfrm>
            <a:off x="7132320" y="2185560"/>
            <a:ext cx="47808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51"/>
          <p:cNvSpPr/>
          <p:nvPr/>
        </p:nvSpPr>
        <p:spPr>
          <a:xfrm>
            <a:off x="7178040" y="2221920"/>
            <a:ext cx="4689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Balanced speed/quality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52"/>
          <p:cNvSpPr/>
          <p:nvPr/>
        </p:nvSpPr>
        <p:spPr>
          <a:xfrm>
            <a:off x="274320" y="2532960"/>
            <a:ext cx="155304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53"/>
          <p:cNvSpPr/>
          <p:nvPr/>
        </p:nvSpPr>
        <p:spPr>
          <a:xfrm>
            <a:off x="320040" y="2569320"/>
            <a:ext cx="1461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Haiku 4.5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Rectangle 54"/>
          <p:cNvSpPr/>
          <p:nvPr/>
        </p:nvSpPr>
        <p:spPr>
          <a:xfrm>
            <a:off x="1828800" y="2532960"/>
            <a:ext cx="21016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55"/>
          <p:cNvSpPr/>
          <p:nvPr/>
        </p:nvSpPr>
        <p:spPr>
          <a:xfrm>
            <a:off x="1874520" y="2569320"/>
            <a:ext cx="2010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claude-haiku-4-5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56"/>
          <p:cNvSpPr/>
          <p:nvPr/>
        </p:nvSpPr>
        <p:spPr>
          <a:xfrm>
            <a:off x="3931920" y="2532960"/>
            <a:ext cx="10044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57"/>
          <p:cNvSpPr/>
          <p:nvPr/>
        </p:nvSpPr>
        <p:spPr>
          <a:xfrm>
            <a:off x="3977640" y="25693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200K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58"/>
          <p:cNvSpPr/>
          <p:nvPr/>
        </p:nvSpPr>
        <p:spPr>
          <a:xfrm>
            <a:off x="4937760" y="2532960"/>
            <a:ext cx="10044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59"/>
          <p:cNvSpPr/>
          <p:nvPr/>
        </p:nvSpPr>
        <p:spPr>
          <a:xfrm>
            <a:off x="4983480" y="2569320"/>
            <a:ext cx="912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60"/>
          <p:cNvSpPr/>
          <p:nvPr/>
        </p:nvSpPr>
        <p:spPr>
          <a:xfrm>
            <a:off x="5943600" y="2532960"/>
            <a:ext cx="11872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61"/>
          <p:cNvSpPr/>
          <p:nvPr/>
        </p:nvSpPr>
        <p:spPr>
          <a:xfrm>
            <a:off x="5989320" y="2569320"/>
            <a:ext cx="1095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$5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62"/>
          <p:cNvSpPr/>
          <p:nvPr/>
        </p:nvSpPr>
        <p:spPr>
          <a:xfrm>
            <a:off x="7132320" y="2532960"/>
            <a:ext cx="47808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63"/>
          <p:cNvSpPr/>
          <p:nvPr/>
        </p:nvSpPr>
        <p:spPr>
          <a:xfrm>
            <a:off x="7178040" y="2569320"/>
            <a:ext cx="4689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High-throughput classification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64"/>
          <p:cNvSpPr/>
          <p:nvPr/>
        </p:nvSpPr>
        <p:spPr>
          <a:xfrm>
            <a:off x="274320" y="4572000"/>
            <a:ext cx="11611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★  Default model — start here. Switch to Haiku only for bulk classification (FAERS batch coding).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65"/>
          <p:cNvSpPr/>
          <p:nvPr/>
        </p:nvSpPr>
        <p:spPr>
          <a:xfrm>
            <a:off x="274320" y="5120640"/>
            <a:ext cx="11611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Cost tip: Haiku is 5× cheaper than Opus.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1.1  The Simplest Request – Python API call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274320" y="1097280"/>
            <a:ext cx="53020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Three required fields in API call: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model      — which Claude model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max_tokens — output ceiling (not target)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messages   — list of {role, content} as a dictionary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5"/>
          <p:cNvSpPr/>
          <p:nvPr/>
        </p:nvSpPr>
        <p:spPr>
          <a:xfrm>
            <a:off x="274320" y="2286000"/>
            <a:ext cx="11611440" cy="29246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1994040" y="2395800"/>
            <a:ext cx="8172000" cy="260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import anthropic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client = anthropic.Anthropic()   # reads ANTHROPIC_API_KEY from env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response = client.messages.create(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model="claude-opus-4-8",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max_tokens=512,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messages=[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{"role": "user", "content": "What is pharmacovigilance? Give a 2-sentence definition."}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print(response.content[0].text)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print(f"Input: {response.usage.input_tokens} tokens")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print(f"Output: {response.usage.output_tokens} tokens")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274320" y="5349240"/>
            <a:ext cx="11611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Output: Pharmacovigilance is the science of detecting, assessing, and preventing adverse effects of medicines. It encompasses signal detection, risk management, and regulatory reporting.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1.2  System Prompts — Setting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Persona &amp; Context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4"/>
          <p:cNvSpPr/>
          <p:nvPr/>
        </p:nvSpPr>
        <p:spPr>
          <a:xfrm>
            <a:off x="274320" y="1097280"/>
            <a:ext cx="4113360" cy="14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The system parameter: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• Defines role and expertise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• Specifies output format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• Sets domain constraints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• Establishes vocabulary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Persists across the entire conversation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5"/>
          <p:cNvSpPr/>
          <p:nvPr/>
        </p:nvSpPr>
        <p:spPr>
          <a:xfrm>
            <a:off x="4480560" y="1097280"/>
            <a:ext cx="7496640" cy="50277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6"/>
          <p:cNvSpPr/>
          <p:nvPr/>
        </p:nvSpPr>
        <p:spPr>
          <a:xfrm>
            <a:off x="5633280" y="1207080"/>
            <a:ext cx="5190840" cy="31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PHARMA_SYSTEM = """You are an expert pharmacovigilance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scientist with deep knowledge of: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FDA FAERS (Adverse Event Reporting System)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MedDRA terminology (SOC/HLGT/HLT/PT hierarchy)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Drug safety signal detection (PRR, ROR, BCPNN)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ICH E2B guidelines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Always use MedDRA Preferred Terms (PT).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Be concise. Use medical terminology."""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response = client.messages.create(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model="claude-opus-4-8",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max_tokens=512,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system=PHARMA_SYSTEM,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messages=[{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"role": "user",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"content": "What are the cardiac ADRs of azithromycin?"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1.3  Multi-Turn Conversations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4"/>
          <p:cNvSpPr/>
          <p:nvPr/>
        </p:nvSpPr>
        <p:spPr>
          <a:xfrm>
            <a:off x="274320" y="1097280"/>
            <a:ext cx="11611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Claude's API is stateless — you send the </a:t>
            </a:r>
            <a:r>
              <a:rPr lang="en-US" sz="1300" b="1" u="none" strike="noStrike">
                <a:solidFill>
                  <a:srgbClr val="BF0041"/>
                </a:solidFill>
                <a:effectLst/>
                <a:uFillTx/>
                <a:latin typeface="Calibri"/>
              </a:rPr>
              <a:t>full/cumulated  conversation </a:t>
            </a:r>
            <a:r>
              <a:rPr lang="en-US" sz="1300" b="1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history</a:t>
            </a: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 on every request.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5"/>
          <p:cNvSpPr/>
          <p:nvPr/>
        </p:nvSpPr>
        <p:spPr>
          <a:xfrm>
            <a:off x="365760" y="1554480"/>
            <a:ext cx="3290400" cy="18273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457200" y="1600200"/>
            <a:ext cx="3107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Turn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502920" y="201168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[user: msg1]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8"/>
          <p:cNvSpPr/>
          <p:nvPr/>
        </p:nvSpPr>
        <p:spPr>
          <a:xfrm>
            <a:off x="502920" y="239580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9"/>
          <p:cNvSpPr/>
          <p:nvPr/>
        </p:nvSpPr>
        <p:spPr>
          <a:xfrm>
            <a:off x="502920" y="277992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reply1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0"/>
          <p:cNvSpPr/>
          <p:nvPr/>
        </p:nvSpPr>
        <p:spPr>
          <a:xfrm>
            <a:off x="4114800" y="1554480"/>
            <a:ext cx="3290400" cy="18273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11"/>
          <p:cNvSpPr/>
          <p:nvPr/>
        </p:nvSpPr>
        <p:spPr>
          <a:xfrm>
            <a:off x="4206240" y="1600200"/>
            <a:ext cx="3107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Turn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251960" y="201168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[msg1, reply1,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3"/>
          <p:cNvSpPr/>
          <p:nvPr/>
        </p:nvSpPr>
        <p:spPr>
          <a:xfrm>
            <a:off x="4251960" y="239580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user: msg2]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4"/>
          <p:cNvSpPr/>
          <p:nvPr/>
        </p:nvSpPr>
        <p:spPr>
          <a:xfrm>
            <a:off x="4251960" y="277992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→ reply2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15"/>
          <p:cNvSpPr/>
          <p:nvPr/>
        </p:nvSpPr>
        <p:spPr>
          <a:xfrm>
            <a:off x="7863840" y="1554480"/>
            <a:ext cx="3290400" cy="18273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16"/>
          <p:cNvSpPr/>
          <p:nvPr/>
        </p:nvSpPr>
        <p:spPr>
          <a:xfrm>
            <a:off x="7955280" y="1600200"/>
            <a:ext cx="3107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A9ED6"/>
                </a:solidFill>
                <a:effectLst/>
                <a:uFillTx/>
                <a:latin typeface="Calibri"/>
              </a:rPr>
              <a:t>Turn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8001000" y="201168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[msg1..msg2,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8"/>
          <p:cNvSpPr/>
          <p:nvPr/>
        </p:nvSpPr>
        <p:spPr>
          <a:xfrm>
            <a:off x="8001000" y="239580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reply2, msg3]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19"/>
          <p:cNvSpPr/>
          <p:nvPr/>
        </p:nvSpPr>
        <p:spPr>
          <a:xfrm>
            <a:off x="8001000" y="2779920"/>
            <a:ext cx="3016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→ reply3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20"/>
          <p:cNvSpPr/>
          <p:nvPr/>
        </p:nvSpPr>
        <p:spPr>
          <a:xfrm>
            <a:off x="274320" y="3520440"/>
            <a:ext cx="11611440" cy="26046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21"/>
          <p:cNvSpPr/>
          <p:nvPr/>
        </p:nvSpPr>
        <p:spPr>
          <a:xfrm>
            <a:off x="2808000" y="3630240"/>
            <a:ext cx="6544080" cy="184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def chat(history, user_message, system=None, model="claude-opus-4-8"):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history = history + [{"role": "user", "content": user_message}]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response = client.messages.create(model=model, max_tokens=512,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                        messages=history, system=system)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reply = response.content[0].text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return reply, history + [{"role": "assistant", "content": reply}]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history = []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reply, history = chat(history, "Which MedDRA SOC covers cardiovascular events?")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reply, history = chat(history, "List 5 important PT codes within that SOC.")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reply, history = chat(history, "Which are most reported for statins in FAERS?")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22"/>
          <p:cNvSpPr/>
          <p:nvPr/>
        </p:nvSpPr>
        <p:spPr>
          <a:xfrm>
            <a:off x="274320" y="6236280"/>
            <a:ext cx="11611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Cost tip: Each turn re-sends the entire history. Use prompt caching on the system prompt to save up to 90%.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1.5  Tool Use — Call Your Functions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4"/>
          <p:cNvSpPr/>
          <p:nvPr/>
        </p:nvSpPr>
        <p:spPr>
          <a:xfrm>
            <a:off x="274320" y="1143000"/>
            <a:ext cx="2010240" cy="50148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5"/>
          <p:cNvSpPr/>
          <p:nvPr/>
        </p:nvSpPr>
        <p:spPr>
          <a:xfrm>
            <a:off x="320040" y="1197720"/>
            <a:ext cx="1918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User Query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6"/>
          <p:cNvSpPr/>
          <p:nvPr/>
        </p:nvSpPr>
        <p:spPr>
          <a:xfrm>
            <a:off x="2286000" y="1261800"/>
            <a:ext cx="272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7"/>
          <p:cNvSpPr/>
          <p:nvPr/>
        </p:nvSpPr>
        <p:spPr>
          <a:xfrm>
            <a:off x="2560320" y="1143000"/>
            <a:ext cx="2010240" cy="50148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TextBox 8"/>
          <p:cNvSpPr/>
          <p:nvPr/>
        </p:nvSpPr>
        <p:spPr>
          <a:xfrm>
            <a:off x="2606040" y="1197720"/>
            <a:ext cx="1918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 → tool_use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9"/>
          <p:cNvSpPr/>
          <p:nvPr/>
        </p:nvSpPr>
        <p:spPr>
          <a:xfrm>
            <a:off x="4572000" y="1261800"/>
            <a:ext cx="272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10"/>
          <p:cNvSpPr/>
          <p:nvPr/>
        </p:nvSpPr>
        <p:spPr>
          <a:xfrm>
            <a:off x="4846320" y="1143000"/>
            <a:ext cx="2010240" cy="50148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1"/>
          <p:cNvSpPr/>
          <p:nvPr/>
        </p:nvSpPr>
        <p:spPr>
          <a:xfrm>
            <a:off x="4892040" y="1197720"/>
            <a:ext cx="1918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Your Code Runs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12"/>
          <p:cNvSpPr/>
          <p:nvPr/>
        </p:nvSpPr>
        <p:spPr>
          <a:xfrm>
            <a:off x="6858000" y="1261800"/>
            <a:ext cx="272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Rectangle 13"/>
          <p:cNvSpPr/>
          <p:nvPr/>
        </p:nvSpPr>
        <p:spPr>
          <a:xfrm>
            <a:off x="7132320" y="1143000"/>
            <a:ext cx="2010240" cy="50148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14"/>
          <p:cNvSpPr/>
          <p:nvPr/>
        </p:nvSpPr>
        <p:spPr>
          <a:xfrm>
            <a:off x="7178040" y="1197720"/>
            <a:ext cx="1918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tool_result 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15"/>
          <p:cNvSpPr/>
          <p:nvPr/>
        </p:nvSpPr>
        <p:spPr>
          <a:xfrm>
            <a:off x="9144000" y="1261800"/>
            <a:ext cx="2728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16"/>
          <p:cNvSpPr/>
          <p:nvPr/>
        </p:nvSpPr>
        <p:spPr>
          <a:xfrm>
            <a:off x="9418320" y="1143000"/>
            <a:ext cx="2010240" cy="50148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17"/>
          <p:cNvSpPr/>
          <p:nvPr/>
        </p:nvSpPr>
        <p:spPr>
          <a:xfrm>
            <a:off x="9464040" y="1197720"/>
            <a:ext cx="1918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 Answers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18"/>
          <p:cNvSpPr/>
          <p:nvPr/>
        </p:nvSpPr>
        <p:spPr>
          <a:xfrm>
            <a:off x="274320" y="1828800"/>
            <a:ext cx="11611440" cy="42048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9"/>
          <p:cNvSpPr/>
          <p:nvPr/>
        </p:nvSpPr>
        <p:spPr>
          <a:xfrm>
            <a:off x="2878560" y="1938600"/>
            <a:ext cx="6404400" cy="39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TOOLS = [{"name": "lookup_faers_reports",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"description": "Query FAERS for drug-event report counts.",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"input_schema":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    "type": "object",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    "properties":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        "drug_name":     {"type": "string"},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        "adverse_event": {"type": "string", "description": "MedDRA PT"}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    "required": ["drug_name", "adverse_event"]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           }}]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Tool use loop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while True: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response = client.messages.create(model="claude-opus-4-8", max_tokens=1024,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                        </a:t>
            </a:r>
            <a:r>
              <a:rPr lang="en-US" sz="1000" b="0" u="none" strike="noStrike">
                <a:solidFill>
                  <a:srgbClr val="E90B31"/>
                </a:solidFill>
                <a:effectLst/>
                <a:uFillTx/>
                <a:latin typeface="Courier New"/>
              </a:rPr>
              <a:t>tools=TOOLS</a:t>
            </a: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, messages=messages)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messages.append({"role": "assistant", "content": response.content})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if response.stop_reason == "end_turn":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break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if response.stop_reason == "tool_use":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for block in response.content: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if block.type == "tool_use":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 result = lookup_faers_reports(**block.input)   # ← your function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 messages.append({"role": "user", "content": [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     {"type": "tool_result", "tool_use_id": block.id,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      "content": json.dumps(result)}]})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20"/>
          <p:cNvSpPr/>
          <p:nvPr/>
        </p:nvSpPr>
        <p:spPr>
          <a:xfrm>
            <a:off x="274320" y="6172200"/>
            <a:ext cx="11611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Server-side tools (no code needed): web_search · code_execution · </a:t>
            </a:r>
            <a:r>
              <a:rPr lang="en-US" sz="1200" b="0" i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computer_use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1.6 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Structure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Outputs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—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Validate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 JSON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274320" y="1097280"/>
            <a:ext cx="48448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Guide Claude to return schema-conforming JSON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Extract ADR entities from clinical narratives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Build downstream data pipelines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Classification with confidence scores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No more regex hacks on JSON output!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Rectangle 5"/>
          <p:cNvSpPr/>
          <p:nvPr/>
        </p:nvSpPr>
        <p:spPr>
          <a:xfrm>
            <a:off x="5212080" y="1097280"/>
            <a:ext cx="6765120" cy="53020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6"/>
          <p:cNvSpPr/>
          <p:nvPr/>
        </p:nvSpPr>
        <p:spPr>
          <a:xfrm>
            <a:off x="5760000" y="1207080"/>
            <a:ext cx="5669280" cy="544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ADR_SCHEMA =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"type": "object",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"properties":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"suspect_drugs":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"type": "array",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"items": {"type": "object",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"properties":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  "name": {"type": "string"},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  "dose": {"type": ["string","null"]}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}}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},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"adverse_events":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"type": "array",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"items": {"type": "object",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"properties":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  "meddra_pt":  {"type": "string"},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  "meddra_soc": {"type": "string"},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  "severity":   {"type": "string",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    "enum": ["mild","moderate","severe","life-</a:t>
            </a: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threatening"]}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          }}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},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"causal_assessment":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"type": "string",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  "enum": ["certain","probable","possible","unlikely"]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  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  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response = client.messages.create(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model="claude-opus-4-8", max_tokens=1024,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messages=[{"role": "user", "content": clinical_text}],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output_config={"format": {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"type": "json_schema",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"json_schema": {"name": "adr_report", "schema": </a:t>
            </a:r>
            <a:r>
              <a:rPr lang="en-US" sz="950" b="0" u="none" strike="noStrike">
                <a:solidFill>
                  <a:srgbClr val="FF0000"/>
                </a:solidFill>
                <a:effectLst/>
                <a:uFillTx/>
                <a:latin typeface="Courier New"/>
              </a:rPr>
              <a:t>ADR_SCHEMA</a:t>
            </a: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}}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data = json.loads(response.content[0].text)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7"/>
          <p:cNvSpPr/>
          <p:nvPr/>
        </p:nvSpPr>
        <p:spPr>
          <a:xfrm>
            <a:off x="274320" y="3200400"/>
            <a:ext cx="4753440" cy="11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Example output: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  "suspect_drugs": [{"name": "atorvastatin"}],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  "adverse_events": [{"meddra_pt": "Rhabdomyolysis",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   "severity": "life-threatening"}],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  "causal_assessment": "probable"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Calibri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1.7  Use Prompt Caching in API — 90% Cost Savings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4"/>
          <p:cNvSpPr/>
          <p:nvPr/>
        </p:nvSpPr>
        <p:spPr>
          <a:xfrm>
            <a:off x="274320" y="1188720"/>
            <a:ext cx="319896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5"/>
          <p:cNvSpPr/>
          <p:nvPr/>
        </p:nvSpPr>
        <p:spPr>
          <a:xfrm>
            <a:off x="320040" y="1234440"/>
            <a:ext cx="3107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Request Type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6"/>
          <p:cNvSpPr/>
          <p:nvPr/>
        </p:nvSpPr>
        <p:spPr>
          <a:xfrm>
            <a:off x="3474720" y="1188720"/>
            <a:ext cx="274176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7"/>
          <p:cNvSpPr/>
          <p:nvPr/>
        </p:nvSpPr>
        <p:spPr>
          <a:xfrm>
            <a:off x="3520440" y="1234440"/>
            <a:ext cx="2650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Cost Multiplier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"/>
          <p:cNvSpPr/>
          <p:nvPr/>
        </p:nvSpPr>
        <p:spPr>
          <a:xfrm>
            <a:off x="274320" y="1536120"/>
            <a:ext cx="31989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9"/>
          <p:cNvSpPr/>
          <p:nvPr/>
        </p:nvSpPr>
        <p:spPr>
          <a:xfrm>
            <a:off x="320040" y="1572840"/>
            <a:ext cx="310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Cache write (first use)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10"/>
          <p:cNvSpPr/>
          <p:nvPr/>
        </p:nvSpPr>
        <p:spPr>
          <a:xfrm>
            <a:off x="3474720" y="1536120"/>
            <a:ext cx="27417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11"/>
          <p:cNvSpPr/>
          <p:nvPr/>
        </p:nvSpPr>
        <p:spPr>
          <a:xfrm>
            <a:off x="3520440" y="1572840"/>
            <a:ext cx="2650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1.25× normal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12"/>
          <p:cNvSpPr/>
          <p:nvPr/>
        </p:nvSpPr>
        <p:spPr>
          <a:xfrm>
            <a:off x="274320" y="1883520"/>
            <a:ext cx="31989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13"/>
          <p:cNvSpPr/>
          <p:nvPr/>
        </p:nvSpPr>
        <p:spPr>
          <a:xfrm>
            <a:off x="320040" y="1920240"/>
            <a:ext cx="310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Cache read (all subsequent)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Rectangle 14"/>
          <p:cNvSpPr/>
          <p:nvPr/>
        </p:nvSpPr>
        <p:spPr>
          <a:xfrm>
            <a:off x="3474720" y="1883520"/>
            <a:ext cx="27417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15"/>
          <p:cNvSpPr/>
          <p:nvPr/>
        </p:nvSpPr>
        <p:spPr>
          <a:xfrm>
            <a:off x="3520440" y="1920240"/>
            <a:ext cx="2650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0.10× normal  ← 90% off!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6"/>
          <p:cNvSpPr/>
          <p:nvPr/>
        </p:nvSpPr>
        <p:spPr>
          <a:xfrm>
            <a:off x="274320" y="2560320"/>
            <a:ext cx="5759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Example: 10,000-token drug knowledge base, queried 1,000 times: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Without caching: 10M tokens × $5/1M = $50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With caching:    1 write + 999 reads ≈ $5.50  (89% savings!)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7"/>
          <p:cNvSpPr/>
          <p:nvPr/>
        </p:nvSpPr>
        <p:spPr>
          <a:xfrm>
            <a:off x="6126480" y="1188720"/>
            <a:ext cx="5942160" cy="47534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8"/>
          <p:cNvSpPr/>
          <p:nvPr/>
        </p:nvSpPr>
        <p:spPr>
          <a:xfrm>
            <a:off x="7006680" y="1298520"/>
            <a:ext cx="4158360" cy="27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response = client.messages.create(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model="claude-opus-4-8",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max_tokens=512,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system=[{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"type": "text",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</a:t>
            </a: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Arial"/>
              </a:rPr>
              <a:t>"text": DRUG_KNOWLEDGE_BASE,  # large static context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Arial"/>
              </a:rPr>
              <a:t>                  # tell server to store a snapshot prompt in active memory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A8FFC2"/>
                </a:solidFill>
                <a:effectLst/>
                <a:uFillTx/>
                <a:latin typeface="Arial"/>
              </a:rPr>
              <a:t>                  "cache_control": {"type": "ephemeral"} 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}],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messages=[{"role": "user",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       "content": user_question}]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Inspect cache usage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print(response.usage.cache_creation_input_tokens)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print(response.usage.cache_read_input_tokens)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cache_read_input_tokens &gt; 0 means you saved 90%!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19"/>
          <p:cNvSpPr/>
          <p:nvPr/>
        </p:nvSpPr>
        <p:spPr>
          <a:xfrm>
            <a:off x="274320" y="3611880"/>
            <a:ext cx="56678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When to cache: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• Few-shot coding examples (repeated across batches)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• System prompt for multi-user chatbot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Rectangle 2"/>
          <p:cNvSpPr/>
          <p:nvPr/>
        </p:nvSpPr>
        <p:spPr>
          <a:xfrm>
            <a:off x="0" y="2743200"/>
            <a:ext cx="12187440" cy="71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3"/>
          <p:cNvSpPr/>
          <p:nvPr/>
        </p:nvSpPr>
        <p:spPr>
          <a:xfrm>
            <a:off x="731520" y="548640"/>
            <a:ext cx="1005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PART 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4"/>
          <p:cNvSpPr/>
          <p:nvPr/>
        </p:nvSpPr>
        <p:spPr>
          <a:xfrm>
            <a:off x="731520" y="1371600"/>
            <a:ext cx="1069704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VS Code Extension &amp;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 Code CLI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5"/>
          <p:cNvSpPr/>
          <p:nvPr/>
        </p:nvSpPr>
        <p:spPr>
          <a:xfrm>
            <a:off x="914400" y="3200400"/>
            <a:ext cx="103312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Your AI pair-programmer that reads the entire codebase and acts on it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 is Claude Code?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4"/>
          <p:cNvSpPr/>
          <p:nvPr/>
        </p:nvSpPr>
        <p:spPr>
          <a:xfrm>
            <a:off x="274320" y="1097280"/>
            <a:ext cx="530208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 agentic AI coding assistant that: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✦  Reads your entire codebase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✦  Runs shell commands &amp; tests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✦  Writes and edits files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✦  Iterates until the task is done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Available as CLI, VS Code extension,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JetBrains plugin, and web 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577840" y="1097280"/>
            <a:ext cx="6399360" cy="20102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6"/>
          <p:cNvSpPr/>
          <p:nvPr/>
        </p:nvSpPr>
        <p:spPr>
          <a:xfrm>
            <a:off x="7004880" y="1207080"/>
            <a:ext cx="354492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Install once globally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npm install -g @anthropic-ai/claude-code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Authenticate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claude 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Launch in your project directory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cd ~/Barn/GQ/ADR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claude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7"/>
          <p:cNvSpPr/>
          <p:nvPr/>
        </p:nvSpPr>
        <p:spPr>
          <a:xfrm>
            <a:off x="274320" y="3840480"/>
            <a:ext cx="228456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320040" y="3886200"/>
            <a:ext cx="2193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Feature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9"/>
          <p:cNvSpPr/>
          <p:nvPr/>
        </p:nvSpPr>
        <p:spPr>
          <a:xfrm>
            <a:off x="2560320" y="3840480"/>
            <a:ext cx="365616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2606040" y="3886200"/>
            <a:ext cx="3564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Copilot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11"/>
          <p:cNvSpPr/>
          <p:nvPr/>
        </p:nvSpPr>
        <p:spPr>
          <a:xfrm>
            <a:off x="6217920" y="3840480"/>
            <a:ext cx="569520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6263640" y="3886200"/>
            <a:ext cx="5603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 Code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13"/>
          <p:cNvSpPr/>
          <p:nvPr/>
        </p:nvSpPr>
        <p:spPr>
          <a:xfrm>
            <a:off x="274320" y="4187880"/>
            <a:ext cx="22845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14"/>
          <p:cNvSpPr/>
          <p:nvPr/>
        </p:nvSpPr>
        <p:spPr>
          <a:xfrm>
            <a:off x="320040" y="4224600"/>
            <a:ext cx="2193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Scope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15"/>
          <p:cNvSpPr/>
          <p:nvPr/>
        </p:nvSpPr>
        <p:spPr>
          <a:xfrm>
            <a:off x="2560320" y="4187880"/>
            <a:ext cx="36561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06040" y="4224600"/>
            <a:ext cx="3564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Current 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17"/>
          <p:cNvSpPr/>
          <p:nvPr/>
        </p:nvSpPr>
        <p:spPr>
          <a:xfrm>
            <a:off x="6217920" y="4187880"/>
            <a:ext cx="56952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6263640" y="4224600"/>
            <a:ext cx="5603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Entire repository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19"/>
          <p:cNvSpPr/>
          <p:nvPr/>
        </p:nvSpPr>
        <p:spPr>
          <a:xfrm>
            <a:off x="274320" y="4535280"/>
            <a:ext cx="22845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20"/>
          <p:cNvSpPr/>
          <p:nvPr/>
        </p:nvSpPr>
        <p:spPr>
          <a:xfrm>
            <a:off x="320040" y="4572000"/>
            <a:ext cx="2193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Tool use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21"/>
          <p:cNvSpPr/>
          <p:nvPr/>
        </p:nvSpPr>
        <p:spPr>
          <a:xfrm>
            <a:off x="2560320" y="4535280"/>
            <a:ext cx="36561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06040" y="4572000"/>
            <a:ext cx="3564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Code completion only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Rectangle 23"/>
          <p:cNvSpPr/>
          <p:nvPr/>
        </p:nvSpPr>
        <p:spPr>
          <a:xfrm>
            <a:off x="6217920" y="4535280"/>
            <a:ext cx="56952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TextBox 24"/>
          <p:cNvSpPr/>
          <p:nvPr/>
        </p:nvSpPr>
        <p:spPr>
          <a:xfrm>
            <a:off x="6263640" y="4572000"/>
            <a:ext cx="5603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Reads · writes · runs terminal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25"/>
          <p:cNvSpPr/>
          <p:nvPr/>
        </p:nvSpPr>
        <p:spPr>
          <a:xfrm>
            <a:off x="274320" y="4883040"/>
            <a:ext cx="22845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320040" y="4919400"/>
            <a:ext cx="2193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Context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27"/>
          <p:cNvSpPr/>
          <p:nvPr/>
        </p:nvSpPr>
        <p:spPr>
          <a:xfrm>
            <a:off x="2560320" y="4883040"/>
            <a:ext cx="36561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28"/>
          <p:cNvSpPr/>
          <p:nvPr/>
        </p:nvSpPr>
        <p:spPr>
          <a:xfrm>
            <a:off x="2606040" y="4919400"/>
            <a:ext cx="3564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Line-level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Rectangle 29"/>
          <p:cNvSpPr/>
          <p:nvPr/>
        </p:nvSpPr>
        <p:spPr>
          <a:xfrm>
            <a:off x="6217920" y="4883040"/>
            <a:ext cx="569520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6263640" y="4919400"/>
            <a:ext cx="5603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Project-level + CLAUDE.md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Rectangle 31"/>
          <p:cNvSpPr/>
          <p:nvPr/>
        </p:nvSpPr>
        <p:spPr>
          <a:xfrm>
            <a:off x="274320" y="5230440"/>
            <a:ext cx="22845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32"/>
          <p:cNvSpPr/>
          <p:nvPr/>
        </p:nvSpPr>
        <p:spPr>
          <a:xfrm>
            <a:off x="320040" y="5266800"/>
            <a:ext cx="2193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Interaction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Rectangle 33"/>
          <p:cNvSpPr/>
          <p:nvPr/>
        </p:nvSpPr>
        <p:spPr>
          <a:xfrm>
            <a:off x="2560320" y="5230440"/>
            <a:ext cx="36561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2606040" y="5266800"/>
            <a:ext cx="3564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Inline completions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Rectangle 35"/>
          <p:cNvSpPr/>
          <p:nvPr/>
        </p:nvSpPr>
        <p:spPr>
          <a:xfrm>
            <a:off x="6217920" y="5230440"/>
            <a:ext cx="569520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36"/>
          <p:cNvSpPr/>
          <p:nvPr/>
        </p:nvSpPr>
        <p:spPr>
          <a:xfrm>
            <a:off x="6263640" y="5266800"/>
            <a:ext cx="5603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Conversational agent with memory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 Code — Usage Patterns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"/>
          <p:cNvSpPr/>
          <p:nvPr/>
        </p:nvSpPr>
        <p:spPr>
          <a:xfrm>
            <a:off x="274320" y="1097280"/>
            <a:ext cx="5667840" cy="50277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5"/>
          <p:cNvSpPr/>
          <p:nvPr/>
        </p:nvSpPr>
        <p:spPr>
          <a:xfrm>
            <a:off x="1148760" y="1207080"/>
            <a:ext cx="3918960" cy="31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── Interactive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Mode (default) ──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Cd ~/&lt;project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path&gt;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claude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then type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naturally in the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conversation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── One-shot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commands ──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claude "Explain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what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&lt;your_notebook.ip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ynb does"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── With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specific file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context ──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claude "Find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potential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performance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issues" \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       --file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&lt;your_notebook.ip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ynb&gt;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# ── Piping ──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git diff | claude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"Write a commit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message"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cat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&lt;your_functions&gt;.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py | claude "Find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bugs"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# ── Print mode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(no interactive)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──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claude -p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"Summarize the </a:t>
            </a: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  <a:ea typeface="Noto Sans CJK SC"/>
              </a:rPr>
              <a:t>project pipeline"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6"/>
          <p:cNvSpPr/>
          <p:nvPr/>
        </p:nvSpPr>
        <p:spPr>
          <a:xfrm>
            <a:off x="6126480" y="1097280"/>
            <a:ext cx="5850720" cy="32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Common research workflows: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1  Explain legacy code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"What does this embedding pipeline do?"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2  Debug failing cells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"Why does this vector DB query return empty?"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3  Refactor for new APIs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"Update &lt;your_notebook&gt; to use pandas version 2.0"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4  Generate tests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"Write pytest tests for the RAG pipeline"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5  Write documentation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"Document the BGE-M3 fine-tuning script"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Slash Commands Reference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Rectangle 4"/>
          <p:cNvSpPr/>
          <p:nvPr/>
        </p:nvSpPr>
        <p:spPr>
          <a:xfrm>
            <a:off x="274320" y="1143000"/>
            <a:ext cx="164448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TextBox 5"/>
          <p:cNvSpPr/>
          <p:nvPr/>
        </p:nvSpPr>
        <p:spPr>
          <a:xfrm>
            <a:off x="320040" y="1188720"/>
            <a:ext cx="1553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Rectangle 6"/>
          <p:cNvSpPr/>
          <p:nvPr/>
        </p:nvSpPr>
        <p:spPr>
          <a:xfrm>
            <a:off x="1920240" y="1143000"/>
            <a:ext cx="502776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7"/>
          <p:cNvSpPr/>
          <p:nvPr/>
        </p:nvSpPr>
        <p:spPr>
          <a:xfrm>
            <a:off x="1965960" y="1188720"/>
            <a:ext cx="4936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 it does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Rectangle 8"/>
          <p:cNvSpPr/>
          <p:nvPr/>
        </p:nvSpPr>
        <p:spPr>
          <a:xfrm>
            <a:off x="6949440" y="1143000"/>
            <a:ext cx="4963680" cy="34596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9"/>
          <p:cNvSpPr/>
          <p:nvPr/>
        </p:nvSpPr>
        <p:spPr>
          <a:xfrm>
            <a:off x="6995160" y="1188720"/>
            <a:ext cx="4872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When to use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Rectangle 10"/>
          <p:cNvSpPr/>
          <p:nvPr/>
        </p:nvSpPr>
        <p:spPr>
          <a:xfrm>
            <a:off x="274320" y="1490400"/>
            <a:ext cx="16444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TextBox 11"/>
          <p:cNvSpPr/>
          <p:nvPr/>
        </p:nvSpPr>
        <p:spPr>
          <a:xfrm>
            <a:off x="320040" y="152712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/help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Rectangle 12"/>
          <p:cNvSpPr/>
          <p:nvPr/>
        </p:nvSpPr>
        <p:spPr>
          <a:xfrm>
            <a:off x="1920240" y="1490400"/>
            <a:ext cx="50277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13"/>
          <p:cNvSpPr/>
          <p:nvPr/>
        </p:nvSpPr>
        <p:spPr>
          <a:xfrm>
            <a:off x="1965960" y="152712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Show all available commands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Rectangle 14"/>
          <p:cNvSpPr/>
          <p:nvPr/>
        </p:nvSpPr>
        <p:spPr>
          <a:xfrm>
            <a:off x="6949440" y="1490400"/>
            <a:ext cx="4963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15"/>
          <p:cNvSpPr/>
          <p:nvPr/>
        </p:nvSpPr>
        <p:spPr>
          <a:xfrm>
            <a:off x="6995160" y="152712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First session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Rectangle 16"/>
          <p:cNvSpPr/>
          <p:nvPr/>
        </p:nvSpPr>
        <p:spPr>
          <a:xfrm>
            <a:off x="274320" y="1837800"/>
            <a:ext cx="16444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320040" y="187452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/clear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18"/>
          <p:cNvSpPr/>
          <p:nvPr/>
        </p:nvSpPr>
        <p:spPr>
          <a:xfrm>
            <a:off x="1920240" y="1837800"/>
            <a:ext cx="50277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19"/>
          <p:cNvSpPr/>
          <p:nvPr/>
        </p:nvSpPr>
        <p:spPr>
          <a:xfrm>
            <a:off x="1965960" y="187452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Reset conversation context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Rectangle 20"/>
          <p:cNvSpPr/>
          <p:nvPr/>
        </p:nvSpPr>
        <p:spPr>
          <a:xfrm>
            <a:off x="6949440" y="1837800"/>
            <a:ext cx="49636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21"/>
          <p:cNvSpPr/>
          <p:nvPr/>
        </p:nvSpPr>
        <p:spPr>
          <a:xfrm>
            <a:off x="6995160" y="187452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Start a new task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22"/>
          <p:cNvSpPr/>
          <p:nvPr/>
        </p:nvSpPr>
        <p:spPr>
          <a:xfrm>
            <a:off x="274320" y="2185560"/>
            <a:ext cx="16444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Box 23"/>
          <p:cNvSpPr/>
          <p:nvPr/>
        </p:nvSpPr>
        <p:spPr>
          <a:xfrm>
            <a:off x="320040" y="222192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/compact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24"/>
          <p:cNvSpPr/>
          <p:nvPr/>
        </p:nvSpPr>
        <p:spPr>
          <a:xfrm>
            <a:off x="1920240" y="2185560"/>
            <a:ext cx="50277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25"/>
          <p:cNvSpPr/>
          <p:nvPr/>
        </p:nvSpPr>
        <p:spPr>
          <a:xfrm>
            <a:off x="1965960" y="222192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Summarize &amp; compress conversation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26"/>
          <p:cNvSpPr/>
          <p:nvPr/>
        </p:nvSpPr>
        <p:spPr>
          <a:xfrm>
            <a:off x="6949440" y="2185560"/>
            <a:ext cx="4963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Box 27"/>
          <p:cNvSpPr/>
          <p:nvPr/>
        </p:nvSpPr>
        <p:spPr>
          <a:xfrm>
            <a:off x="6995160" y="222192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Long research sessions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Rectangle 28"/>
          <p:cNvSpPr/>
          <p:nvPr/>
        </p:nvSpPr>
        <p:spPr>
          <a:xfrm>
            <a:off x="274320" y="2532960"/>
            <a:ext cx="16444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29"/>
          <p:cNvSpPr/>
          <p:nvPr/>
        </p:nvSpPr>
        <p:spPr>
          <a:xfrm>
            <a:off x="320040" y="256932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/cost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Rectangle 30"/>
          <p:cNvSpPr/>
          <p:nvPr/>
        </p:nvSpPr>
        <p:spPr>
          <a:xfrm>
            <a:off x="1920240" y="2532960"/>
            <a:ext cx="50277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Box 31"/>
          <p:cNvSpPr/>
          <p:nvPr/>
        </p:nvSpPr>
        <p:spPr>
          <a:xfrm>
            <a:off x="1965960" y="256932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Show token usage and cost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Rectangle 32"/>
          <p:cNvSpPr/>
          <p:nvPr/>
        </p:nvSpPr>
        <p:spPr>
          <a:xfrm>
            <a:off x="6949440" y="2532960"/>
            <a:ext cx="49636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Box 33"/>
          <p:cNvSpPr/>
          <p:nvPr/>
        </p:nvSpPr>
        <p:spPr>
          <a:xfrm>
            <a:off x="6995160" y="256932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Monitor spending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Rectangle 34"/>
          <p:cNvSpPr/>
          <p:nvPr/>
        </p:nvSpPr>
        <p:spPr>
          <a:xfrm>
            <a:off x="274320" y="2880360"/>
            <a:ext cx="16444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TextBox 35"/>
          <p:cNvSpPr/>
          <p:nvPr/>
        </p:nvSpPr>
        <p:spPr>
          <a:xfrm>
            <a:off x="320040" y="291708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/model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36"/>
          <p:cNvSpPr/>
          <p:nvPr/>
        </p:nvSpPr>
        <p:spPr>
          <a:xfrm>
            <a:off x="1920240" y="2880360"/>
            <a:ext cx="50277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37"/>
          <p:cNvSpPr/>
          <p:nvPr/>
        </p:nvSpPr>
        <p:spPr>
          <a:xfrm>
            <a:off x="1965960" y="291708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Switch models mid-session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38"/>
          <p:cNvSpPr/>
          <p:nvPr/>
        </p:nvSpPr>
        <p:spPr>
          <a:xfrm>
            <a:off x="6949440" y="2880360"/>
            <a:ext cx="4963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TextBox 39"/>
          <p:cNvSpPr/>
          <p:nvPr/>
        </p:nvSpPr>
        <p:spPr>
          <a:xfrm>
            <a:off x="6995160" y="291708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Switch to Haiku for bulk 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 40"/>
          <p:cNvSpPr/>
          <p:nvPr/>
        </p:nvSpPr>
        <p:spPr>
          <a:xfrm>
            <a:off x="274320" y="3227760"/>
            <a:ext cx="16444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Box 41"/>
          <p:cNvSpPr/>
          <p:nvPr/>
        </p:nvSpPr>
        <p:spPr>
          <a:xfrm>
            <a:off x="320040" y="326448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/fast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42"/>
          <p:cNvSpPr/>
          <p:nvPr/>
        </p:nvSpPr>
        <p:spPr>
          <a:xfrm>
            <a:off x="1920240" y="3227760"/>
            <a:ext cx="50277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1" name="TextBox 43"/>
          <p:cNvSpPr/>
          <p:nvPr/>
        </p:nvSpPr>
        <p:spPr>
          <a:xfrm>
            <a:off x="1965960" y="326448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Toggle Fast mode (Opus, faster output)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Rectangle 44"/>
          <p:cNvSpPr/>
          <p:nvPr/>
        </p:nvSpPr>
        <p:spPr>
          <a:xfrm>
            <a:off x="6949440" y="3227760"/>
            <a:ext cx="49636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TextBox 45"/>
          <p:cNvSpPr/>
          <p:nvPr/>
        </p:nvSpPr>
        <p:spPr>
          <a:xfrm>
            <a:off x="6995160" y="326448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Time-sensitive tasks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Rectangle 46"/>
          <p:cNvSpPr/>
          <p:nvPr/>
        </p:nvSpPr>
        <p:spPr>
          <a:xfrm>
            <a:off x="274320" y="3575160"/>
            <a:ext cx="16444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Box 47"/>
          <p:cNvSpPr/>
          <p:nvPr/>
        </p:nvSpPr>
        <p:spPr>
          <a:xfrm>
            <a:off x="320040" y="361188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/plan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 48"/>
          <p:cNvSpPr/>
          <p:nvPr/>
        </p:nvSpPr>
        <p:spPr>
          <a:xfrm>
            <a:off x="1920240" y="3575160"/>
            <a:ext cx="50277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TextBox 49"/>
          <p:cNvSpPr/>
          <p:nvPr/>
        </p:nvSpPr>
        <p:spPr>
          <a:xfrm>
            <a:off x="1965960" y="361188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Enter planning mode — see plan first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Rectangle 50"/>
          <p:cNvSpPr/>
          <p:nvPr/>
        </p:nvSpPr>
        <p:spPr>
          <a:xfrm>
            <a:off x="6949440" y="3575160"/>
            <a:ext cx="4963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51"/>
          <p:cNvSpPr/>
          <p:nvPr/>
        </p:nvSpPr>
        <p:spPr>
          <a:xfrm>
            <a:off x="6995160" y="361188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Before touching code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Rectangle 52"/>
          <p:cNvSpPr/>
          <p:nvPr/>
        </p:nvSpPr>
        <p:spPr>
          <a:xfrm>
            <a:off x="274320" y="3922920"/>
            <a:ext cx="16444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1" name="TextBox 53"/>
          <p:cNvSpPr/>
          <p:nvPr/>
        </p:nvSpPr>
        <p:spPr>
          <a:xfrm>
            <a:off x="320040" y="395928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/mcp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Rectangle 54"/>
          <p:cNvSpPr/>
          <p:nvPr/>
        </p:nvSpPr>
        <p:spPr>
          <a:xfrm>
            <a:off x="1920240" y="3922920"/>
            <a:ext cx="502776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55"/>
          <p:cNvSpPr/>
          <p:nvPr/>
        </p:nvSpPr>
        <p:spPr>
          <a:xfrm>
            <a:off x="1965960" y="395928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Manage MCP server connections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Rectangle 56"/>
          <p:cNvSpPr/>
          <p:nvPr/>
        </p:nvSpPr>
        <p:spPr>
          <a:xfrm>
            <a:off x="6949440" y="3922920"/>
            <a:ext cx="4963680" cy="3459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57"/>
          <p:cNvSpPr/>
          <p:nvPr/>
        </p:nvSpPr>
        <p:spPr>
          <a:xfrm>
            <a:off x="6995160" y="395928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Connect to LanceDB / FAERS DB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Rectangle 58"/>
          <p:cNvSpPr/>
          <p:nvPr/>
        </p:nvSpPr>
        <p:spPr>
          <a:xfrm>
            <a:off x="274320" y="4270320"/>
            <a:ext cx="16444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Box 59"/>
          <p:cNvSpPr/>
          <p:nvPr/>
        </p:nvSpPr>
        <p:spPr>
          <a:xfrm>
            <a:off x="320040" y="4306680"/>
            <a:ext cx="1553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/add-dir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Rectangle 60"/>
          <p:cNvSpPr/>
          <p:nvPr/>
        </p:nvSpPr>
        <p:spPr>
          <a:xfrm>
            <a:off x="1920240" y="4270320"/>
            <a:ext cx="502776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61"/>
          <p:cNvSpPr/>
          <p:nvPr/>
        </p:nvSpPr>
        <p:spPr>
          <a:xfrm>
            <a:off x="1965960" y="4306680"/>
            <a:ext cx="4936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Add a directory to context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Rectangle 62"/>
          <p:cNvSpPr/>
          <p:nvPr/>
        </p:nvSpPr>
        <p:spPr>
          <a:xfrm>
            <a:off x="6949440" y="4270320"/>
            <a:ext cx="4963680" cy="34596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Box 63"/>
          <p:cNvSpPr/>
          <p:nvPr/>
        </p:nvSpPr>
        <p:spPr>
          <a:xfrm>
            <a:off x="6995160" y="4306680"/>
            <a:ext cx="487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Multi-repo projects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64"/>
          <p:cNvSpPr/>
          <p:nvPr/>
        </p:nvSpPr>
        <p:spPr>
          <a:xfrm>
            <a:off x="274320" y="5833800"/>
            <a:ext cx="11611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Tip: Use /plan before any significant code change — Claude presents its approach and waits for approval.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4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MCP — Connect Claude to SQL DB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4"/>
          <p:cNvSpPr/>
          <p:nvPr/>
        </p:nvSpPr>
        <p:spPr>
          <a:xfrm>
            <a:off x="274320" y="1097280"/>
            <a:ext cx="11611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Model Context Protocol: standard interface for Claude to query external databases and tools directly.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Rectangle 5"/>
          <p:cNvSpPr/>
          <p:nvPr/>
        </p:nvSpPr>
        <p:spPr>
          <a:xfrm>
            <a:off x="274320" y="1600200"/>
            <a:ext cx="5759280" cy="41133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6"/>
          <p:cNvSpPr/>
          <p:nvPr/>
        </p:nvSpPr>
        <p:spPr>
          <a:xfrm>
            <a:off x="1194840" y="1710000"/>
            <a:ext cx="3917520" cy="31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.claude/settings.json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"mcpServers": 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"lancedb-adr": 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"command": "python",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"args": ["-m", "mcp_lancedb_server"],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"env": 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"DB_PATH": "&lt;your_databse_path/XYZ.db&gt;"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},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"faers-sql": 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"command": "python",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"args": ["-m", "&lt;your_mcp_server&gt;"],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"env": {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  "DB_URL": "sqlite:///&lt;your_databse&gt;.db"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  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  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  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7"/>
          <p:cNvSpPr/>
          <p:nvPr/>
        </p:nvSpPr>
        <p:spPr>
          <a:xfrm>
            <a:off x="6217920" y="1600200"/>
            <a:ext cx="575928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Once connected, you can ask: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"Search the ADR vector DB for reports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similar to rhabdomyolysis"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"How many FAERS reports exist for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atorvastatin + myopathy?"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"Plot the top 10 drugs by report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count in our database"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Claude calls the MCP tool directly —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999AA"/>
                </a:solidFill>
                <a:effectLst/>
                <a:uFillTx/>
                <a:latin typeface="Calibri"/>
              </a:rPr>
              <a:t>no copy-paste needed!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Rectangl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1" name="Rectangle 2"/>
          <p:cNvSpPr/>
          <p:nvPr/>
        </p:nvSpPr>
        <p:spPr>
          <a:xfrm>
            <a:off x="73080" y="0"/>
            <a:ext cx="12114360" cy="100440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Box 3"/>
          <p:cNvSpPr/>
          <p:nvPr/>
        </p:nvSpPr>
        <p:spPr>
          <a:xfrm>
            <a:off x="274320" y="164520"/>
            <a:ext cx="116114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CLAUDE.md — Project Memory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4"/>
          <p:cNvSpPr/>
          <p:nvPr/>
        </p:nvSpPr>
        <p:spPr>
          <a:xfrm>
            <a:off x="504000" y="1143000"/>
            <a:ext cx="11611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E8E8E8"/>
                </a:solidFill>
                <a:effectLst/>
                <a:uFillTx/>
                <a:latin typeface="Calibri"/>
              </a:rPr>
              <a:t>Run “/init” in Claude code to create CLAUDE.md at project root path and manually edit it — Claude reads it at the start of every session.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5"/>
          <p:cNvSpPr/>
          <p:nvPr/>
        </p:nvSpPr>
        <p:spPr>
          <a:xfrm>
            <a:off x="457200" y="1555560"/>
            <a:ext cx="6583320" cy="438768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6"/>
          <p:cNvSpPr/>
          <p:nvPr/>
        </p:nvSpPr>
        <p:spPr>
          <a:xfrm>
            <a:off x="914400" y="2040120"/>
            <a:ext cx="5110920" cy="344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 ADR Research Project — Claude Context (example)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## Pipeline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1. FAERS_data_prep.ipynb → raw FAERS CSVs → cleaned dataframes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2. finetune_BGE_base.ipynb → fine-tuned BGE-M3 model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3. ADR_LanceDB.ipynb → LanceDB vector DB at trn_lancedb/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## Key Data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processed_26q1.pkl  ← latest FAERS dataset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trn_lancedb/              ← BGE-M3 vector database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mdhier_mapping.pkl         ← MedDRA hierarchy mappings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## Conventions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MedDRA PT codes: lowercase strings ('myopathy')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Drug names: generic names (FDA UNII preferred)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Models checkpoint to bge_adr_base*/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## Do Not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Modify files in faers/, faers_all/ (raw archives)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Use pandas &lt; 2.0 API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A8FFC2"/>
                </a:solidFill>
                <a:effectLst/>
                <a:uFillTx/>
                <a:latin typeface="Courier New"/>
              </a:rPr>
              <a:t>- Commit .pkl or .pt checkpoint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7"/>
          <p:cNvSpPr/>
          <p:nvPr/>
        </p:nvSpPr>
        <p:spPr>
          <a:xfrm>
            <a:off x="7589520" y="1600200"/>
            <a:ext cx="438768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Benefits: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No re-explaining your project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  every session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Claude knows your file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  naming conventions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Prevents dangerous actions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  (Do Not rules)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✓  Team-shared project context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AC87A"/>
                </a:solidFill>
                <a:effectLst/>
                <a:uFillTx/>
                <a:latin typeface="Calibri"/>
              </a:rPr>
              <a:t>    (commit to git)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Rectangle 2"/>
          <p:cNvSpPr/>
          <p:nvPr/>
        </p:nvSpPr>
        <p:spPr>
          <a:xfrm>
            <a:off x="0" y="0"/>
            <a:ext cx="12187440" cy="71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Box 3"/>
          <p:cNvSpPr/>
          <p:nvPr/>
        </p:nvSpPr>
        <p:spPr>
          <a:xfrm>
            <a:off x="457200" y="274320"/>
            <a:ext cx="112456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Summary &amp; Next Steps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Rectangle 4"/>
          <p:cNvSpPr/>
          <p:nvPr/>
        </p:nvSpPr>
        <p:spPr>
          <a:xfrm>
            <a:off x="457200" y="1005840"/>
            <a:ext cx="10788480" cy="3528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1600920" y="1143000"/>
            <a:ext cx="3656160" cy="5328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372" name=""/>
          <p:cNvGrpSpPr/>
          <p:nvPr/>
        </p:nvGrpSpPr>
        <p:grpSpPr>
          <a:xfrm>
            <a:off x="1600200" y="1197000"/>
            <a:ext cx="3656160" cy="4113360"/>
            <a:chOff x="1600200" y="1197000"/>
            <a:chExt cx="3656160" cy="4113360"/>
          </a:xfrm>
        </p:grpSpPr>
        <p:sp>
          <p:nvSpPr>
            <p:cNvPr id="373" name="Rectangle 5"/>
            <p:cNvSpPr/>
            <p:nvPr/>
          </p:nvSpPr>
          <p:spPr>
            <a:xfrm>
              <a:off x="1600200" y="1197000"/>
              <a:ext cx="3656160" cy="4113360"/>
            </a:xfrm>
            <a:prstGeom prst="rect">
              <a:avLst/>
            </a:prstGeom>
            <a:solidFill>
              <a:srgbClr val="161628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374" name="TextBox 7"/>
            <p:cNvSpPr/>
            <p:nvPr/>
          </p:nvSpPr>
          <p:spPr>
            <a:xfrm>
              <a:off x="1710000" y="1288440"/>
              <a:ext cx="34732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4A9ED6"/>
                  </a:solidFill>
                  <a:effectLst/>
                  <a:uFillTx/>
                  <a:latin typeface="Calibri"/>
                </a:rPr>
                <a:t>Part 1: Prompting Ladder</a:t>
              </a:r>
              <a:endPara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5" name="TextBox 8"/>
            <p:cNvSpPr/>
            <p:nvPr/>
          </p:nvSpPr>
          <p:spPr>
            <a:xfrm>
              <a:off x="1710000" y="192852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Simple call → System prompt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TextBox 9"/>
            <p:cNvSpPr/>
            <p:nvPr/>
          </p:nvSpPr>
          <p:spPr>
            <a:xfrm>
              <a:off x="1710000" y="270576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→ Multi-turn → Thinking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7" name="TextBox 10"/>
            <p:cNvSpPr/>
            <p:nvPr/>
          </p:nvSpPr>
          <p:spPr>
            <a:xfrm>
              <a:off x="1710000" y="348300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→ Tools → Structured output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TextBox 11"/>
            <p:cNvSpPr/>
            <p:nvPr/>
          </p:nvSpPr>
          <p:spPr>
            <a:xfrm>
              <a:off x="1710000" y="426024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→ Prompt caching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79" name=""/>
          <p:cNvGrpSpPr/>
          <p:nvPr/>
        </p:nvGrpSpPr>
        <p:grpSpPr>
          <a:xfrm>
            <a:off x="6401520" y="1143000"/>
            <a:ext cx="3656160" cy="4113360"/>
            <a:chOff x="6401520" y="1143000"/>
            <a:chExt cx="3656160" cy="4113360"/>
          </a:xfrm>
        </p:grpSpPr>
        <p:sp>
          <p:nvSpPr>
            <p:cNvPr id="380" name="Rectangle 12"/>
            <p:cNvSpPr/>
            <p:nvPr/>
          </p:nvSpPr>
          <p:spPr>
            <a:xfrm>
              <a:off x="6401520" y="1143000"/>
              <a:ext cx="3656160" cy="4113360"/>
            </a:xfrm>
            <a:prstGeom prst="rect">
              <a:avLst/>
            </a:prstGeom>
            <a:solidFill>
              <a:srgbClr val="161628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381" name="Rectangle 13"/>
            <p:cNvSpPr/>
            <p:nvPr/>
          </p:nvSpPr>
          <p:spPr>
            <a:xfrm>
              <a:off x="6401520" y="1143000"/>
              <a:ext cx="3656160" cy="53280"/>
            </a:xfrm>
            <a:prstGeom prst="rect">
              <a:avLst/>
            </a:prstGeom>
            <a:solidFill>
              <a:srgbClr val="5AC87A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p>
              <a:endPara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382" name="TextBox 14"/>
            <p:cNvSpPr/>
            <p:nvPr/>
          </p:nvSpPr>
          <p:spPr>
            <a:xfrm>
              <a:off x="6511320" y="1234440"/>
              <a:ext cx="34732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5AC87A"/>
                  </a:solidFill>
                  <a:effectLst/>
                  <a:uFillTx/>
                  <a:latin typeface="Calibri"/>
                </a:rPr>
                <a:t>Part 2: VS Code / CLI</a:t>
              </a:r>
              <a:endPara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3" name="TextBox 15"/>
            <p:cNvSpPr/>
            <p:nvPr/>
          </p:nvSpPr>
          <p:spPr>
            <a:xfrm>
              <a:off x="6511320" y="187452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/model model selection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4" name="TextBox 16"/>
            <p:cNvSpPr/>
            <p:nvPr/>
          </p:nvSpPr>
          <p:spPr>
            <a:xfrm>
              <a:off x="6511320" y="265176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/plan before code changes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TextBox 17"/>
            <p:cNvSpPr/>
            <p:nvPr/>
          </p:nvSpPr>
          <p:spPr>
            <a:xfrm>
              <a:off x="6511320" y="342900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/mcp connects to Claude chat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TextBox 18"/>
            <p:cNvSpPr/>
            <p:nvPr/>
          </p:nvSpPr>
          <p:spPr>
            <a:xfrm>
              <a:off x="6511320" y="4206240"/>
              <a:ext cx="343656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lang="en-US" sz="1200" b="0" u="none" strike="noStrike">
                  <a:solidFill>
                    <a:srgbClr val="E8E8E8"/>
                  </a:solidFill>
                  <a:effectLst/>
                  <a:uFillTx/>
                  <a:latin typeface="Calibri"/>
                </a:rPr>
                <a:t>•  /cost to monitor spending</a:t>
              </a:r>
              <a:endPara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LibreOffice/26.2.4.2$Linux_X86_64 LibreOffice_project/3346a99e6b841765b75a9b29714a5b95c6761ce3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2026-07-08T08:52:03Z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